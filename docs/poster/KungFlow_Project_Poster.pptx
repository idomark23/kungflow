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9652d3a4b1493c" /><Relationship Type="http://schemas.openxmlformats.org/officeDocument/2006/relationships/extended-properties" Target="/docProps/app.xml" Id="R2c0867b3641849e7" /><Relationship Type="http://schemas.openxmlformats.org/officeDocument/2006/relationships/officeDocument" Target="/ppt/presentation.xml" Id="R637e6ca590944d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99bd8afaf450b"/>
  </p:sldMasterIdLst>
  <p:notesMasterIdLst>
    <p:notesMasterId xmlns:r="http://schemas.openxmlformats.org/officeDocument/2006/relationships" r:id="R671c9c05e9d14d78"/>
  </p:notesMasterIdLst>
  <p:sldIdLst>
    <p:sldId xmlns:r="http://schemas.openxmlformats.org/officeDocument/2006/relationships" id="256" r:id="R749057d9d31c494d"/>
  </p:sldIdLst>
  <p:sldSz cx="25199975" cy="359997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8bce0f200a4df2" /><Relationship Type="http://schemas.openxmlformats.org/officeDocument/2006/relationships/slideMaster" Target="/ppt/slideMasters/slideMaster1.xml" Id="R74899bd8afaf450b" /><Relationship Type="http://schemas.openxmlformats.org/officeDocument/2006/relationships/notesMaster" Target="/ppt/notesMasters/notesMaster1.xml" Id="R671c9c05e9d14d78" /><Relationship Type="http://schemas.openxmlformats.org/officeDocument/2006/relationships/presProps" Target="/ppt/presProps.xml" Id="R22292d45f9ed45eb" /><Relationship Type="http://schemas.openxmlformats.org/officeDocument/2006/relationships/viewProps" Target="/ppt/viewProps.xml" Id="R20132570f47b4b84" /><Relationship Type="http://schemas.openxmlformats.org/officeDocument/2006/relationships/tableStyles" Target="/ppt/tableStyles.xml" Id="Rba418ebbd94c4521" /><Relationship Type="http://schemas.openxmlformats.org/officeDocument/2006/relationships/slide" Target="/ppt/slides/slide1.xml" Id="R749057d9d31c49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6392dd826f4d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c150b2f7e64ccf" /><Relationship Type="http://schemas.openxmlformats.org/officeDocument/2006/relationships/notesMaster" Target="/ppt/notesMasters/notesMaster1.xml" Id="Rc247b81685464e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statistics and internal product claims: Hub/KungFlow Investor Pitch v3.pptx and project source code.</a:t>
            </a:r>
          </a:p>
          <a:p xmlns:a="http://schemas.openxmlformats.org/drawingml/2006/main">
            <a:r>
              <a:t>Product screenshots: docs/product-demo-assets/screens.</a:t>
            </a:r>
          </a:p>
          <a:p xmlns:a="http://schemas.openxmlformats.org/drawingml/2006/main">
            <a:r>
              <a:t>KungFlow and college logos: project/user-provided assets.</a:t>
            </a:r>
          </a:p>
          <a:p xmlns:a="http://schemas.openxmlformats.org/drawingml/2006/main">
            <a:r>
              <a:t>Scenario visuals: generated with the built-in Image Generation tool for this poster; conceptual illustrations, not Windows screenshots.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New section-2 visual: poster/assets/scenario-normal-work.png, generated with the built-in Image Generation tool; conceptual illustration.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Official Cloud Run and Cloud SQL icons: https://cloud.google.com/icons</a:t>
            </a:r>
          </a:p>
          <a:p xmlns:a="http://schemas.openxmlformats.org/drawingml/2006/main">
            <a:r>
              <a:t>Official Docker mark: https://www.docker.com/company/newsroom/media-resources/</a:t>
            </a:r>
          </a:p>
          <a:p xmlns:a="http://schemas.openxmlformats.org/drawingml/2006/main">
            <a:r>
              <a:t>Official Git logo: https://git-scm.com/community/logos</a:t>
            </a:r>
          </a:p>
          <a:p xmlns:a="http://schemas.openxmlformats.org/drawingml/2006/main">
            <a:r>
              <a:t>Google Cloud icon: https://images.icon-icons.com/2699/PNG/512/google_cloud_logo_icon_171058.png</a:t>
            </a:r>
          </a:p>
          <a:p xmlns:a="http://schemas.openxmlformats.org/drawingml/2006/main">
            <a:r>
              <a:t>Official icon library: https://cloud.google.com/icons</a:t>
            </a:r>
          </a:p>
          <a:p xmlns:a="http://schemas.openxmlformats.org/drawingml/2006/main">
            <a:r>
              <a:t>Server-rack icon: https://www.flaticon.com/free-icon/server_6478097 (asset: https://cdn-icons-png.flaticon.com/512/6478/6478097.png)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cf1800f8e45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516ead08ea49c7" /><Relationship Type="http://schemas.openxmlformats.org/officeDocument/2006/relationships/slideLayout" Target="/ppt/slideLayouts/slideLayout1.xml" Id="R385fcc236522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5fcc236522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f8791f9b645fc" /><Relationship Type="http://schemas.openxmlformats.org/officeDocument/2006/relationships/image" Target="/ppt/media/image.png" Id="R3f5e6b7704ff4f54" /><Relationship Type="http://schemas.openxmlformats.org/officeDocument/2006/relationships/image" Target="/ppt/media/image2.png" Id="R2db3f1772d004971" /><Relationship Type="http://schemas.openxmlformats.org/officeDocument/2006/relationships/image" Target="/ppt/media/image3.png" Id="Rc97f9a0a1c3b4e57" /><Relationship Type="http://schemas.openxmlformats.org/officeDocument/2006/relationships/image" Target="/ppt/media/image4.png" Id="R7bd4c1d7a5ac4897" /><Relationship Type="http://schemas.openxmlformats.org/officeDocument/2006/relationships/image" Target="/ppt/media/image5.png" Id="Rf9d71dc3cfd94621" /><Relationship Type="http://schemas.openxmlformats.org/officeDocument/2006/relationships/image" Target="/ppt/media/image6.png" Id="R29efd21ae2d447cb" /><Relationship Type="http://schemas.openxmlformats.org/officeDocument/2006/relationships/image" Target="/ppt/media/image7.png" Id="Rd27d3e1193864bfc" /><Relationship Type="http://schemas.openxmlformats.org/officeDocument/2006/relationships/image" Target="/ppt/media/image8.png" Id="Rbc762a8b62fd46d0" /><Relationship Type="http://schemas.openxmlformats.org/officeDocument/2006/relationships/image" Target="/ppt/media/image9.png" Id="R35b5e9a068194403" /><Relationship Type="http://schemas.openxmlformats.org/officeDocument/2006/relationships/image" Target="/ppt/media/image10.png" Id="Re8648579f2f1427e" /><Relationship Type="http://schemas.openxmlformats.org/officeDocument/2006/relationships/image" Target="/ppt/media/image11.png" Id="R07c17dd505324d8e" /><Relationship Type="http://schemas.openxmlformats.org/officeDocument/2006/relationships/image" Target="/ppt/media/image12.png" Id="Rbae0b46bf49749b4" /><Relationship Type="http://schemas.openxmlformats.org/officeDocument/2006/relationships/image" Target="/ppt/media/image13.png" Id="R27d30e5c124d4da0" /><Relationship Type="http://schemas.openxmlformats.org/officeDocument/2006/relationships/image" Target="/ppt/media/image14.png" Id="R81a4fc506dd04a58" /><Relationship Type="http://schemas.openxmlformats.org/officeDocument/2006/relationships/image" Target="/ppt/media/image15.png" Id="R2fbc62f40eb44797" /><Relationship Type="http://schemas.openxmlformats.org/officeDocument/2006/relationships/image" Target="/ppt/media/image16.png" Id="R3ba8dea24cd04cb1" /><Relationship Type="http://schemas.openxmlformats.org/officeDocument/2006/relationships/image" Target="/ppt/media/image17.png" Id="R2b165450abab499c" /><Relationship Type="http://schemas.openxmlformats.org/officeDocument/2006/relationships/image" Target="/ppt/media/image18.png" Id="R9b6a262c460f4bc1" /><Relationship Type="http://schemas.openxmlformats.org/officeDocument/2006/relationships/image" Target="/ppt/media/image19.png" Id="R27c1238832594227" /><Relationship Type="http://schemas.openxmlformats.org/officeDocument/2006/relationships/notesSlide" Target="/ppt/notesSlides/notesSlide1.xml" Id="R4d345f533e9843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">
            <a:extLst xmlns:a="http://schemas.openxmlformats.org/drawingml/2006/main">
              <a:ext uri="{FF2B5EF4-FFF2-40B4-BE49-F238E27FC236}">
                <a16:creationId xmlns:a16="http://schemas.microsoft.com/office/drawing/2014/main" id="{F1F8E43E-0E94-4FD1-89C8-25E3DD5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00000" cy="3601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885B23BE-7FC0-4439-931B-2B4DD3C9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03528"/>
            <a:ext cx="25200000" cy="198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kungflow-logo-frame">
            <a:extLst xmlns:a="http://schemas.openxmlformats.org/drawingml/2006/main">
              <a:ext uri="{FF2B5EF4-FFF2-40B4-BE49-F238E27FC236}">
                <a16:creationId xmlns:a16="http://schemas.microsoft.com/office/drawing/2014/main" id="{E0CE8B8B-5EA3-48EB-A465-2C7CFE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56" y="466373"/>
            <a:ext cx="1309606" cy="1309813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79" name="תמונה 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e6b7704ff4f54"/>
          <a:stretch xmlns:a="http://schemas.openxmlformats.org/drawingml/2006/main"/>
        </p:blipFill>
        <p:spPr>
          <a:xfrm xmlns:a="http://schemas.openxmlformats.org/drawingml/2006/main">
            <a:off x="1041732" y="595369"/>
            <a:ext cx="1051654" cy="1051819"/>
          </a:xfrm>
          <a:prstGeom xmlns:a="http://schemas.openxmlformats.org/drawingml/2006/main" prst="rect">
            <a:avLst/>
          </a:prstGeom>
        </p:spPr>
      </p:pic>
      <p:sp>
        <p:nvSpPr>
          <p:cNvPr id="5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F5A6A8EE-DF69-4F31-99F7-A653BF3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921" y="357222"/>
            <a:ext cx="7738583" cy="1240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KungFlow</a:t>
            </a:r>
          </a:p>
        </p:txBody>
      </p:sp>
      <p:sp>
        <p:nvSpPr>
          <p:cNvPr id="6" name="tagline">
            <a:extLst xmlns:a="http://schemas.openxmlformats.org/drawingml/2006/main">
              <a:ext uri="{FF2B5EF4-FFF2-40B4-BE49-F238E27FC236}">
                <a16:creationId xmlns:a16="http://schemas.microsoft.com/office/drawing/2014/main" id="{40874959-F984-40FF-BC8E-E930F8D8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6" y="1825799"/>
            <a:ext cx="8929134" cy="496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48D7D1"/>
                </a:solidFill>
              </a:defRPr>
            </a:pPr>
            <a:r>
              <a:rPr sz="2475" b="1">
                <a:solidFill>
                  <a:srgbClr val="48D7D1"/>
                </a:solidFill>
              </a:rPr>
              <a:t>PROTECT YOUR FOCUS.</a:t>
            </a:r>
          </a:p>
        </p:txBody>
      </p:sp>
      <p:sp>
        <p:nvSpPr>
          <p:cNvPr id="7" name="team">
            <a:extLst xmlns:a="http://schemas.openxmlformats.org/drawingml/2006/main">
              <a:ext uri="{FF2B5EF4-FFF2-40B4-BE49-F238E27FC236}">
                <a16:creationId xmlns:a16="http://schemas.microsoft.com/office/drawing/2014/main" id="{6979D0A1-8CDA-412C-9D30-1DF29293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6" y="2857773"/>
            <a:ext cx="11905512" cy="416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7D5E5"/>
                </a:solidFill>
              </a:defRPr>
            </a:pPr>
            <a:r>
              <a:rPr sz="1875" b="0">
                <a:solidFill>
                  <a:srgbClr val="C7D5E5"/>
                </a:solidFill>
              </a:rPr>
              <a:t>Ido Mark  •  Rotem Saraf  •  Eden Elkayam</a:t>
            </a:r>
          </a:p>
        </p:txBody>
      </p:sp>
      <p:sp>
        <p:nvSpPr>
          <p:cNvPr id="8" name="supervisor">
            <a:extLst xmlns:a="http://schemas.openxmlformats.org/drawingml/2006/main">
              <a:ext uri="{FF2B5EF4-FFF2-40B4-BE49-F238E27FC236}">
                <a16:creationId xmlns:a16="http://schemas.microsoft.com/office/drawing/2014/main" id="{5AA8571C-8A23-4AAF-AD9E-578032F2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677" y="535832"/>
            <a:ext cx="5307874" cy="476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Supervisor: Dror Margalit</a:t>
            </a:r>
          </a:p>
        </p:txBody>
      </p:sp>
      <p:sp>
        <p:nvSpPr>
          <p:cNvPr id="9" name="project-number">
            <a:extLst xmlns:a="http://schemas.openxmlformats.org/drawingml/2006/main">
              <a:ext uri="{FF2B5EF4-FFF2-40B4-BE49-F238E27FC236}">
                <a16:creationId xmlns:a16="http://schemas.microsoft.com/office/drawing/2014/main" id="{B34B230C-406F-4C8B-8A11-9F34C79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827" y="1160970"/>
            <a:ext cx="5704724" cy="436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C7D5E5"/>
                </a:solidFill>
              </a:defRPr>
            </a:pPr>
            <a:r>
              <a:rPr sz="1800" b="0">
                <a:solidFill>
                  <a:srgbClr val="C7D5E5"/>
                </a:solidFill>
              </a:rPr>
              <a:t>Project No.: 15002936</a:t>
            </a:r>
          </a:p>
        </p:txBody>
      </p:sp>
      <p:sp>
        <p:nvSpPr>
          <p:cNvPr id="10" name="college-logo-frame">
            <a:extLst xmlns:a="http://schemas.openxmlformats.org/drawingml/2006/main">
              <a:ext uri="{FF2B5EF4-FFF2-40B4-BE49-F238E27FC236}">
                <a16:creationId xmlns:a16="http://schemas.microsoft.com/office/drawing/2014/main" id="{1E059ED8-62E5-4638-B1F0-F43BFC0E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220" y="377067"/>
            <a:ext cx="3621260" cy="253032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86" name="תמונה 1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3f1772d004971"/>
          <a:stretch xmlns:a="http://schemas.openxmlformats.org/drawingml/2006/main"/>
        </p:blipFill>
        <p:spPr>
          <a:xfrm xmlns:a="http://schemas.openxmlformats.org/drawingml/2006/main">
            <a:off x="20834646" y="831037"/>
            <a:ext cx="3224409" cy="1612459"/>
          </a:xfrm>
          <a:prstGeom xmlns:a="http://schemas.openxmlformats.org/drawingml/2006/main" prst="rect">
            <a:avLst/>
          </a:prstGeom>
        </p:spPr>
      </p:pic>
      <p:sp>
        <p:nvSpPr>
          <p:cNvPr id="12" name="section-1-number">
            <a:extLst xmlns:a="http://schemas.openxmlformats.org/drawingml/2006/main">
              <a:ext uri="{FF2B5EF4-FFF2-40B4-BE49-F238E27FC236}">
                <a16:creationId xmlns:a16="http://schemas.microsoft.com/office/drawing/2014/main" id="{E902E3FC-F5AD-4D30-8079-DD1277F7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4068357"/>
            <a:ext cx="892913" cy="575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A7A5"/>
                </a:solidFill>
              </a:defRPr>
            </a:pPr>
            <a:r>
              <a:rPr sz="1875" b="1">
                <a:solidFill>
                  <a:srgbClr val="00A7A5"/>
                </a:solidFill>
              </a:rPr>
              <a:t>01</a:t>
            </a:r>
          </a:p>
        </p:txBody>
      </p:sp>
      <p:sp>
        <p:nvSpPr>
          <p:cNvPr id="13" name="section-1-rule">
            <a:extLst xmlns:a="http://schemas.openxmlformats.org/drawingml/2006/main">
              <a:ext uri="{FF2B5EF4-FFF2-40B4-BE49-F238E27FC236}">
                <a16:creationId xmlns:a16="http://schemas.microsoft.com/office/drawing/2014/main" id="{D590672F-4279-472E-A3AE-285877E7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4683572"/>
            <a:ext cx="843307" cy="793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D4C884CD-BBE1-4A71-852A-5AC43798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677" y="4018743"/>
            <a:ext cx="8929134" cy="773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162B"/>
                </a:solidFill>
              </a:defRPr>
            </a:pPr>
            <a:r>
              <a:rPr sz="3600" b="1">
                <a:solidFill>
                  <a:srgbClr val="07162B"/>
                </a:solidFill>
              </a:rPr>
              <a:t>Why does it matter?</a:t>
            </a:r>
          </a:p>
        </p:txBody>
      </p:sp>
      <p:sp>
        <p:nvSpPr>
          <p:cNvPr id="15" name="section-1-subtitle">
            <a:extLst xmlns:a="http://schemas.openxmlformats.org/drawingml/2006/main">
              <a:ext uri="{FF2B5EF4-FFF2-40B4-BE49-F238E27FC236}">
                <a16:creationId xmlns:a16="http://schemas.microsoft.com/office/drawing/2014/main" id="{6171B3F7-37E7-4A6D-A823-17C3A9CA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236" y="4007237"/>
            <a:ext cx="12897638" cy="65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025" b="0">
                <a:solidFill>
                  <a:srgbClr val="5B6E80"/>
                </a:solidFill>
              </a:defRPr>
            </a:pPr>
            <a:r>
              <a:rPr sz="2025" b="0">
                <a:solidFill>
                  <a:srgbClr val="5B6E80"/>
                </a:solidFill>
              </a:rPr>
              <a:t>The cost of interruptions—and the promise of automatic protection</a:t>
            </a:r>
          </a:p>
        </p:txBody>
      </p:sp>
      <p:sp>
        <p:nvSpPr>
          <p:cNvPr id="16" name="why-headline">
            <a:extLst xmlns:a="http://schemas.openxmlformats.org/drawingml/2006/main">
              <a:ext uri="{FF2B5EF4-FFF2-40B4-BE49-F238E27FC236}">
                <a16:creationId xmlns:a16="http://schemas.microsoft.com/office/drawing/2014/main" id="{58FB8C36-B76C-43ED-B833-CF743713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5011025"/>
            <a:ext cx="10516535" cy="2034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7162B"/>
                </a:solidFill>
              </a:defRPr>
            </a:pPr>
            <a:r>
              <a:rPr sz="5100" b="1"/>
              <a:t>In today’s digital workplace, focus is constantly under attack.</a:t>
            </a:r>
            <a:endParaRPr sz="5100" b="1">
              <a:solidFill>
                <a:srgbClr val="07162B"/>
              </a:solidFill>
            </a:endParaRPr>
          </a:p>
        </p:txBody>
      </p:sp>
      <p:sp>
        <p:nvSpPr>
          <p:cNvPr id="17" name="why-body">
            <a:extLst xmlns:a="http://schemas.openxmlformats.org/drawingml/2006/main">
              <a:ext uri="{FF2B5EF4-FFF2-40B4-BE49-F238E27FC236}">
                <a16:creationId xmlns:a16="http://schemas.microsoft.com/office/drawing/2014/main" id="{6144B4EB-93C8-43CE-A2A0-F3B0E416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7094818"/>
            <a:ext cx="10318110" cy="2331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2238"/>
                </a:solidFill>
              </a:defRPr>
            </a:pPr>
            <a:r>
              <a:rPr sz="2250"/>
              <a:t>Notifications, messages, and frequent context switching repeatedly interrupt computer  - based work. Employees lose concentration, work less efficiently, and experience greater frustration - while employers lose valuable time, productivity, and work quality.</a:t>
            </a:r>
            <a:endParaRPr sz="2250" b="0">
              <a:solidFill>
                <a:srgbClr val="102238"/>
              </a:solidFill>
            </a:endParaRPr>
          </a:p>
        </p:txBody>
      </p:sp>
      <p:sp>
        <p:nvSpPr>
          <p:cNvPr id="18" name="why-image-shadow">
            <a:extLst xmlns:a="http://schemas.openxmlformats.org/drawingml/2006/main">
              <a:ext uri="{FF2B5EF4-FFF2-40B4-BE49-F238E27FC236}">
                <a16:creationId xmlns:a16="http://schemas.microsoft.com/office/drawing/2014/main" id="{CDF95137-B058-4F39-9324-D93ECA12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1181" y="5110254"/>
            <a:ext cx="11707087" cy="4911797"/>
          </a:xfrm>
          <a:prstGeom xmlns:a="http://schemas.openxmlformats.org/drawingml/2006/main" prst="roundRect">
            <a:avLst>
              <a:gd name="adj" fmla="val 3232"/>
            </a:avLst>
          </a:prstGeom>
          <a:solidFill xmlns:a="http://schemas.openxmlformats.org/drawingml/2006/main">
            <a:srgbClr val="CCD9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94" name="תמונה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f9a0a1c3b4e57"/>
          <a:srcRect xmlns:a="http://schemas.openxmlformats.org/drawingml/2006/main" l="0" t="18538" r="0" b="18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52756" y="4911797"/>
            <a:ext cx="11707087" cy="4911797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0" name="stat-56">
            <a:extLst xmlns:a="http://schemas.openxmlformats.org/drawingml/2006/main">
              <a:ext uri="{FF2B5EF4-FFF2-40B4-BE49-F238E27FC236}">
                <a16:creationId xmlns:a16="http://schemas.microsoft.com/office/drawing/2014/main" id="{66616068-2CD1-41E5-8AB4-1049B258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9922822"/>
            <a:ext cx="2877165" cy="1091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F0444C"/>
                </a:solidFill>
              </a:defRPr>
            </a:pPr>
            <a:r>
              <a:rPr sz="5850" b="1">
                <a:solidFill>
                  <a:srgbClr val="F0444C"/>
                </a:solidFill>
              </a:rPr>
              <a:t>56</a:t>
            </a:r>
          </a:p>
        </p:txBody>
      </p:sp>
      <p:sp>
        <p:nvSpPr>
          <p:cNvPr id="21" name="stat-56-label">
            <a:extLst xmlns:a="http://schemas.openxmlformats.org/drawingml/2006/main">
              <a:ext uri="{FF2B5EF4-FFF2-40B4-BE49-F238E27FC236}">
                <a16:creationId xmlns:a16="http://schemas.microsoft.com/office/drawing/2014/main" id="{CB11D8D4-A679-4646-B510-039E7AFD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10915105"/>
            <a:ext cx="3075591" cy="873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238"/>
                </a:solidFill>
              </a:defRPr>
            </a:pPr>
            <a:r>
              <a:rPr sz="1950" b="1">
                <a:solidFill>
                  <a:srgbClr val="102238"/>
                </a:solidFill>
              </a:rPr>
              <a:t>interruptions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238"/>
                </a:solidFill>
              </a:defRPr>
            </a:pPr>
            <a:r>
              <a:rPr sz="1950" b="1">
                <a:solidFill>
                  <a:srgbClr val="102238"/>
                </a:solidFill>
              </a:rPr>
              <a:t>per workday</a:t>
            </a:r>
          </a:p>
        </p:txBody>
      </p:sp>
      <p:sp>
        <p:nvSpPr>
          <p:cNvPr id="22" name="stat-23">
            <a:extLst xmlns:a="http://schemas.openxmlformats.org/drawingml/2006/main">
              <a:ext uri="{FF2B5EF4-FFF2-40B4-BE49-F238E27FC236}">
                <a16:creationId xmlns:a16="http://schemas.microsoft.com/office/drawing/2014/main" id="{A92B0088-6501-49C3-95E8-5CD3AB61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73" y="9922822"/>
            <a:ext cx="3869291" cy="1091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A7A5"/>
                </a:solidFill>
              </a:defRPr>
            </a:pPr>
            <a:r>
              <a:rPr sz="4800" b="1">
                <a:solidFill>
                  <a:srgbClr val="00A7A5"/>
                </a:solidFill>
              </a:rPr>
              <a:t>23 min</a:t>
            </a:r>
          </a:p>
        </p:txBody>
      </p:sp>
      <p:sp>
        <p:nvSpPr>
          <p:cNvPr id="23" name="stat-23-label">
            <a:extLst xmlns:a="http://schemas.openxmlformats.org/drawingml/2006/main">
              <a:ext uri="{FF2B5EF4-FFF2-40B4-BE49-F238E27FC236}">
                <a16:creationId xmlns:a16="http://schemas.microsoft.com/office/drawing/2014/main" id="{B054F823-99AA-4324-BDB7-5E21785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73" y="10915105"/>
            <a:ext cx="3472441" cy="873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238"/>
                </a:solidFill>
              </a:defRPr>
            </a:pPr>
            <a:r>
              <a:rPr sz="1950" b="1">
                <a:solidFill>
                  <a:srgbClr val="102238"/>
                </a:solidFill>
              </a:rPr>
              <a:t>to regain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238"/>
                </a:solidFill>
              </a:defRPr>
            </a:pPr>
            <a:r>
              <a:rPr sz="1950" b="1">
                <a:solidFill>
                  <a:srgbClr val="102238"/>
                </a:solidFill>
              </a:rPr>
              <a:t>deep focus</a:t>
            </a:r>
          </a:p>
        </p:txBody>
      </p:sp>
      <p:sp>
        <p:nvSpPr>
          <p:cNvPr id="24" name="stat-stress">
            <a:extLst xmlns:a="http://schemas.openxmlformats.org/drawingml/2006/main">
              <a:ext uri="{FF2B5EF4-FFF2-40B4-BE49-F238E27FC236}">
                <a16:creationId xmlns:a16="http://schemas.microsoft.com/office/drawing/2014/main" id="{D14EB8A3-BD19-44D9-8088-B364E6DB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677" y="9922822"/>
            <a:ext cx="4166929" cy="1091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0444C"/>
                </a:solidFill>
              </a:defRPr>
            </a:pPr>
            <a:r>
              <a:rPr sz="3750" b="1">
                <a:solidFill>
                  <a:srgbClr val="F0444C"/>
                </a:solidFill>
              </a:rPr>
              <a:t>STRESS ↑</a:t>
            </a:r>
          </a:p>
        </p:txBody>
      </p:sp>
      <p:sp>
        <p:nvSpPr>
          <p:cNvPr id="25" name="stat-stress-label">
            <a:extLst xmlns:a="http://schemas.openxmlformats.org/drawingml/2006/main">
              <a:ext uri="{FF2B5EF4-FFF2-40B4-BE49-F238E27FC236}">
                <a16:creationId xmlns:a16="http://schemas.microsoft.com/office/drawing/2014/main" id="{A71C2031-A3C9-42E7-9F77-2FED0784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677" y="10915105"/>
            <a:ext cx="3869291" cy="873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238"/>
                </a:solidFill>
              </a:defRPr>
            </a:pPr>
            <a:r>
              <a:rPr sz="1950" b="1">
                <a:solidFill>
                  <a:srgbClr val="102238"/>
                </a:solidFill>
              </a:rPr>
              <a:t>more frustration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238"/>
                </a:solidFill>
              </a:defRPr>
            </a:pPr>
            <a:r>
              <a:rPr sz="1950" b="1">
                <a:solidFill>
                  <a:srgbClr val="102238"/>
                </a:solidFill>
              </a:rPr>
              <a:t>and time pressure</a:t>
            </a:r>
          </a:p>
        </p:txBody>
      </p:sp>
      <p:sp>
        <p:nvSpPr>
          <p:cNvPr id="26" name="vision-box">
            <a:extLst xmlns:a="http://schemas.openxmlformats.org/drawingml/2006/main">
              <a:ext uri="{FF2B5EF4-FFF2-40B4-BE49-F238E27FC236}">
                <a16:creationId xmlns:a16="http://schemas.microsoft.com/office/drawing/2014/main" id="{760D2374-AD84-4549-B030-F1208CBC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669" y="10319735"/>
            <a:ext cx="10814173" cy="1786108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vision-kicker">
            <a:extLst xmlns:a="http://schemas.openxmlformats.org/drawingml/2006/main">
              <a:ext uri="{FF2B5EF4-FFF2-40B4-BE49-F238E27FC236}">
                <a16:creationId xmlns:a16="http://schemas.microsoft.com/office/drawing/2014/main" id="{2AD6D889-2712-4276-ADF6-45FF97E8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26" y="10547960"/>
            <a:ext cx="2777953" cy="436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A7A5"/>
                </a:solidFill>
              </a:defRPr>
            </a:pPr>
            <a:r>
              <a:rPr sz="1800" b="1">
                <a:solidFill>
                  <a:srgbClr val="00A7A5"/>
                </a:solidFill>
              </a:rPr>
              <a:t>THE PROMISE</a:t>
            </a:r>
          </a:p>
        </p:txBody>
      </p:sp>
      <p:sp>
        <p:nvSpPr>
          <p:cNvPr id="28" name="vision-copy">
            <a:extLst xmlns:a="http://schemas.openxmlformats.org/drawingml/2006/main">
              <a:ext uri="{FF2B5EF4-FFF2-40B4-BE49-F238E27FC236}">
                <a16:creationId xmlns:a16="http://schemas.microsoft.com/office/drawing/2014/main" id="{322C116B-41CB-4FAE-B7AC-0DFE60E7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26" y="10964719"/>
            <a:ext cx="9673228" cy="893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162B"/>
                </a:solidFill>
              </a:defRPr>
            </a:pPr>
            <a:r>
              <a:rPr sz="2550" b="1">
                <a:solidFill>
                  <a:srgbClr val="07162B"/>
                </a:solidFill>
              </a:rPr>
              <a:t>A background agent that senses overload and protects the individual focus - automatically.</a:t>
            </a:r>
          </a:p>
        </p:txBody>
      </p:sp>
      <p:sp>
        <p:nvSpPr>
          <p:cNvPr id="30" name="divider-one">
            <a:extLst xmlns:a="http://schemas.openxmlformats.org/drawingml/2006/main">
              <a:ext uri="{FF2B5EF4-FFF2-40B4-BE49-F238E27FC236}">
                <a16:creationId xmlns:a16="http://schemas.microsoft.com/office/drawing/2014/main" id="{2F03030A-35B8-4423-9DD0-7E4A21E6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12750827"/>
            <a:ext cx="22918110" cy="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ection-2-number">
            <a:extLst xmlns:a="http://schemas.openxmlformats.org/drawingml/2006/main">
              <a:ext uri="{FF2B5EF4-FFF2-40B4-BE49-F238E27FC236}">
                <a16:creationId xmlns:a16="http://schemas.microsoft.com/office/drawing/2014/main" id="{BE9264B6-4070-47C9-AF3D-5AED593D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13197354"/>
            <a:ext cx="892913" cy="575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A7A5"/>
                </a:solidFill>
              </a:defRPr>
            </a:pPr>
            <a:r>
              <a:rPr sz="1875" b="1">
                <a:solidFill>
                  <a:srgbClr val="00A7A5"/>
                </a:solidFill>
              </a:rPr>
              <a:t>02</a:t>
            </a:r>
          </a:p>
        </p:txBody>
      </p:sp>
      <p:sp>
        <p:nvSpPr>
          <p:cNvPr id="32" name="section-2-rule">
            <a:extLst xmlns:a="http://schemas.openxmlformats.org/drawingml/2006/main">
              <a:ext uri="{FF2B5EF4-FFF2-40B4-BE49-F238E27FC236}">
                <a16:creationId xmlns:a16="http://schemas.microsoft.com/office/drawing/2014/main" id="{5E005A9F-D978-485C-AAFD-0FC2D7B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13812569"/>
            <a:ext cx="843307" cy="793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8F7D020C-BD1D-4ADA-ACD9-7725DEDB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677" y="13147740"/>
            <a:ext cx="8929134" cy="773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162B"/>
                </a:solidFill>
              </a:defRPr>
            </a:pPr>
            <a:r>
              <a:rPr sz="3600" b="1">
                <a:solidFill>
                  <a:srgbClr val="07162B"/>
                </a:solidFill>
              </a:rPr>
              <a:t>What did we build?</a:t>
            </a:r>
          </a:p>
        </p:txBody>
      </p:sp>
      <p:sp>
        <p:nvSpPr>
          <p:cNvPr id="34" name="section-2-subtitle">
            <a:extLst xmlns:a="http://schemas.openxmlformats.org/drawingml/2006/main">
              <a:ext uri="{FF2B5EF4-FFF2-40B4-BE49-F238E27FC236}">
                <a16:creationId xmlns:a16="http://schemas.microsoft.com/office/drawing/2014/main" id="{1E68617D-5C87-42EE-91F8-2375393C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630" y="13217200"/>
            <a:ext cx="12897638" cy="65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025" b="0">
                <a:solidFill>
                  <a:srgbClr val="5B6E80"/>
                </a:solidFill>
              </a:defRPr>
            </a:pPr>
            <a:r>
              <a:rPr sz="2025" b="0">
                <a:solidFill>
                  <a:srgbClr val="5B6E80"/>
                </a:solidFill>
              </a:rPr>
              <a:t>A working Windows agent that detects the moment protection is needed</a:t>
            </a:r>
          </a:p>
        </p:txBody>
      </p:sp>
      <p:sp>
        <p:nvSpPr>
          <p:cNvPr id="35" name="built-explainer">
            <a:extLst xmlns:a="http://schemas.openxmlformats.org/drawingml/2006/main">
              <a:ext uri="{FF2B5EF4-FFF2-40B4-BE49-F238E27FC236}">
                <a16:creationId xmlns:a16="http://schemas.microsoft.com/office/drawing/2014/main" id="{79046EF0-CB5F-4ED6-9727-5FAAA393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14090408"/>
            <a:ext cx="22918110" cy="773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02238"/>
                </a:solidFill>
              </a:defRPr>
            </a:pPr>
            <a:r>
              <a:rPr sz="2325" b="0">
                <a:solidFill>
                  <a:srgbClr val="102238"/>
                </a:solidFill>
              </a:rPr>
              <a:t>KungFlow runs quietly in the background, monitors behavioral rhythm - not content - and changes the protection state only when overload is detected.</a:t>
            </a:r>
          </a:p>
        </p:txBody>
      </p:sp>
      <p:sp>
        <p:nvSpPr>
          <p:cNvPr id="36" name="open-scenario-panel">
            <a:extLst xmlns:a="http://schemas.openxmlformats.org/drawingml/2006/main">
              <a:ext uri="{FF2B5EF4-FFF2-40B4-BE49-F238E27FC236}">
                <a16:creationId xmlns:a16="http://schemas.microsoft.com/office/drawing/2014/main" id="{A5504EAF-8277-4CAD-9D97-61C231B6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15132304"/>
            <a:ext cx="11062205" cy="10567806"/>
          </a:xfrm>
          <a:prstGeom xmlns:a="http://schemas.openxmlformats.org/drawingml/2006/main" prst="roundRect">
            <a:avLst>
              <a:gd name="adj" fmla="val 15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pen-scenario-accent">
            <a:extLst xmlns:a="http://schemas.openxmlformats.org/drawingml/2006/main">
              <a:ext uri="{FF2B5EF4-FFF2-40B4-BE49-F238E27FC236}">
                <a16:creationId xmlns:a16="http://schemas.microsoft.com/office/drawing/2014/main" id="{8096E3A2-F3E9-4BE4-ABFF-C685907E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15132304"/>
            <a:ext cx="11062205" cy="17861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B6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pen-scenario-title">
            <a:extLst xmlns:a="http://schemas.openxmlformats.org/drawingml/2006/main">
              <a:ext uri="{FF2B5EF4-FFF2-40B4-BE49-F238E27FC236}">
                <a16:creationId xmlns:a16="http://schemas.microsoft.com/office/drawing/2014/main" id="{D8FA7715-A8D2-4A22-80F2-E7DD9F3C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83" y="15429989"/>
            <a:ext cx="10268504" cy="575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4B66F"/>
                </a:solidFill>
              </a:defRPr>
            </a:pPr>
            <a:r>
              <a:rPr sz="2325" b="1">
                <a:solidFill>
                  <a:srgbClr val="24B66F"/>
                </a:solidFill>
              </a:rPr>
              <a:t>NORMAL WORK  ·  MONITORING IN THE BACKGROUND</a:t>
            </a:r>
          </a:p>
        </p:txBody>
      </p:sp>
      <p:pic>
        <p:nvPicPr>
          <p:cNvPr id="1213" name="תמונה 1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4c1d7a5ac48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67125" y="16078200"/>
            <a:ext cx="5810250" cy="385762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40" name="open-scenario-flow">
            <a:extLst xmlns:a="http://schemas.openxmlformats.org/drawingml/2006/main">
              <a:ext uri="{FF2B5EF4-FFF2-40B4-BE49-F238E27FC236}">
                <a16:creationId xmlns:a16="http://schemas.microsoft.com/office/drawing/2014/main" id="{9EFEC64E-E579-4AA2-9421-0FC2FD2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61" y="19983450"/>
            <a:ext cx="1026852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238"/>
                </a:solidFill>
              </a:defRPr>
            </a:pPr>
            <a:r>
              <a:rPr sz="1875" b="1">
                <a:solidFill>
                  <a:srgbClr val="102238"/>
                </a:solidFill>
              </a:rPr>
              <a:t>Green state → no overload detected, so work continues normally</a:t>
            </a:r>
          </a:p>
        </p:txBody>
      </p:sp>
      <p:pic>
        <p:nvPicPr>
          <p:cNvPr id="1215" name="תמונה 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71dc3cfd94621"/>
          <a:stretch xmlns:a="http://schemas.openxmlformats.org/drawingml/2006/main"/>
        </p:blipFill>
        <p:spPr>
          <a:xfrm xmlns:a="http://schemas.openxmlformats.org/drawingml/2006/main">
            <a:off x="3750469" y="20764500"/>
            <a:ext cx="5643563" cy="3762375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42" name="open-scenario-caption">
            <a:extLst xmlns:a="http://schemas.openxmlformats.org/drawingml/2006/main">
              <a:ext uri="{FF2B5EF4-FFF2-40B4-BE49-F238E27FC236}">
                <a16:creationId xmlns:a16="http://schemas.microsoft.com/office/drawing/2014/main" id="{7509BADB-442E-4C8E-8526-6AAED4B3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967" y="24745950"/>
            <a:ext cx="987161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B6E80"/>
                </a:solidFill>
              </a:defRPr>
            </a:pPr>
            <a:r>
              <a:rPr sz="1800" b="0">
                <a:solidFill>
                  <a:srgbClr val="5B6E80"/>
                </a:solidFill>
              </a:rPr>
              <a:t>The user stays focused on the task while KungFlow quietly observes the work rhythm.</a:t>
            </a:r>
          </a:p>
        </p:txBody>
      </p:sp>
      <p:sp>
        <p:nvSpPr>
          <p:cNvPr id="43" name="protected-scenario-panel">
            <a:extLst xmlns:a="http://schemas.openxmlformats.org/drawingml/2006/main">
              <a:ext uri="{FF2B5EF4-FFF2-40B4-BE49-F238E27FC236}">
                <a16:creationId xmlns:a16="http://schemas.microsoft.com/office/drawing/2014/main" id="{2EEA5F85-6167-4C56-B603-5256F211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669" y="15132304"/>
            <a:ext cx="11062205" cy="10567806"/>
          </a:xfrm>
          <a:prstGeom xmlns:a="http://schemas.openxmlformats.org/drawingml/2006/main" prst="roundRect">
            <a:avLst>
              <a:gd name="adj" fmla="val 15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protected-scenario-accent">
            <a:extLst xmlns:a="http://schemas.openxmlformats.org/drawingml/2006/main">
              <a:ext uri="{FF2B5EF4-FFF2-40B4-BE49-F238E27FC236}">
                <a16:creationId xmlns:a16="http://schemas.microsoft.com/office/drawing/2014/main" id="{F9E2A26C-5DC8-4467-8387-B2AE7BFF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669" y="15132304"/>
            <a:ext cx="11062205" cy="17861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rotected-scenario-title">
            <a:extLst xmlns:a="http://schemas.openxmlformats.org/drawingml/2006/main">
              <a:ext uri="{FF2B5EF4-FFF2-40B4-BE49-F238E27FC236}">
                <a16:creationId xmlns:a16="http://schemas.microsoft.com/office/drawing/2014/main" id="{70DF37B1-BDD0-41CA-830F-1A972A51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2520" y="15429989"/>
            <a:ext cx="10268504" cy="575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44C"/>
                </a:solidFill>
              </a:defRPr>
            </a:pPr>
            <a:r>
              <a:rPr sz="2325" b="1">
                <a:solidFill>
                  <a:srgbClr val="F0444C"/>
                </a:solidFill>
              </a:rPr>
              <a:t>OVERLOAD DETECTED  ·  PROTECTION IS NEEDED</a:t>
            </a:r>
          </a:p>
        </p:txBody>
      </p:sp>
      <p:pic>
        <p:nvPicPr>
          <p:cNvPr id="1220" name="תמונה 1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fd21ae2d447c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63875" y="16078200"/>
            <a:ext cx="5810250" cy="385762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47" name="protected-scenario-flow">
            <a:extLst xmlns:a="http://schemas.openxmlformats.org/drawingml/2006/main">
              <a:ext uri="{FF2B5EF4-FFF2-40B4-BE49-F238E27FC236}">
                <a16:creationId xmlns:a16="http://schemas.microsoft.com/office/drawing/2014/main" id="{5613ADA0-BED7-4EB6-9486-993FCECC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2550" y="19983450"/>
            <a:ext cx="1026852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238"/>
                </a:solidFill>
              </a:defRPr>
            </a:pPr>
            <a:r>
              <a:rPr sz="1875" b="1">
                <a:solidFill>
                  <a:srgbClr val="102238"/>
                </a:solidFill>
              </a:rPr>
              <a:t>Red state → the server identifies overload and returns a protection decision</a:t>
            </a:r>
          </a:p>
        </p:txBody>
      </p:sp>
      <p:pic>
        <p:nvPicPr>
          <p:cNvPr id="1222" name="תמונה 1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d3e1193864bfc"/>
          <a:stretch xmlns:a="http://schemas.openxmlformats.org/drawingml/2006/main"/>
        </p:blipFill>
        <p:spPr>
          <a:xfrm xmlns:a="http://schemas.openxmlformats.org/drawingml/2006/main">
            <a:off x="13525500" y="20867688"/>
            <a:ext cx="4905375" cy="32702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49" name="protected-scenario-caption">
            <a:extLst xmlns:a="http://schemas.openxmlformats.org/drawingml/2006/main">
              <a:ext uri="{FF2B5EF4-FFF2-40B4-BE49-F238E27FC236}">
                <a16:creationId xmlns:a16="http://schemas.microsoft.com/office/drawing/2014/main" id="{C9020765-5966-4175-A1FC-6ED30557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955" y="24269700"/>
            <a:ext cx="987161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B6E80"/>
                </a:solidFill>
              </a:defRPr>
            </a:pPr>
            <a:r>
              <a:rPr sz="1800" b="0">
                <a:solidFill>
                  <a:srgbClr val="5B6E80"/>
                </a:solidFill>
              </a:rPr>
              <a:t>Same overload, different outcome: without KungFlow interruptions continue; with KungFlow protection activates automatically.</a:t>
            </a:r>
          </a:p>
        </p:txBody>
      </p:sp>
      <p:sp>
        <p:nvSpPr>
          <p:cNvPr id="50" name="divider-two">
            <a:extLst xmlns:a="http://schemas.openxmlformats.org/drawingml/2006/main">
              <a:ext uri="{FF2B5EF4-FFF2-40B4-BE49-F238E27FC236}">
                <a16:creationId xmlns:a16="http://schemas.microsoft.com/office/drawing/2014/main" id="{83188BA4-A70F-408A-B5AB-1EA5E734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26097023"/>
            <a:ext cx="22918110" cy="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ection-3-number">
            <a:extLst xmlns:a="http://schemas.openxmlformats.org/drawingml/2006/main">
              <a:ext uri="{FF2B5EF4-FFF2-40B4-BE49-F238E27FC236}">
                <a16:creationId xmlns:a16="http://schemas.microsoft.com/office/drawing/2014/main" id="{A994B85B-12E8-4DD2-862D-12D9C9C7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26493936"/>
            <a:ext cx="892913" cy="575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A7A5"/>
                </a:solidFill>
              </a:defRPr>
            </a:pPr>
            <a:r>
              <a:rPr sz="1875" b="1">
                <a:solidFill>
                  <a:srgbClr val="00A7A5"/>
                </a:solidFill>
              </a:rPr>
              <a:t>03</a:t>
            </a:r>
          </a:p>
        </p:txBody>
      </p:sp>
      <p:sp>
        <p:nvSpPr>
          <p:cNvPr id="52" name="section-3-rule">
            <a:extLst xmlns:a="http://schemas.openxmlformats.org/drawingml/2006/main">
              <a:ext uri="{FF2B5EF4-FFF2-40B4-BE49-F238E27FC236}">
                <a16:creationId xmlns:a16="http://schemas.microsoft.com/office/drawing/2014/main" id="{17B85A96-71DB-4F61-A4CD-6D30288D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27109151"/>
            <a:ext cx="843307" cy="7938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D2AF4944-755D-4249-BD85-D52FDC6B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677" y="26444322"/>
            <a:ext cx="8929134" cy="773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162B"/>
                </a:solidFill>
              </a:defRPr>
            </a:pPr>
            <a:r>
              <a:rPr sz="3600" b="1">
                <a:solidFill>
                  <a:srgbClr val="07162B"/>
                </a:solidFill>
              </a:rPr>
              <a:t>How did we build it?</a:t>
            </a:r>
          </a:p>
        </p:txBody>
      </p:sp>
      <p:sp>
        <p:nvSpPr>
          <p:cNvPr id="54" name="section-3-subtitle">
            <a:extLst xmlns:a="http://schemas.openxmlformats.org/drawingml/2006/main">
              <a:ext uri="{FF2B5EF4-FFF2-40B4-BE49-F238E27FC236}">
                <a16:creationId xmlns:a16="http://schemas.microsoft.com/office/drawing/2014/main" id="{4F9DDB87-40B9-4D6B-A4F1-2F568F5B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630" y="26513782"/>
            <a:ext cx="12897638" cy="65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025" b="0">
                <a:solidFill>
                  <a:srgbClr val="5B6E80"/>
                </a:solidFill>
              </a:defRPr>
            </a:pPr>
            <a:r>
              <a:rPr sz="2025" b="0">
                <a:solidFill>
                  <a:srgbClr val="5B6E80"/>
                </a:solidFill>
              </a:rPr>
              <a:t>A personalized detection loop across the desktop agent, server and SQL storage</a:t>
            </a:r>
          </a:p>
        </p:txBody>
      </p:sp>
      <p:sp>
        <p:nvSpPr>
          <p:cNvPr id="55" name="architecture-agent">
            <a:extLst xmlns:a="http://schemas.openxmlformats.org/drawingml/2006/main">
              <a:ext uri="{FF2B5EF4-FFF2-40B4-BE49-F238E27FC236}">
                <a16:creationId xmlns:a16="http://schemas.microsoft.com/office/drawing/2014/main" id="{A7BD3F2C-33A5-4B0F-B7E2-F4F3255C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28329658"/>
            <a:ext cx="6548031" cy="4514884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architecture-server">
            <a:extLst xmlns:a="http://schemas.openxmlformats.org/drawingml/2006/main">
              <a:ext uri="{FF2B5EF4-FFF2-40B4-BE49-F238E27FC236}">
                <a16:creationId xmlns:a16="http://schemas.microsoft.com/office/drawing/2014/main" id="{00B4DB2B-ED69-4B80-A9E5-38BB9ED2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984" y="28329658"/>
            <a:ext cx="6548031" cy="4514884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architecture-database">
            <a:extLst xmlns:a="http://schemas.openxmlformats.org/drawingml/2006/main">
              <a:ext uri="{FF2B5EF4-FFF2-40B4-BE49-F238E27FC236}">
                <a16:creationId xmlns:a16="http://schemas.microsoft.com/office/drawing/2014/main" id="{3C5D3ACF-508D-48CD-A427-8FEA3497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0236" y="28329658"/>
            <a:ext cx="6548031" cy="4514884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agent-accent">
            <a:extLst xmlns:a="http://schemas.openxmlformats.org/drawingml/2006/main">
              <a:ext uri="{FF2B5EF4-FFF2-40B4-BE49-F238E27FC236}">
                <a16:creationId xmlns:a16="http://schemas.microsoft.com/office/drawing/2014/main" id="{74C36800-A2B9-414C-BB68-F09E25ED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28329658"/>
            <a:ext cx="6548031" cy="1686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server-accent">
            <a:extLst xmlns:a="http://schemas.openxmlformats.org/drawingml/2006/main">
              <a:ext uri="{FF2B5EF4-FFF2-40B4-BE49-F238E27FC236}">
                <a16:creationId xmlns:a16="http://schemas.microsoft.com/office/drawing/2014/main" id="{75A14892-CA60-45A8-80B3-FC8842B3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984" y="28329658"/>
            <a:ext cx="6548031" cy="1686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5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database-accent">
            <a:extLst xmlns:a="http://schemas.openxmlformats.org/drawingml/2006/main">
              <a:ext uri="{FF2B5EF4-FFF2-40B4-BE49-F238E27FC236}">
                <a16:creationId xmlns:a16="http://schemas.microsoft.com/office/drawing/2014/main" id="{1B2D1CD0-E1D1-427E-A035-9324BD9C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0236" y="28329658"/>
            <a:ext cx="6548031" cy="1686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6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agent-logo-bg">
            <a:extLst xmlns:a="http://schemas.openxmlformats.org/drawingml/2006/main">
              <a:ext uri="{FF2B5EF4-FFF2-40B4-BE49-F238E27FC236}">
                <a16:creationId xmlns:a16="http://schemas.microsoft.com/office/drawing/2014/main" id="{63C3D9A7-EB3D-495D-A1C4-2E895B6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83" y="28875413"/>
            <a:ext cx="1488189" cy="1488423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36" name="תמונה 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e6b7704ff4f54"/>
          <a:stretch xmlns:a="http://schemas.openxmlformats.org/drawingml/2006/main"/>
        </p:blipFill>
        <p:spPr>
          <a:xfrm xmlns:a="http://schemas.openxmlformats.org/drawingml/2006/main">
            <a:off x="1637008" y="29073870"/>
            <a:ext cx="1091339" cy="1091510"/>
          </a:xfrm>
          <a:prstGeom xmlns:a="http://schemas.openxmlformats.org/drawingml/2006/main" prst="rect">
            <a:avLst/>
          </a:prstGeom>
        </p:spPr>
      </p:pic>
      <p:sp>
        <p:nvSpPr>
          <p:cNvPr id="6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16F89113-6E26-4B79-91FF-72E22943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409" y="28776185"/>
            <a:ext cx="3918898" cy="64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7162B"/>
                </a:solidFill>
              </a:defRPr>
            </a:pPr>
            <a:r>
              <a:rPr sz="2625" b="1">
                <a:solidFill>
                  <a:srgbClr val="07162B"/>
                </a:solidFill>
              </a:rPr>
              <a:t>DESKTOP AGENT</a:t>
            </a:r>
          </a:p>
        </p:txBody>
      </p:sp>
      <p:sp>
        <p:nvSpPr>
          <p:cNvPr id="64" name="agent-body">
            <a:extLst xmlns:a="http://schemas.openxmlformats.org/drawingml/2006/main">
              <a:ext uri="{FF2B5EF4-FFF2-40B4-BE49-F238E27FC236}">
                <a16:creationId xmlns:a16="http://schemas.microsoft.com/office/drawing/2014/main" id="{271AA752-0E01-4BA0-9E64-63AEA0F3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409" y="29421169"/>
            <a:ext cx="3770079" cy="1835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E80"/>
                </a:solidFill>
              </a:defRPr>
            </a:pPr>
            <a:r>
              <a:rPr sz="1875" b="0">
                <a:solidFill>
                  <a:srgbClr val="5B6E80"/>
                </a:solidFill>
              </a:rPr>
              <a:t>Collects typing rhythm, mouse movement, window switching and open-window patterns. Sends one-minute samples and applies the returned decision.</a:t>
            </a:r>
          </a:p>
        </p:txBody>
      </p:sp>
      <p:pic>
        <p:nvPicPr>
          <p:cNvPr id="1239" name="תמונה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62a8b62fd46d0"/>
          <a:stretch xmlns:a="http://schemas.openxmlformats.org/drawingml/2006/main"/>
        </p:blipFill>
        <p:spPr>
          <a:xfrm xmlns:a="http://schemas.openxmlformats.org/drawingml/2006/main">
            <a:off x="2809875" y="31918275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1240" name="תמונה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5e9a068194403"/>
          <a:stretch xmlns:a="http://schemas.openxmlformats.org/drawingml/2006/main"/>
        </p:blipFill>
        <p:spPr>
          <a:xfrm xmlns:a="http://schemas.openxmlformats.org/drawingml/2006/main">
            <a:off x="4086225" y="31918275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1241" name="תמונה 1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48579f2f1427e"/>
          <a:stretch xmlns:a="http://schemas.openxmlformats.org/drawingml/2006/main"/>
        </p:blipFill>
        <p:spPr>
          <a:xfrm xmlns:a="http://schemas.openxmlformats.org/drawingml/2006/main">
            <a:off x="5362575" y="319182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68" name="agent-tech-label">
            <a:extLst xmlns:a="http://schemas.openxmlformats.org/drawingml/2006/main">
              <a:ext uri="{FF2B5EF4-FFF2-40B4-BE49-F238E27FC236}">
                <a16:creationId xmlns:a16="http://schemas.microsoft.com/office/drawing/2014/main" id="{D628396E-9C41-4FBF-ACCE-8B44E8FE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5753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A7A5"/>
                </a:solidFill>
              </a:defRPr>
            </a:pPr>
            <a:r>
              <a:rPr sz="1275" b="1">
                <a:solidFill>
                  <a:srgbClr val="00A7A5"/>
                </a:solidFill>
              </a:rPr>
              <a:t>C#</a:t>
            </a:r>
          </a:p>
        </p:txBody>
      </p:sp>
      <p:pic>
        <p:nvPicPr>
          <p:cNvPr id="1243" name="תמונה 1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17dd505324d8e"/>
          <a:stretch xmlns:a="http://schemas.openxmlformats.org/drawingml/2006/main"/>
        </p:blipFill>
        <p:spPr>
          <a:xfrm xmlns:a="http://schemas.openxmlformats.org/drawingml/2006/main">
            <a:off x="10929938" y="31918275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1244" name="תמונה 1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0b46bf49749b4"/>
          <a:stretch xmlns:a="http://schemas.openxmlformats.org/drawingml/2006/main"/>
        </p:blipFill>
        <p:spPr>
          <a:xfrm xmlns:a="http://schemas.openxmlformats.org/drawingml/2006/main">
            <a:off x="12358688" y="319182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71" name="server-title">
            <a:extLst xmlns:a="http://schemas.openxmlformats.org/drawingml/2006/main">
              <a:ext uri="{FF2B5EF4-FFF2-40B4-BE49-F238E27FC236}">
                <a16:creationId xmlns:a16="http://schemas.microsoft.com/office/drawing/2014/main" id="{F4189D65-80F1-48F6-833C-1126C5E7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8776168"/>
            <a:ext cx="3810000" cy="644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162B"/>
                </a:solidFill>
              </a:defRPr>
            </a:pPr>
            <a:r>
              <a:rPr sz="2550" b="1">
                <a:solidFill>
                  <a:srgbClr val="07162B"/>
                </a:solidFill>
              </a:rPr>
              <a:t>KUNGFLOW SERVER</a:t>
            </a:r>
          </a:p>
        </p:txBody>
      </p:sp>
      <p:sp>
        <p:nvSpPr>
          <p:cNvPr id="72" name="server-body">
            <a:extLst xmlns:a="http://schemas.openxmlformats.org/drawingml/2006/main">
              <a:ext uri="{FF2B5EF4-FFF2-40B4-BE49-F238E27FC236}">
                <a16:creationId xmlns:a16="http://schemas.microsoft.com/office/drawing/2014/main" id="{675E1FD0-7E5E-441C-96DC-D13469CB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047" y="30115766"/>
            <a:ext cx="5555906" cy="173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B6E80"/>
                </a:solidFill>
              </a:defRPr>
            </a:pPr>
            <a:r>
              <a:rPr sz="1875" b="0">
                <a:solidFill>
                  <a:srgbClr val="5B6E80"/>
                </a:solidFill>
              </a:rPr>
              <a:t>Scores current load against the user’s personal baseline, stores the current state, and returns shouldSilenceNotifications to the agent.</a:t>
            </a:r>
          </a:p>
        </p:txBody>
      </p:sp>
      <p:sp>
        <p:nvSpPr>
          <p:cNvPr id="73" name="server-tech-label">
            <a:extLst xmlns:a="http://schemas.openxmlformats.org/drawingml/2006/main">
              <a:ext uri="{FF2B5EF4-FFF2-40B4-BE49-F238E27FC236}">
                <a16:creationId xmlns:a16="http://schemas.microsoft.com/office/drawing/2014/main" id="{1CDA059B-7952-44EA-A2BF-E29A1548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315753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B78E7"/>
                </a:solidFill>
              </a:defRPr>
            </a:pPr>
            <a:r>
              <a:rPr sz="1200" b="1">
                <a:solidFill>
                  <a:srgbClr val="3B78E7"/>
                </a:solidFill>
              </a:rPr>
              <a:t>Node.js</a:t>
            </a:r>
          </a:p>
        </p:txBody>
      </p:sp>
      <p:sp>
        <p:nvSpPr>
          <p:cNvPr id="74" name="sql-database-symbol">
            <a:extLst xmlns:a="http://schemas.openxmlformats.org/drawingml/2006/main">
              <a:ext uri="{FF2B5EF4-FFF2-40B4-BE49-F238E27FC236}">
                <a16:creationId xmlns:a16="http://schemas.microsoft.com/office/drawing/2014/main" id="{75337073-0D65-4E5A-AE76-269D08EB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5906" y="28925028"/>
            <a:ext cx="1736220" cy="1438809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7656D6"/>
          </a:solidFill>
          <a:ln xmlns:a="http://schemas.openxmlformats.org/drawingml/2006/main" w="28575">
            <a:solidFill>
              <a:srgbClr val="5A3FB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sql-symbol-text">
            <a:extLst xmlns:a="http://schemas.openxmlformats.org/drawingml/2006/main">
              <a:ext uri="{FF2B5EF4-FFF2-40B4-BE49-F238E27FC236}">
                <a16:creationId xmlns:a16="http://schemas.microsoft.com/office/drawing/2014/main" id="{D838C76A-9B96-4E1E-8D21-978DE14D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5906" y="29173098"/>
            <a:ext cx="1736220" cy="873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76" name="database-title">
            <a:extLst xmlns:a="http://schemas.openxmlformats.org/drawingml/2006/main">
              <a:ext uri="{FF2B5EF4-FFF2-40B4-BE49-F238E27FC236}">
                <a16:creationId xmlns:a16="http://schemas.microsoft.com/office/drawing/2014/main" id="{103C4038-51EB-42DB-8131-1A120922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9370" y="28776185"/>
            <a:ext cx="3472441" cy="64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7162B"/>
                </a:solidFill>
              </a:defRPr>
            </a:pPr>
            <a:r>
              <a:rPr sz="2625" b="1">
                <a:solidFill>
                  <a:srgbClr val="07162B"/>
                </a:solidFill>
              </a:rPr>
              <a:t>SQL DATABASE</a:t>
            </a:r>
          </a:p>
        </p:txBody>
      </p:sp>
      <p:sp>
        <p:nvSpPr>
          <p:cNvPr id="77" name="database-body">
            <a:extLst xmlns:a="http://schemas.openxmlformats.org/drawingml/2006/main">
              <a:ext uri="{FF2B5EF4-FFF2-40B4-BE49-F238E27FC236}">
                <a16:creationId xmlns:a16="http://schemas.microsoft.com/office/drawing/2014/main" id="{3219DC57-7E7E-4EB0-B491-0125B8A4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9370" y="29470783"/>
            <a:ext cx="3373228" cy="173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E80"/>
                </a:solidFill>
              </a:defRPr>
            </a:pPr>
            <a:r>
              <a:rPr sz="1875" b="0">
                <a:solidFill>
                  <a:srgbClr val="5B6E80"/>
                </a:solidFill>
              </a:rPr>
              <a:t>Stores users, sessions, behavioral metrics, personal baselines and the current cognitive state.</a:t>
            </a:r>
          </a:p>
        </p:txBody>
      </p:sp>
      <p:sp>
        <p:nvSpPr>
          <p:cNvPr id="78" name="database-tech-label">
            <a:extLst xmlns:a="http://schemas.openxmlformats.org/drawingml/2006/main">
              <a:ext uri="{FF2B5EF4-FFF2-40B4-BE49-F238E27FC236}">
                <a16:creationId xmlns:a16="http://schemas.microsoft.com/office/drawing/2014/main" id="{2D619403-008C-4F7C-8FAD-48B6AF7D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0" y="319087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048D6"/>
                </a:solidFill>
              </a:defRPr>
            </a:pPr>
            <a:r>
              <a:rPr sz="1275" b="1">
                <a:solidFill>
                  <a:srgbClr val="7048D6"/>
                </a:solidFill>
              </a:rPr>
              <a:t>SQL  •  Google Cloud SQL</a:t>
            </a:r>
          </a:p>
        </p:txBody>
      </p:sp>
      <p:cxnSp>
        <p:nvCxnSpPr>
          <p:cNvPr id="1253" name="מחבר חץ ישר 168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7589764" y="30587101"/>
            <a:ext cx="173622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00A7A5"/>
            </a:solidFill>
            <a:prstDash val="solid"/>
            <a:tailEnd type="triangle" w="lg" len="lg"/>
          </a:ln>
        </p:spPr>
      </p:cxnSp>
      <p:cxnSp>
        <p:nvCxnSpPr>
          <p:cNvPr id="1254" name="מחבר חץ ישר 169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5874016" y="30587101"/>
            <a:ext cx="173622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7656D6"/>
            </a:solidFill>
            <a:prstDash val="solid"/>
            <a:headEnd type="triangle" w="lg" len="lg"/>
            <a:tailEnd type="triangle" w="lg" len="lg"/>
          </a:ln>
        </p:spPr>
      </p:cxnSp>
      <p:sp>
        <p:nvSpPr>
          <p:cNvPr id="82" name="sample-arrow-label">
            <a:extLst xmlns:a="http://schemas.openxmlformats.org/drawingml/2006/main">
              <a:ext uri="{FF2B5EF4-FFF2-40B4-BE49-F238E27FC236}">
                <a16:creationId xmlns:a16="http://schemas.microsoft.com/office/drawing/2014/main" id="{2575BD6B-2E01-4A84-900A-7F36C72A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307" y="30661521"/>
            <a:ext cx="2480315" cy="416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A7A5"/>
                </a:solidFill>
              </a:defRPr>
            </a:pPr>
            <a:r>
              <a:rPr sz="1425" b="1">
                <a:solidFill>
                  <a:srgbClr val="00A7A5"/>
                </a:solidFill>
              </a:rPr>
              <a:t>ACTIVITY SAMPLE</a:t>
            </a:r>
          </a:p>
        </p:txBody>
      </p:sp>
      <p:sp>
        <p:nvSpPr>
          <p:cNvPr id="83" name="database-arrow-label">
            <a:extLst xmlns:a="http://schemas.openxmlformats.org/drawingml/2006/main">
              <a:ext uri="{FF2B5EF4-FFF2-40B4-BE49-F238E27FC236}">
                <a16:creationId xmlns:a16="http://schemas.microsoft.com/office/drawing/2014/main" id="{6F079845-C6A2-4EA0-BA99-41625896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6378" y="30661521"/>
            <a:ext cx="2480315" cy="416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656D6"/>
                </a:solidFill>
              </a:defRPr>
            </a:pPr>
            <a:r>
              <a:rPr sz="1425" b="1">
                <a:solidFill>
                  <a:srgbClr val="7656D6"/>
                </a:solidFill>
              </a:rPr>
              <a:t>METRICS + BASELINE</a:t>
            </a:r>
          </a:p>
        </p:txBody>
      </p:sp>
      <p:sp>
        <p:nvSpPr>
          <p:cNvPr id="84" name="decision-arrow-label">
            <a:extLst xmlns:a="http://schemas.openxmlformats.org/drawingml/2006/main">
              <a:ext uri="{FF2B5EF4-FFF2-40B4-BE49-F238E27FC236}">
                <a16:creationId xmlns:a16="http://schemas.microsoft.com/office/drawing/2014/main" id="{B39FB3B1-995B-46EB-A208-C24B6E4E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336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75D2"/>
                </a:solidFill>
              </a:defRPr>
            </a:pPr>
            <a:r>
              <a:rPr sz="1425" b="1">
                <a:solidFill>
                  <a:srgbClr val="3975D2"/>
                </a:solidFill>
              </a:rPr>
              <a:t>PROTECTION DECISION RETURNS TO THE AGENT</a:t>
            </a:r>
          </a:p>
        </p:txBody>
      </p:sp>
      <p:sp>
        <p:nvSpPr>
          <p:cNvPr id="88" name="footer">
            <a:extLst xmlns:a="http://schemas.openxmlformats.org/drawingml/2006/main">
              <a:ext uri="{FF2B5EF4-FFF2-40B4-BE49-F238E27FC236}">
                <a16:creationId xmlns:a16="http://schemas.microsoft.com/office/drawing/2014/main" id="{7D097B79-22E8-4265-AFC9-FBF31E72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80265"/>
            <a:ext cx="25200000" cy="1319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D48D231-EA56-4FE0-9EF0-BB3F58F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32" y="34928335"/>
            <a:ext cx="12401575" cy="773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KungFlow  —  PROTECT YOUR FOCUS.</a:t>
            </a:r>
          </a:p>
        </p:txBody>
      </p:sp>
      <p:pic>
        <p:nvPicPr>
          <p:cNvPr id="1260" name="תמונה 3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30e5c124d4da0"/>
          <a:stretch xmlns:a="http://schemas.openxmlformats.org/drawingml/2006/main"/>
        </p:blipFill>
        <p:spPr>
          <a:xfrm xmlns:a="http://schemas.openxmlformats.org/drawingml/2006/main">
            <a:off x="18859500" y="20867688"/>
            <a:ext cx="4905375" cy="32702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279" name="without-kungflow-label">
            <a:extLst xmlns:a="http://schemas.openxmlformats.org/drawingml/2006/main">
              <a:ext uri="{FF2B5EF4-FFF2-40B4-BE49-F238E27FC236}">
                <a16:creationId xmlns:a16="http://schemas.microsoft.com/office/drawing/2014/main" id="{99668C37-7383-4D27-B9C0-9E9CA7CF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045970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F4444"/>
                </a:solidFill>
              </a:defRPr>
            </a:pPr>
            <a:r>
              <a:rPr sz="1500" b="1">
                <a:solidFill>
                  <a:srgbClr val="EF4444"/>
                </a:solidFill>
              </a:rPr>
              <a:t>WITHOUT KUNGFLOW</a:t>
            </a:r>
          </a:p>
        </p:txBody>
      </p:sp>
      <p:sp>
        <p:nvSpPr>
          <p:cNvPr id="280" name="with-kungflow-label">
            <a:extLst xmlns:a="http://schemas.openxmlformats.org/drawingml/2006/main">
              <a:ext uri="{FF2B5EF4-FFF2-40B4-BE49-F238E27FC236}">
                <a16:creationId xmlns:a16="http://schemas.microsoft.com/office/drawing/2014/main" id="{95A2C184-E6D2-45BF-A78B-EDFCB21D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0" y="2045970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AFA8"/>
                </a:solidFill>
              </a:defRPr>
            </a:pPr>
            <a:r>
              <a:rPr sz="1500" b="1">
                <a:solidFill>
                  <a:srgbClr val="00AFA8"/>
                </a:solidFill>
              </a:rPr>
              <a:t>WITH KUNGFLOW</a:t>
            </a:r>
          </a:p>
        </p:txBody>
      </p:sp>
      <p:pic>
        <p:nvPicPr>
          <p:cNvPr id="1263" name="תמונה 5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4fc506dd04a58"/>
          <a:stretch xmlns:a="http://schemas.openxmlformats.org/drawingml/2006/main"/>
        </p:blipFill>
        <p:spPr>
          <a:xfrm xmlns:a="http://schemas.openxmlformats.org/drawingml/2006/main">
            <a:off x="13787438" y="31918275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1264" name="תמונה 5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c62f40eb44797"/>
          <a:stretch xmlns:a="http://schemas.openxmlformats.org/drawingml/2006/main"/>
        </p:blipFill>
        <p:spPr>
          <a:xfrm xmlns:a="http://schemas.openxmlformats.org/drawingml/2006/main">
            <a:off x="21270740" y="3181207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471" name="development-deployment-title">
            <a:extLst xmlns:a="http://schemas.openxmlformats.org/drawingml/2006/main">
              <a:ext uri="{FF2B5EF4-FFF2-40B4-BE49-F238E27FC236}">
                <a16:creationId xmlns:a16="http://schemas.microsoft.com/office/drawing/2014/main" id="{55720A96-9147-49F0-A51F-D0B7F77F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184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66778A"/>
                </a:solidFill>
              </a:defRPr>
            </a:pPr>
            <a:r>
              <a:rPr sz="1500" b="1">
                <a:solidFill>
                  <a:srgbClr val="66778A"/>
                </a:solidFill>
              </a:rPr>
              <a:t>DEVELOPMENT &amp; DEPLOYMENT</a:t>
            </a:r>
          </a:p>
        </p:txBody>
      </p:sp>
      <p:pic>
        <p:nvPicPr>
          <p:cNvPr id="1266" name="תמונה 5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8dea24cd04cb1"/>
          <a:stretch xmlns:a="http://schemas.openxmlformats.org/drawingml/2006/main"/>
        </p:blipFill>
        <p:spPr>
          <a:xfrm xmlns:a="http://schemas.openxmlformats.org/drawingml/2006/main">
            <a:off x="11477625" y="33263173"/>
            <a:ext cx="1762125" cy="739205"/>
          </a:xfrm>
          <a:prstGeom xmlns:a="http://schemas.openxmlformats.org/drawingml/2006/main" prst="rect">
            <a:avLst/>
          </a:prstGeom>
        </p:spPr>
      </p:pic>
      <p:pic>
        <p:nvPicPr>
          <p:cNvPr id="1267" name="תמונה 5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65450abab499c"/>
          <a:stretch xmlns:a="http://schemas.openxmlformats.org/drawingml/2006/main"/>
        </p:blipFill>
        <p:spPr>
          <a:xfrm xmlns:a="http://schemas.openxmlformats.org/drawingml/2006/main">
            <a:off x="13958745" y="33242250"/>
            <a:ext cx="990884" cy="781050"/>
          </a:xfrm>
          <a:prstGeom xmlns:a="http://schemas.openxmlformats.org/drawingml/2006/main" prst="rect">
            <a:avLst/>
          </a:prstGeom>
        </p:spPr>
      </p:pic>
      <p:sp>
        <p:nvSpPr>
          <p:cNvPr id="474" name="docker-label">
            <a:extLst xmlns:a="http://schemas.openxmlformats.org/drawingml/2006/main">
              <a:ext uri="{FF2B5EF4-FFF2-40B4-BE49-F238E27FC236}">
                <a16:creationId xmlns:a16="http://schemas.microsoft.com/office/drawing/2014/main" id="{60D61F83-8BEF-4E58-83F9-2DA89EB1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333184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D63ED"/>
                </a:solidFill>
              </a:defRPr>
            </a:pPr>
            <a:r>
              <a:rPr sz="1575" b="1">
                <a:solidFill>
                  <a:srgbClr val="1D63ED"/>
                </a:solidFill>
              </a:rPr>
              <a:t>Docker</a:t>
            </a:r>
          </a:p>
        </p:txBody>
      </p:sp>
      <p:sp>
        <p:nvSpPr>
          <p:cNvPr id="475" name="gcp-label">
            <a:extLst xmlns:a="http://schemas.openxmlformats.org/drawingml/2006/main">
              <a:ext uri="{FF2B5EF4-FFF2-40B4-BE49-F238E27FC236}">
                <a16:creationId xmlns:a16="http://schemas.microsoft.com/office/drawing/2014/main" id="{AF09DC6E-C420-44DA-87B1-30775EB6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333184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B78E7"/>
                </a:solidFill>
              </a:defRPr>
            </a:pPr>
            <a:endParaRPr/>
          </a:p>
        </p:txBody>
      </p:sp>
      <p:pic>
        <p:nvPicPr>
          <p:cNvPr id="1270" name="תמונה 7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a262c460f4bc1"/>
          <a:stretch xmlns:a="http://schemas.openxmlformats.org/drawingml/2006/main"/>
        </p:blipFill>
        <p:spPr>
          <a:xfrm xmlns:a="http://schemas.openxmlformats.org/drawingml/2006/main">
            <a:off x="15979554" y="332422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871" name="agent-tech-dotnet-label">
            <a:extLst xmlns:a="http://schemas.openxmlformats.org/drawingml/2006/main">
              <a:ext uri="{FF2B5EF4-FFF2-40B4-BE49-F238E27FC236}">
                <a16:creationId xmlns:a16="http://schemas.microsoft.com/office/drawing/2014/main" id="{34A23452-DAD7-4452-B0C2-849685AE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5753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A7A5"/>
                </a:solidFill>
              </a:defRPr>
            </a:pPr>
            <a:r>
              <a:rPr sz="1275" b="1">
                <a:solidFill>
                  <a:srgbClr val="00A7A5"/>
                </a:solidFill>
              </a:rPr>
              <a:t>.NET</a:t>
            </a:r>
          </a:p>
        </p:txBody>
      </p:sp>
      <p:sp>
        <p:nvSpPr>
          <p:cNvPr id="872" name="agent-tech-windows-label">
            <a:extLst xmlns:a="http://schemas.openxmlformats.org/drawingml/2006/main">
              <a:ext uri="{FF2B5EF4-FFF2-40B4-BE49-F238E27FC236}">
                <a16:creationId xmlns:a16="http://schemas.microsoft.com/office/drawing/2014/main" id="{1CBE4D1F-3B59-4BC5-ABD1-4FC10AD2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5753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A7A5"/>
                </a:solidFill>
              </a:defRPr>
            </a:pPr>
            <a:r>
              <a:rPr sz="1275" b="1">
                <a:solidFill>
                  <a:srgbClr val="00A7A5"/>
                </a:solidFill>
              </a:rPr>
              <a:t>Windows</a:t>
            </a:r>
          </a:p>
        </p:txBody>
      </p:sp>
      <p:sp>
        <p:nvSpPr>
          <p:cNvPr id="972" name="server-tech-express-label">
            <a:extLst xmlns:a="http://schemas.openxmlformats.org/drawingml/2006/main">
              <a:ext uri="{FF2B5EF4-FFF2-40B4-BE49-F238E27FC236}">
                <a16:creationId xmlns:a16="http://schemas.microsoft.com/office/drawing/2014/main" id="{BBE6FB80-8042-43BB-9EC2-A4DD3AB4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688" y="315753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B78E7"/>
                </a:solidFill>
              </a:defRPr>
            </a:pPr>
            <a:r>
              <a:rPr sz="1200" b="1">
                <a:solidFill>
                  <a:srgbClr val="3B78E7"/>
                </a:solidFill>
              </a:rPr>
              <a:t>Express</a:t>
            </a:r>
          </a:p>
        </p:txBody>
      </p:sp>
      <p:sp>
        <p:nvSpPr>
          <p:cNvPr id="973" name="server-tech-cloud-run-label">
            <a:extLst xmlns:a="http://schemas.openxmlformats.org/drawingml/2006/main">
              <a:ext uri="{FF2B5EF4-FFF2-40B4-BE49-F238E27FC236}">
                <a16:creationId xmlns:a16="http://schemas.microsoft.com/office/drawing/2014/main" id="{48E60455-4D05-4843-9441-0B7D2D64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38" y="315753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B78E7"/>
                </a:solidFill>
              </a:defRPr>
            </a:pPr>
            <a:r>
              <a:rPr sz="1200" b="1">
                <a:solidFill>
                  <a:srgbClr val="3B78E7"/>
                </a:solidFill>
              </a:rPr>
              <a:t>Google Cloud Run</a:t>
            </a:r>
          </a:p>
        </p:txBody>
      </p:sp>
      <p:pic>
        <p:nvPicPr>
          <p:cNvPr id="1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1238832594227"/>
          <a:stretch xmlns:a="http://schemas.openxmlformats.org/drawingml/2006/main"/>
        </p:blipFill>
        <p:spPr>
          <a:xfrm xmlns:a="http://schemas.openxmlformats.org/drawingml/2006/main">
            <a:off x="9886950" y="28841700"/>
            <a:ext cx="1447800" cy="1447800"/>
          </a:xfrm>
          <a:prstGeom xmlns:a="http://schemas.openxmlformats.org/drawingml/2006/main" prst="rect">
            <a:avLst/>
          </a:prstGeom>
        </p:spPr>
      </p:pic>
      <p:cxnSp>
        <p:nvCxnSpPr>
          <p:cNvPr id="1276" name="decision-return-arrow"/>
          <p:cNvCxnSpPr>
            <a:stCxn xmlns:a="http://schemas.openxmlformats.org/drawingml/2006/main" id="55" idx="0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4315748" y="28101058"/>
            <a:ext cx="8284252" cy="228600"/>
          </a:xfrm>
          <a:prstGeom xmlns:a="http://schemas.openxmlformats.org/drawingml/2006/main" prst="bentConnector4">
            <a:avLst/>
          </a:prstGeom>
          <a:ln xmlns:a="http://schemas.openxmlformats.org/drawingml/2006/main" w="47625" cap="rnd">
            <a:solidFill>
              <a:srgbClr val="3976D9"/>
            </a:solidFill>
            <a:prstDash val="solid"/>
            <a:round/>
            <a:head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72097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2026-08-19T11:55:44.7370000Z</dcterms:created>
  <dcterms:modified xsi:type="dcterms:W3CDTF">2026-08-19T11:55:44.7370000Z</dcterms:modified>
</coreProperties>
</file>
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9370" autoAdjust="0"/>
  </p:normalViewPr>
  <p:slideViewPr>
    <p:cSldViewPr snapToGrid="0" snapToObjects="1">
      <p:cViewPr varScale="1">
        <p:scale>
          <a:sx n="110" d="100"/>
          <a:sy n="110" d="100"/>
        </p:scale>
        <p:origin x="22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לי-אור נסינג" userId="771db226e06d9d67" providerId="LiveId" clId="{F50704A1-7CC8-4C2E-BA6C-A9C5B07F5D79}"/>
    <pc:docChg chg="undo custSel modSld">
      <pc:chgData name="לי-אור נסינג" userId="771db226e06d9d67" providerId="LiveId" clId="{F50704A1-7CC8-4C2E-BA6C-A9C5B07F5D79}" dt="2026-06-17T09:31:58.339" v="115" actId="782"/>
      <pc:docMkLst>
        <pc:docMk/>
      </pc:docMkLst>
      <pc:sldChg chg="modNotesTx">
        <pc:chgData name="לי-אור נסינג" userId="771db226e06d9d67" providerId="LiveId" clId="{F50704A1-7CC8-4C2E-BA6C-A9C5B07F5D79}" dt="2026-06-17T09:21:36.939" v="40" actId="121"/>
        <pc:sldMkLst>
          <pc:docMk/>
          <pc:sldMk cId="0" sldId="256"/>
        </pc:sldMkLst>
      </pc:sldChg>
      <pc:sldChg chg="modSp mod modNotesTx">
        <pc:chgData name="לי-אור נסינג" userId="771db226e06d9d67" providerId="LiveId" clId="{F50704A1-7CC8-4C2E-BA6C-A9C5B07F5D79}" dt="2026-06-17T09:22:19.841" v="43" actId="782"/>
        <pc:sldMkLst>
          <pc:docMk/>
          <pc:sldMk cId="0" sldId="257"/>
        </pc:sldMkLst>
        <pc:spChg chg="mod">
          <ac:chgData name="לי-אור נסינג" userId="771db226e06d9d67" providerId="LiveId" clId="{F50704A1-7CC8-4C2E-BA6C-A9C5B07F5D79}" dt="2026-06-11T17:35:29.632" v="37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7T09:22:16.113" v="42" actId="782"/>
        <pc:sldMkLst>
          <pc:docMk/>
          <pc:sldMk cId="0" sldId="258"/>
        </pc:sldMkLst>
      </pc:sldChg>
      <pc:sldChg chg="modNotesTx">
        <pc:chgData name="לי-אור נסינג" userId="771db226e06d9d67" providerId="LiveId" clId="{F50704A1-7CC8-4C2E-BA6C-A9C5B07F5D79}" dt="2026-06-17T09:22:11.253" v="41" actId="782"/>
        <pc:sldMkLst>
          <pc:docMk/>
          <pc:sldMk cId="0" sldId="259"/>
        </pc:sldMkLst>
      </pc:sldChg>
      <pc:sldChg chg="modNotesTx">
        <pc:chgData name="לי-אור נסינג" userId="771db226e06d9d67" providerId="LiveId" clId="{F50704A1-7CC8-4C2E-BA6C-A9C5B07F5D79}" dt="2026-06-17T09:24:06.729" v="44" actId="782"/>
        <pc:sldMkLst>
          <pc:docMk/>
          <pc:sldMk cId="0" sldId="260"/>
        </pc:sldMkLst>
      </pc:sldChg>
      <pc:sldChg chg="modNotesTx">
        <pc:chgData name="לי-אור נסינג" userId="771db226e06d9d67" providerId="LiveId" clId="{F50704A1-7CC8-4C2E-BA6C-A9C5B07F5D79}" dt="2026-06-17T09:24:22.710" v="45" actId="782"/>
        <pc:sldMkLst>
          <pc:docMk/>
          <pc:sldMk cId="0" sldId="261"/>
        </pc:sldMkLst>
      </pc:sldChg>
      <pc:sldChg chg="modNotesTx">
        <pc:chgData name="לי-אור נסינג" userId="771db226e06d9d67" providerId="LiveId" clId="{F50704A1-7CC8-4C2E-BA6C-A9C5B07F5D79}" dt="2026-06-17T09:24:34.690" v="46" actId="782"/>
        <pc:sldMkLst>
          <pc:docMk/>
          <pc:sldMk cId="0" sldId="262"/>
        </pc:sldMkLst>
      </pc:sldChg>
      <pc:sldChg chg="modNotesTx">
        <pc:chgData name="לי-אור נסינג" userId="771db226e06d9d67" providerId="LiveId" clId="{F50704A1-7CC8-4C2E-BA6C-A9C5B07F5D79}" dt="2026-06-17T09:24:38.966" v="47" actId="782"/>
        <pc:sldMkLst>
          <pc:docMk/>
          <pc:sldMk cId="0" sldId="263"/>
        </pc:sldMkLst>
      </pc:sldChg>
      <pc:sldChg chg="modNotesTx">
        <pc:chgData name="לי-אור נסינג" userId="771db226e06d9d67" providerId="LiveId" clId="{F50704A1-7CC8-4C2E-BA6C-A9C5B07F5D79}" dt="2026-06-17T09:25:22.367" v="48" actId="782"/>
        <pc:sldMkLst>
          <pc:docMk/>
          <pc:sldMk cId="0" sldId="264"/>
        </pc:sldMkLst>
      </pc:sldChg>
      <pc:sldChg chg="modNotesTx">
        <pc:chgData name="לי-אור נסינג" userId="771db226e06d9d67" providerId="LiveId" clId="{F50704A1-7CC8-4C2E-BA6C-A9C5B07F5D79}" dt="2026-06-17T09:25:26.006" v="49" actId="782"/>
        <pc:sldMkLst>
          <pc:docMk/>
          <pc:sldMk cId="0" sldId="265"/>
        </pc:sldMkLst>
      </pc:sldChg>
      <pc:sldChg chg="modNotesTx">
        <pc:chgData name="לי-אור נסינג" userId="771db226e06d9d67" providerId="LiveId" clId="{F50704A1-7CC8-4C2E-BA6C-A9C5B07F5D79}" dt="2026-06-17T09:27:52.907" v="50" actId="782"/>
        <pc:sldMkLst>
          <pc:docMk/>
          <pc:sldMk cId="0" sldId="266"/>
        </pc:sldMkLst>
      </pc:sldChg>
      <pc:sldChg chg="modNotesTx">
        <pc:chgData name="לי-אור נסינג" userId="771db226e06d9d67" providerId="LiveId" clId="{F50704A1-7CC8-4C2E-BA6C-A9C5B07F5D79}" dt="2026-06-17T09:28:43.170" v="52" actId="782"/>
        <pc:sldMkLst>
          <pc:docMk/>
          <pc:sldMk cId="0" sldId="267"/>
        </pc:sldMkLst>
      </pc:sldChg>
      <pc:sldChg chg="modSp mod modNotesTx">
        <pc:chgData name="לי-אור נסינג" userId="771db226e06d9d67" providerId="LiveId" clId="{F50704A1-7CC8-4C2E-BA6C-A9C5B07F5D79}" dt="2026-06-17T09:30:36.293" v="112" actId="20577"/>
        <pc:sldMkLst>
          <pc:docMk/>
          <pc:sldMk cId="0" sldId="268"/>
        </pc:sldMkLst>
        <pc:spChg chg="mod">
          <ac:chgData name="לי-אור נסינג" userId="771db226e06d9d67" providerId="LiveId" clId="{F50704A1-7CC8-4C2E-BA6C-A9C5B07F5D79}" dt="2026-06-17T09:30:30.801" v="110" actId="1076"/>
          <ac:spMkLst>
            <pc:docMk/>
            <pc:sldMk cId="0" sldId="268"/>
            <ac:spMk id="8" creationId="{00000000-0000-0000-0000-000000000000}"/>
          </ac:spMkLst>
        </pc:spChg>
        <pc:spChg chg="mod">
          <ac:chgData name="לי-אור נסינג" userId="771db226e06d9d67" providerId="LiveId" clId="{F50704A1-7CC8-4C2E-BA6C-A9C5B07F5D79}" dt="2026-06-17T09:30:36.293" v="112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NotesTx">
        <pc:chgData name="לי-אור נסינג" userId="771db226e06d9d67" providerId="LiveId" clId="{F50704A1-7CC8-4C2E-BA6C-A9C5B07F5D79}" dt="2026-06-11T17:35:01.818" v="36" actId="782"/>
        <pc:sldMkLst>
          <pc:docMk/>
          <pc:sldMk cId="0" sldId="269"/>
        </pc:sldMkLst>
      </pc:sldChg>
      <pc:sldChg chg="modNotesTx">
        <pc:chgData name="לי-אור נסינג" userId="771db226e06d9d67" providerId="LiveId" clId="{F50704A1-7CC8-4C2E-BA6C-A9C5B07F5D79}" dt="2026-06-17T09:31:58.339" v="115" actId="782"/>
        <pc:sldMkLst>
          <pc:docMk/>
          <pc:sldMk cId="0" sldId="270"/>
        </pc:sldMkLst>
      </pc:sldChg>
      <pc:sldChg chg="modNotesTx">
        <pc:chgData name="לי-אור נסינג" userId="771db226e06d9d67" providerId="LiveId" clId="{F50704A1-7CC8-4C2E-BA6C-A9C5B07F5D79}" dt="2026-06-17T09:31:08.077" v="114" actId="782"/>
        <pc:sldMkLst>
          <pc:docMk/>
          <pc:sldMk cId="0" sldId="27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spPr>
            <a:solidFill>
              <a:srgbClr val="D2403B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240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3E-4621-8194-0E68DE270B1E}"/>
              </c:ext>
            </c:extLst>
          </c:dPt>
          <c:dPt>
            <c:idx val="1"/>
            <c:invertIfNegative val="0"/>
            <c:bubble3D val="0"/>
            <c:spPr>
              <a:solidFill>
                <a:srgbClr val="1FA0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3E-4621-8194-0E68DE270B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0243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With interruptions</c:v>
                </c:pt>
                <c:pt idx="1">
                  <c:v>Without interruptions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4.5999999999999996</c:v>
                </c:pt>
                <c:pt idx="1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3E-4621-8194-0E68DE270B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5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7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 — </a:t>
            </a:r>
            <a:r>
              <a:rPr dirty="0" err="1"/>
              <a:t>פתיחה</a:t>
            </a:r>
            <a:r>
              <a:rPr dirty="0"/>
              <a:t> | 0:00–0:40]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בוקר</a:t>
            </a:r>
            <a:r>
              <a:rPr dirty="0"/>
              <a:t> </a:t>
            </a:r>
            <a:r>
              <a:rPr dirty="0" err="1"/>
              <a:t>טוב</a:t>
            </a:r>
            <a:r>
              <a:rPr dirty="0"/>
              <a:t>. </a:t>
            </a:r>
            <a:r>
              <a:rPr dirty="0" err="1"/>
              <a:t>לפני</a:t>
            </a:r>
            <a:r>
              <a:rPr dirty="0"/>
              <a:t> </a:t>
            </a:r>
            <a:r>
              <a:rPr dirty="0" err="1"/>
              <a:t>שאספר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החברה</a:t>
            </a:r>
            <a:r>
              <a:rPr dirty="0"/>
              <a:t> — </a:t>
            </a:r>
            <a:r>
              <a:rPr dirty="0" err="1"/>
              <a:t>רגע</a:t>
            </a:r>
            <a:r>
              <a:rPr dirty="0"/>
              <a:t> </a:t>
            </a:r>
            <a:r>
              <a:rPr dirty="0" err="1"/>
              <a:t>אישי</a:t>
            </a:r>
            <a:r>
              <a:rPr dirty="0"/>
              <a:t>. </a:t>
            </a:r>
            <a:r>
              <a:rPr dirty="0" err="1"/>
              <a:t>תחשבו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יום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</a:t>
            </a:r>
            <a:r>
              <a:rPr dirty="0" err="1"/>
              <a:t>טיפוסי</a:t>
            </a:r>
            <a:r>
              <a:rPr dirty="0"/>
              <a:t> </a:t>
            </a:r>
            <a:r>
              <a:rPr dirty="0" err="1"/>
              <a:t>שלכם</a:t>
            </a:r>
            <a:r>
              <a:rPr dirty="0"/>
              <a:t>: </a:t>
            </a:r>
            <a:r>
              <a:rPr dirty="0" err="1"/>
              <a:t>אתם</a:t>
            </a:r>
            <a:r>
              <a:rPr dirty="0"/>
              <a:t> </a:t>
            </a:r>
            <a:r>
              <a:rPr dirty="0" err="1"/>
              <a:t>בלחץ</a:t>
            </a:r>
            <a:r>
              <a:rPr dirty="0"/>
              <a:t>, </a:t>
            </a:r>
            <a:r>
              <a:rPr dirty="0" err="1"/>
              <a:t>רוצים</a:t>
            </a:r>
            <a:r>
              <a:rPr dirty="0"/>
              <a:t> </a:t>
            </a:r>
            <a:r>
              <a:rPr dirty="0" err="1"/>
              <a:t>להתקדם</a:t>
            </a:r>
            <a:r>
              <a:rPr dirty="0"/>
              <a:t>, </a:t>
            </a:r>
            <a:r>
              <a:rPr dirty="0" err="1"/>
              <a:t>ואז</a:t>
            </a:r>
            <a:r>
              <a:rPr dirty="0"/>
              <a:t> </a:t>
            </a:r>
            <a:r>
              <a:rPr dirty="0" err="1"/>
              <a:t>מגיע</a:t>
            </a:r>
            <a:r>
              <a:rPr dirty="0"/>
              <a:t> </a:t>
            </a:r>
            <a:r>
              <a:rPr dirty="0" err="1"/>
              <a:t>גל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התראות</a:t>
            </a:r>
            <a:r>
              <a:rPr dirty="0"/>
              <a:t> </a:t>
            </a:r>
            <a:r>
              <a:rPr dirty="0" err="1"/>
              <a:t>ששובר</a:t>
            </a:r>
            <a:r>
              <a:rPr dirty="0"/>
              <a:t> </a:t>
            </a:r>
            <a:r>
              <a:rPr dirty="0" err="1"/>
              <a:t>לכם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הרצף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שילמתם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לעובדים</a:t>
            </a:r>
            <a:r>
              <a:rPr dirty="0"/>
              <a:t> </a:t>
            </a:r>
            <a:r>
              <a:rPr dirty="0" err="1"/>
              <a:t>שלכם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תשע</a:t>
            </a:r>
            <a:r>
              <a:rPr dirty="0"/>
              <a:t> </a:t>
            </a:r>
            <a:r>
              <a:rPr dirty="0" err="1"/>
              <a:t>שעות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— </a:t>
            </a:r>
            <a:r>
              <a:rPr dirty="0" err="1"/>
              <a:t>כמה</a:t>
            </a:r>
            <a:r>
              <a:rPr dirty="0"/>
              <a:t> </a:t>
            </a:r>
            <a:r>
              <a:rPr dirty="0" err="1"/>
              <a:t>מתוכן</a:t>
            </a:r>
            <a:r>
              <a:rPr dirty="0"/>
              <a:t> </a:t>
            </a:r>
            <a:r>
              <a:rPr dirty="0" err="1"/>
              <a:t>הם</a:t>
            </a:r>
            <a:r>
              <a:rPr dirty="0"/>
              <a:t> </a:t>
            </a:r>
            <a:r>
              <a:rPr dirty="0" err="1"/>
              <a:t>באמת</a:t>
            </a:r>
            <a:r>
              <a:rPr dirty="0"/>
              <a:t> </a:t>
            </a:r>
            <a:r>
              <a:rPr dirty="0" err="1"/>
              <a:t>היו</a:t>
            </a:r>
            <a:r>
              <a:rPr dirty="0"/>
              <a:t> </a:t>
            </a:r>
            <a:r>
              <a:rPr dirty="0" err="1"/>
              <a:t>בריכוז</a:t>
            </a:r>
            <a:r>
              <a:rPr dirty="0"/>
              <a:t> </a:t>
            </a:r>
            <a:r>
              <a:rPr dirty="0" err="1"/>
              <a:t>עמוק</a:t>
            </a:r>
            <a:r>
              <a:rPr dirty="0"/>
              <a:t>? </a:t>
            </a:r>
            <a:r>
              <a:rPr dirty="0" err="1"/>
              <a:t>המחקר</a:t>
            </a:r>
            <a:r>
              <a:rPr dirty="0"/>
              <a:t> </a:t>
            </a:r>
            <a:r>
              <a:rPr dirty="0" err="1"/>
              <a:t>אומר</a:t>
            </a:r>
            <a:r>
              <a:rPr dirty="0"/>
              <a:t>: </a:t>
            </a:r>
            <a:r>
              <a:rPr dirty="0" err="1"/>
              <a:t>בערך</a:t>
            </a:r>
            <a:r>
              <a:rPr dirty="0"/>
              <a:t> </a:t>
            </a:r>
            <a:r>
              <a:rPr dirty="0" err="1"/>
              <a:t>שעתיים</a:t>
            </a:r>
            <a:r>
              <a:rPr dirty="0"/>
              <a:t>.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מעצלנות</a:t>
            </a:r>
            <a:r>
              <a:rPr dirty="0"/>
              <a:t> </a:t>
            </a:r>
            <a:r>
              <a:rPr dirty="0" err="1"/>
              <a:t>ולא</a:t>
            </a:r>
            <a:r>
              <a:rPr dirty="0"/>
              <a:t> </a:t>
            </a:r>
            <a:r>
              <a:rPr dirty="0" err="1"/>
              <a:t>מחוסר</a:t>
            </a:r>
            <a:r>
              <a:rPr dirty="0"/>
              <a:t> </a:t>
            </a:r>
            <a:r>
              <a:rPr dirty="0" err="1"/>
              <a:t>מוטיבציה</a:t>
            </a:r>
            <a:r>
              <a:rPr dirty="0"/>
              <a:t> — </a:t>
            </a:r>
            <a:r>
              <a:rPr dirty="0" err="1"/>
              <a:t>אלא</a:t>
            </a:r>
            <a:r>
              <a:rPr dirty="0"/>
              <a:t> </a:t>
            </a:r>
            <a:r>
              <a:rPr dirty="0" err="1"/>
              <a:t>מההתראות</a:t>
            </a:r>
            <a:r>
              <a:rPr dirty="0"/>
              <a:t> </a:t>
            </a:r>
            <a:r>
              <a:rPr dirty="0" err="1"/>
              <a:t>שמפציצות</a:t>
            </a:r>
            <a:r>
              <a:rPr dirty="0"/>
              <a:t> </a:t>
            </a:r>
            <a:r>
              <a:rPr dirty="0" err="1"/>
              <a:t>אותם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אני</a:t>
            </a:r>
            <a:r>
              <a:rPr dirty="0"/>
              <a:t> ליאור, </a:t>
            </a:r>
            <a:r>
              <a:rPr dirty="0" err="1"/>
              <a:t>ויחד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עידו</a:t>
            </a:r>
            <a:r>
              <a:rPr dirty="0"/>
              <a:t>, </a:t>
            </a:r>
            <a:r>
              <a:rPr dirty="0" err="1"/>
              <a:t>רותם</a:t>
            </a:r>
            <a:r>
              <a:rPr dirty="0"/>
              <a:t> </a:t>
            </a:r>
            <a:r>
              <a:rPr dirty="0" err="1"/>
              <a:t>ועדן</a:t>
            </a:r>
            <a:r>
              <a:rPr dirty="0"/>
              <a:t> </a:t>
            </a:r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בונים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KungFlow</a:t>
            </a:r>
            <a:r>
              <a:rPr dirty="0"/>
              <a:t> — </a:t>
            </a:r>
            <a:r>
              <a:rPr dirty="0" err="1"/>
              <a:t>מערכת</a:t>
            </a:r>
            <a:r>
              <a:rPr dirty="0"/>
              <a:t> </a:t>
            </a:r>
            <a:r>
              <a:rPr dirty="0" err="1"/>
              <a:t>שמזהה</a:t>
            </a:r>
            <a:r>
              <a:rPr dirty="0"/>
              <a:t>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 </a:t>
            </a:r>
            <a:r>
              <a:rPr dirty="0" err="1"/>
              <a:t>מתי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בעומס</a:t>
            </a:r>
            <a:r>
              <a:rPr dirty="0"/>
              <a:t> </a:t>
            </a:r>
            <a:r>
              <a:rPr dirty="0" err="1"/>
              <a:t>קוגניטיבי</a:t>
            </a:r>
            <a:r>
              <a:rPr dirty="0"/>
              <a:t> </a:t>
            </a:r>
            <a:r>
              <a:rPr dirty="0" err="1"/>
              <a:t>וחוסמת</a:t>
            </a:r>
            <a:r>
              <a:rPr dirty="0"/>
              <a:t> </a:t>
            </a:r>
            <a:r>
              <a:rPr dirty="0" err="1"/>
              <a:t>עבורו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ההפרעות</a:t>
            </a:r>
            <a:r>
              <a:rPr dirty="0"/>
              <a:t> </a:t>
            </a:r>
            <a:r>
              <a:rPr dirty="0" err="1"/>
              <a:t>אוטומטית</a:t>
            </a:r>
            <a:r>
              <a:rPr dirty="0"/>
              <a:t>.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כפתורים</a:t>
            </a:r>
            <a:r>
              <a:rPr dirty="0"/>
              <a:t>,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כוח</a:t>
            </a:r>
            <a:r>
              <a:rPr dirty="0"/>
              <a:t> </a:t>
            </a:r>
            <a:r>
              <a:rPr dirty="0" err="1"/>
              <a:t>רצון</a:t>
            </a:r>
            <a:r>
              <a:rPr dirty="0"/>
              <a:t>. </a:t>
            </a:r>
            <a:r>
              <a:rPr dirty="0" err="1"/>
              <a:t>וכבר</a:t>
            </a:r>
            <a:r>
              <a:rPr dirty="0"/>
              <a:t> </a:t>
            </a:r>
            <a:r>
              <a:rPr dirty="0" err="1"/>
              <a:t>עכשיו</a:t>
            </a:r>
            <a:r>
              <a:rPr dirty="0"/>
              <a:t> </a:t>
            </a:r>
            <a:r>
              <a:rPr dirty="0" err="1"/>
              <a:t>חשוב</a:t>
            </a:r>
            <a:r>
              <a:rPr dirty="0"/>
              <a:t> </a:t>
            </a:r>
            <a:r>
              <a:rPr dirty="0" err="1"/>
              <a:t>לי</a:t>
            </a:r>
            <a:r>
              <a:rPr dirty="0"/>
              <a:t> </a:t>
            </a:r>
            <a:r>
              <a:rPr dirty="0" err="1"/>
              <a:t>להגיד</a:t>
            </a:r>
            <a:r>
              <a:rPr dirty="0"/>
              <a:t>: זה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כלי</a:t>
            </a:r>
            <a:r>
              <a:rPr dirty="0"/>
              <a:t> </a:t>
            </a:r>
            <a:r>
              <a:rPr dirty="0" err="1"/>
              <a:t>פרודוקטיביות</a:t>
            </a:r>
            <a:r>
              <a:rPr dirty="0"/>
              <a:t> — זה </a:t>
            </a:r>
            <a:r>
              <a:rPr dirty="0" err="1"/>
              <a:t>כלי</a:t>
            </a:r>
            <a:r>
              <a:rPr dirty="0"/>
              <a:t> </a:t>
            </a:r>
            <a:r>
              <a:rPr dirty="0" err="1"/>
              <a:t>שמגן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הבריאות</a:t>
            </a:r>
            <a:r>
              <a:rPr dirty="0"/>
              <a:t> </a:t>
            </a:r>
            <a:r>
              <a:rPr dirty="0" err="1"/>
              <a:t>המנטלית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האנשים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בואו</a:t>
            </a:r>
            <a:r>
              <a:rPr dirty="0"/>
              <a:t> </a:t>
            </a:r>
            <a:r>
              <a:rPr dirty="0" err="1"/>
              <a:t>נתחיל</a:t>
            </a:r>
            <a:r>
              <a:rPr dirty="0"/>
              <a:t> </a:t>
            </a:r>
            <a:r>
              <a:rPr dirty="0" err="1"/>
              <a:t>ממה</a:t>
            </a:r>
            <a:r>
              <a:rPr dirty="0"/>
              <a:t> </a:t>
            </a:r>
            <a:r>
              <a:rPr dirty="0" err="1"/>
              <a:t>שקורה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משרד</a:t>
            </a:r>
            <a:r>
              <a:rPr dirty="0"/>
              <a:t>.']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2 — </a:t>
            </a:r>
            <a:r>
              <a:rPr dirty="0" err="1"/>
              <a:t>צוות</a:t>
            </a:r>
            <a:r>
              <a:rPr dirty="0"/>
              <a:t> | 0:40–1:10]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קצת</a:t>
            </a:r>
            <a:r>
              <a:rPr dirty="0"/>
              <a:t> </a:t>
            </a:r>
            <a:r>
              <a:rPr dirty="0" err="1"/>
              <a:t>עלינו</a:t>
            </a:r>
            <a:r>
              <a:rPr dirty="0"/>
              <a:t>. </a:t>
            </a:r>
            <a:r>
              <a:rPr dirty="0" err="1"/>
              <a:t>אני</a:t>
            </a:r>
            <a:r>
              <a:rPr dirty="0"/>
              <a:t> </a:t>
            </a:r>
            <a:r>
              <a:rPr dirty="0" err="1"/>
              <a:t>סטודנט</a:t>
            </a:r>
            <a:r>
              <a:rPr dirty="0"/>
              <a:t> </a:t>
            </a:r>
            <a:r>
              <a:rPr dirty="0" err="1"/>
              <a:t>לפסיכולוגיה</a:t>
            </a:r>
            <a:r>
              <a:rPr dirty="0"/>
              <a:t> ו-UX — </a:t>
            </a:r>
            <a:r>
              <a:rPr dirty="0" err="1"/>
              <a:t>מביא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הצד</a:t>
            </a:r>
            <a:r>
              <a:rPr dirty="0"/>
              <a:t> </a:t>
            </a:r>
            <a:r>
              <a:rPr dirty="0" err="1"/>
              <a:t>המדעי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עומס</a:t>
            </a:r>
            <a:r>
              <a:rPr dirty="0"/>
              <a:t> </a:t>
            </a:r>
            <a:r>
              <a:rPr dirty="0" err="1"/>
              <a:t>קוגניטיבי</a:t>
            </a:r>
            <a:r>
              <a:rPr dirty="0"/>
              <a:t> </a:t>
            </a:r>
            <a:r>
              <a:rPr dirty="0" err="1"/>
              <a:t>וקשב</a:t>
            </a:r>
            <a:r>
              <a:rPr dirty="0"/>
              <a:t>. </a:t>
            </a:r>
            <a:r>
              <a:rPr dirty="0" err="1"/>
              <a:t>עידו</a:t>
            </a:r>
            <a:r>
              <a:rPr dirty="0"/>
              <a:t>, </a:t>
            </a:r>
            <a:r>
              <a:rPr dirty="0" err="1"/>
              <a:t>רותם</a:t>
            </a:r>
            <a:r>
              <a:rPr dirty="0"/>
              <a:t> </a:t>
            </a:r>
            <a:r>
              <a:rPr dirty="0" err="1"/>
              <a:t>ועדן</a:t>
            </a:r>
            <a:r>
              <a:rPr dirty="0"/>
              <a:t> </a:t>
            </a:r>
            <a:r>
              <a:rPr dirty="0" err="1"/>
              <a:t>הם</a:t>
            </a:r>
            <a:r>
              <a:rPr dirty="0"/>
              <a:t> </a:t>
            </a:r>
            <a:r>
              <a:rPr dirty="0" err="1"/>
              <a:t>מהנדסי</a:t>
            </a:r>
            <a:r>
              <a:rPr dirty="0"/>
              <a:t> </a:t>
            </a:r>
            <a:r>
              <a:rPr dirty="0" err="1"/>
              <a:t>תוכנה</a:t>
            </a:r>
            <a:r>
              <a:rPr dirty="0"/>
              <a:t> </a:t>
            </a:r>
            <a:r>
              <a:rPr dirty="0" err="1"/>
              <a:t>שבונים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עצמו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הבעיה</a:t>
            </a:r>
            <a:r>
              <a:rPr dirty="0"/>
              <a:t> </a:t>
            </a:r>
            <a:r>
              <a:rPr dirty="0" err="1"/>
              <a:t>הזאת</a:t>
            </a:r>
            <a:r>
              <a:rPr dirty="0"/>
              <a:t> </a:t>
            </a:r>
            <a:r>
              <a:rPr dirty="0" err="1"/>
              <a:t>יושבת</a:t>
            </a:r>
            <a:r>
              <a:rPr dirty="0"/>
              <a:t>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התפר</a:t>
            </a:r>
            <a:r>
              <a:rPr dirty="0"/>
              <a:t> </a:t>
            </a:r>
            <a:r>
              <a:rPr dirty="0" err="1"/>
              <a:t>שבין</a:t>
            </a:r>
            <a:r>
              <a:rPr dirty="0"/>
              <a:t> </a:t>
            </a:r>
            <a:r>
              <a:rPr dirty="0" err="1"/>
              <a:t>פסיכולוגיה</a:t>
            </a:r>
            <a:r>
              <a:rPr dirty="0"/>
              <a:t> </a:t>
            </a:r>
            <a:r>
              <a:rPr dirty="0" err="1"/>
              <a:t>קוגניטיבית</a:t>
            </a:r>
            <a:r>
              <a:rPr dirty="0"/>
              <a:t> </a:t>
            </a:r>
            <a:r>
              <a:rPr dirty="0" err="1"/>
              <a:t>להנדסת</a:t>
            </a:r>
            <a:r>
              <a:rPr dirty="0"/>
              <a:t> </a:t>
            </a:r>
            <a:r>
              <a:rPr dirty="0" err="1"/>
              <a:t>תוכנה</a:t>
            </a:r>
            <a:r>
              <a:rPr dirty="0"/>
              <a:t> — 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החתך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הצוות</a:t>
            </a:r>
            <a:r>
              <a:rPr dirty="0"/>
              <a:t> </a:t>
            </a:r>
            <a:r>
              <a:rPr dirty="0" err="1"/>
              <a:t>שלנו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והכי</a:t>
            </a:r>
            <a:r>
              <a:rPr dirty="0"/>
              <a:t> </a:t>
            </a:r>
            <a:r>
              <a:rPr dirty="0" err="1"/>
              <a:t>חשוב</a:t>
            </a:r>
            <a:r>
              <a:rPr dirty="0"/>
              <a:t>: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קראנו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הבעיה</a:t>
            </a:r>
            <a:r>
              <a:rPr dirty="0"/>
              <a:t> </a:t>
            </a:r>
            <a:r>
              <a:rPr dirty="0" err="1"/>
              <a:t>במאמר</a:t>
            </a:r>
            <a:r>
              <a:rPr dirty="0"/>
              <a:t>. </a:t>
            </a:r>
            <a:r>
              <a:rPr dirty="0" err="1"/>
              <a:t>חיינו</a:t>
            </a:r>
            <a:r>
              <a:rPr dirty="0"/>
              <a:t> </a:t>
            </a:r>
            <a:r>
              <a:rPr dirty="0" err="1"/>
              <a:t>אותה</a:t>
            </a:r>
            <a:r>
              <a:rPr dirty="0"/>
              <a:t>. </a:t>
            </a:r>
            <a:r>
              <a:rPr dirty="0" err="1"/>
              <a:t>שרפנו</a:t>
            </a:r>
            <a:r>
              <a:rPr dirty="0"/>
              <a:t> </a:t>
            </a:r>
            <a:r>
              <a:rPr dirty="0" err="1"/>
              <a:t>ימים</a:t>
            </a:r>
            <a:r>
              <a:rPr dirty="0"/>
              <a:t> </a:t>
            </a:r>
            <a:r>
              <a:rPr dirty="0" err="1"/>
              <a:t>שלמים</a:t>
            </a:r>
            <a:r>
              <a:rPr dirty="0"/>
              <a:t>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להתקדם</a:t>
            </a:r>
            <a:r>
              <a:rPr dirty="0"/>
              <a:t> —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מחוסר</a:t>
            </a:r>
            <a:r>
              <a:rPr dirty="0"/>
              <a:t> </a:t>
            </a:r>
            <a:r>
              <a:rPr dirty="0" err="1"/>
              <a:t>מאמץ</a:t>
            </a:r>
            <a:r>
              <a:rPr dirty="0"/>
              <a:t>, </a:t>
            </a:r>
            <a:r>
              <a:rPr dirty="0" err="1"/>
              <a:t>אלא</a:t>
            </a:r>
            <a:r>
              <a:rPr dirty="0"/>
              <a:t> </a:t>
            </a:r>
            <a:r>
              <a:rPr dirty="0" err="1"/>
              <a:t>בגלל</a:t>
            </a:r>
            <a:r>
              <a:rPr dirty="0"/>
              <a:t> </a:t>
            </a:r>
            <a:r>
              <a:rPr dirty="0" err="1"/>
              <a:t>זרם</a:t>
            </a:r>
            <a:r>
              <a:rPr dirty="0"/>
              <a:t> </a:t>
            </a:r>
            <a:r>
              <a:rPr dirty="0" err="1"/>
              <a:t>התראות</a:t>
            </a:r>
            <a:r>
              <a:rPr dirty="0"/>
              <a:t> </a:t>
            </a:r>
            <a:r>
              <a:rPr dirty="0" err="1"/>
              <a:t>ששבר</a:t>
            </a:r>
            <a:r>
              <a:rPr dirty="0"/>
              <a:t> </a:t>
            </a:r>
            <a:r>
              <a:rPr dirty="0" err="1"/>
              <a:t>לנו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הריכוז</a:t>
            </a:r>
            <a:r>
              <a:rPr dirty="0"/>
              <a:t> </a:t>
            </a:r>
            <a:r>
              <a:rPr dirty="0" err="1"/>
              <a:t>שוב</a:t>
            </a:r>
            <a:r>
              <a:rPr dirty="0"/>
              <a:t> </a:t>
            </a:r>
            <a:r>
              <a:rPr dirty="0" err="1"/>
              <a:t>ושוב</a:t>
            </a:r>
            <a:r>
              <a:rPr dirty="0"/>
              <a:t>. </a:t>
            </a:r>
            <a:r>
              <a:rPr dirty="0" err="1"/>
              <a:t>בנינו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KungFlow</a:t>
            </a:r>
            <a:r>
              <a:rPr dirty="0"/>
              <a:t> </a:t>
            </a:r>
            <a:r>
              <a:rPr dirty="0" err="1"/>
              <a:t>קודם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לעצמנו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קצר</a:t>
            </a:r>
            <a:r>
              <a:rPr dirty="0"/>
              <a:t> </a:t>
            </a:r>
            <a:r>
              <a:rPr dirty="0" err="1"/>
              <a:t>וענייני</a:t>
            </a:r>
            <a:r>
              <a:rPr dirty="0"/>
              <a:t>. 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אז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קורה</a:t>
            </a:r>
            <a:r>
              <a:rPr dirty="0"/>
              <a:t> </a:t>
            </a:r>
            <a:r>
              <a:rPr dirty="0" err="1"/>
              <a:t>ביום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</a:t>
            </a:r>
            <a:r>
              <a:rPr dirty="0" err="1"/>
              <a:t>ממוצע</a:t>
            </a:r>
            <a:r>
              <a:rPr dirty="0"/>
              <a:t>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3 — </a:t>
            </a:r>
            <a:r>
              <a:rPr dirty="0" err="1"/>
              <a:t>הבעיה</a:t>
            </a:r>
            <a:r>
              <a:rPr dirty="0"/>
              <a:t> | 1:10–2:00]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בואו</a:t>
            </a:r>
            <a:r>
              <a:rPr dirty="0"/>
              <a:t> </a:t>
            </a:r>
            <a:r>
              <a:rPr dirty="0" err="1"/>
              <a:t>נישאר</a:t>
            </a:r>
            <a:r>
              <a:rPr dirty="0"/>
              <a:t> </a:t>
            </a:r>
            <a:r>
              <a:rPr dirty="0" err="1"/>
              <a:t>רגע</a:t>
            </a:r>
            <a:r>
              <a:rPr dirty="0"/>
              <a:t> </a:t>
            </a:r>
            <a:r>
              <a:rPr dirty="0" err="1"/>
              <a:t>אצלכם</a:t>
            </a:r>
            <a:r>
              <a:rPr dirty="0"/>
              <a:t>. </a:t>
            </a:r>
            <a:r>
              <a:rPr dirty="0" err="1"/>
              <a:t>אתם</a:t>
            </a:r>
            <a:r>
              <a:rPr dirty="0"/>
              <a:t> </a:t>
            </a:r>
            <a:r>
              <a:rPr dirty="0" err="1"/>
              <a:t>באמצע</a:t>
            </a:r>
            <a:r>
              <a:rPr dirty="0"/>
              <a:t> </a:t>
            </a:r>
            <a:r>
              <a:rPr dirty="0" err="1"/>
              <a:t>משימה</a:t>
            </a:r>
            <a:r>
              <a:rPr dirty="0"/>
              <a:t>, </a:t>
            </a:r>
            <a:r>
              <a:rPr dirty="0" err="1"/>
              <a:t>מרוכזים</a:t>
            </a:r>
            <a:r>
              <a:rPr dirty="0"/>
              <a:t>, </a:t>
            </a:r>
            <a:r>
              <a:rPr dirty="0" err="1"/>
              <a:t>רוצים</a:t>
            </a:r>
            <a:r>
              <a:rPr dirty="0"/>
              <a:t> </a:t>
            </a:r>
            <a:r>
              <a:rPr dirty="0" err="1"/>
              <a:t>לסיים</a:t>
            </a:r>
            <a:r>
              <a:rPr dirty="0"/>
              <a:t> — </a:t>
            </a:r>
            <a:r>
              <a:rPr dirty="0" err="1"/>
              <a:t>ואז</a:t>
            </a:r>
            <a:r>
              <a:rPr dirty="0"/>
              <a:t> </a:t>
            </a:r>
            <a:r>
              <a:rPr dirty="0" err="1"/>
              <a:t>פינג</a:t>
            </a:r>
            <a:r>
              <a:rPr dirty="0"/>
              <a:t> </a:t>
            </a:r>
            <a:r>
              <a:rPr dirty="0" err="1"/>
              <a:t>מסלאק</a:t>
            </a:r>
            <a:r>
              <a:rPr dirty="0"/>
              <a:t>. </a:t>
            </a:r>
            <a:r>
              <a:rPr dirty="0" err="1"/>
              <a:t>מייל</a:t>
            </a:r>
            <a:r>
              <a:rPr dirty="0"/>
              <a:t>. </a:t>
            </a:r>
            <a:r>
              <a:rPr dirty="0" err="1"/>
              <a:t>וואטסאפ</a:t>
            </a:r>
            <a:r>
              <a:rPr dirty="0"/>
              <a:t>. </a:t>
            </a:r>
            <a:r>
              <a:rPr dirty="0" err="1"/>
              <a:t>עוד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, </a:t>
            </a:r>
            <a:r>
              <a:rPr dirty="0" err="1"/>
              <a:t>ועוד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.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ידע</a:t>
            </a:r>
            <a:r>
              <a:rPr dirty="0"/>
              <a:t> </a:t>
            </a:r>
            <a:r>
              <a:rPr dirty="0" err="1"/>
              <a:t>ממוצע</a:t>
            </a:r>
            <a:r>
              <a:rPr dirty="0"/>
              <a:t> </a:t>
            </a:r>
            <a:r>
              <a:rPr dirty="0" err="1"/>
              <a:t>מקבל</a:t>
            </a:r>
            <a:r>
              <a:rPr dirty="0"/>
              <a:t> 56 </a:t>
            </a:r>
            <a:r>
              <a:rPr dirty="0" err="1"/>
              <a:t>הפרעות</a:t>
            </a:r>
            <a:r>
              <a:rPr dirty="0"/>
              <a:t> </a:t>
            </a:r>
            <a:r>
              <a:rPr dirty="0" err="1"/>
              <a:t>ביום</a:t>
            </a:r>
            <a:r>
              <a:rPr dirty="0"/>
              <a:t> — </a:t>
            </a:r>
            <a:r>
              <a:rPr dirty="0" err="1"/>
              <a:t>פינג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תשע</a:t>
            </a:r>
            <a:r>
              <a:rPr dirty="0"/>
              <a:t> </a:t>
            </a:r>
            <a:r>
              <a:rPr dirty="0" err="1"/>
              <a:t>דקות</a:t>
            </a:r>
            <a:r>
              <a:rPr dirty="0"/>
              <a:t> </a:t>
            </a:r>
            <a:r>
              <a:rPr dirty="0" err="1"/>
              <a:t>בערך</a:t>
            </a:r>
            <a:r>
              <a:rPr dirty="0"/>
              <a:t>. </a:t>
            </a:r>
            <a:r>
              <a:rPr dirty="0" err="1"/>
              <a:t>ואחרי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, </a:t>
            </a:r>
            <a:r>
              <a:rPr dirty="0" err="1"/>
              <a:t>מחקר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גלוריה</a:t>
            </a:r>
            <a:r>
              <a:rPr dirty="0"/>
              <a:t> </a:t>
            </a:r>
            <a:r>
              <a:rPr dirty="0" err="1"/>
              <a:t>מארק</a:t>
            </a:r>
            <a:r>
              <a:rPr dirty="0"/>
              <a:t> מ-UC Irvine </a:t>
            </a:r>
            <a:r>
              <a:rPr dirty="0" err="1"/>
              <a:t>מצא</a:t>
            </a:r>
            <a:r>
              <a:rPr dirty="0"/>
              <a:t> </a:t>
            </a:r>
            <a:r>
              <a:rPr dirty="0" err="1"/>
              <a:t>שלוקח</a:t>
            </a:r>
            <a:r>
              <a:rPr dirty="0"/>
              <a:t> 23 </a:t>
            </a:r>
            <a:r>
              <a:rPr dirty="0" err="1"/>
              <a:t>דקות</a:t>
            </a:r>
            <a:r>
              <a:rPr dirty="0"/>
              <a:t> </a:t>
            </a:r>
            <a:r>
              <a:rPr dirty="0" err="1"/>
              <a:t>לחזור</a:t>
            </a:r>
            <a:r>
              <a:rPr dirty="0"/>
              <a:t> </a:t>
            </a:r>
            <a:r>
              <a:rPr dirty="0" err="1"/>
              <a:t>לריכוז</a:t>
            </a:r>
            <a:r>
              <a:rPr dirty="0"/>
              <a:t> </a:t>
            </a:r>
            <a:r>
              <a:rPr dirty="0" err="1"/>
              <a:t>מלא</a:t>
            </a:r>
            <a:r>
              <a:rPr dirty="0"/>
              <a:t>. </a:t>
            </a:r>
            <a:r>
              <a:rPr dirty="0" err="1"/>
              <a:t>תעשו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החשבון</a:t>
            </a:r>
            <a:r>
              <a:rPr dirty="0"/>
              <a:t> —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פשוט</a:t>
            </a:r>
            <a:r>
              <a:rPr dirty="0"/>
              <a:t> </a:t>
            </a:r>
            <a:r>
              <a:rPr dirty="0" err="1"/>
              <a:t>נמס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והנה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שפחות</a:t>
            </a:r>
            <a:r>
              <a:rPr dirty="0"/>
              <a:t> </a:t>
            </a:r>
            <a:r>
              <a:rPr dirty="0" err="1"/>
              <a:t>מדברים</a:t>
            </a:r>
            <a:r>
              <a:rPr dirty="0"/>
              <a:t> </a:t>
            </a:r>
            <a:r>
              <a:rPr dirty="0" err="1"/>
              <a:t>עליו</a:t>
            </a:r>
            <a:r>
              <a:rPr dirty="0"/>
              <a:t>: </a:t>
            </a:r>
            <a:r>
              <a:rPr dirty="0" err="1"/>
              <a:t>כשמפריעים</a:t>
            </a:r>
            <a:r>
              <a:rPr dirty="0"/>
              <a:t> </a:t>
            </a:r>
            <a:r>
              <a:rPr dirty="0" err="1"/>
              <a:t>לכם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הזמן</a:t>
            </a:r>
            <a:r>
              <a:rPr dirty="0"/>
              <a:t> </a:t>
            </a:r>
            <a:r>
              <a:rPr dirty="0" err="1"/>
              <a:t>אתם</a:t>
            </a:r>
            <a:r>
              <a:rPr dirty="0"/>
              <a:t> </a:t>
            </a:r>
            <a:r>
              <a:rPr dirty="0" err="1"/>
              <a:t>בלחץ</a:t>
            </a:r>
            <a:r>
              <a:rPr dirty="0"/>
              <a:t>, </a:t>
            </a:r>
            <a:r>
              <a:rPr dirty="0" err="1"/>
              <a:t>מנסים</a:t>
            </a:r>
            <a:r>
              <a:rPr dirty="0"/>
              <a:t> </a:t>
            </a:r>
            <a:r>
              <a:rPr dirty="0" err="1"/>
              <a:t>לפצות</a:t>
            </a:r>
            <a:r>
              <a:rPr dirty="0"/>
              <a:t>, </a:t>
            </a:r>
            <a:r>
              <a:rPr dirty="0" err="1"/>
              <a:t>עובדים</a:t>
            </a:r>
            <a:r>
              <a:rPr dirty="0"/>
              <a:t> </a:t>
            </a:r>
            <a:r>
              <a:rPr dirty="0" err="1"/>
              <a:t>מהר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 — </a:t>
            </a:r>
            <a:r>
              <a:rPr dirty="0" err="1"/>
              <a:t>והתוצר</a:t>
            </a:r>
            <a:r>
              <a:rPr dirty="0"/>
              <a:t> </a:t>
            </a:r>
            <a:r>
              <a:rPr dirty="0" err="1"/>
              <a:t>שלכם</a:t>
            </a:r>
            <a:r>
              <a:rPr dirty="0"/>
              <a:t> </a:t>
            </a:r>
            <a:r>
              <a:rPr dirty="0" err="1"/>
              <a:t>נפגע</a:t>
            </a:r>
            <a:r>
              <a:rPr dirty="0"/>
              <a:t>. </a:t>
            </a:r>
            <a:r>
              <a:rPr dirty="0" err="1"/>
              <a:t>עכשיו</a:t>
            </a:r>
            <a:r>
              <a:rPr dirty="0"/>
              <a:t> </a:t>
            </a:r>
            <a:r>
              <a:rPr dirty="0" err="1"/>
              <a:t>תרגישו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זה </a:t>
            </a:r>
            <a:r>
              <a:rPr dirty="0" err="1"/>
              <a:t>לרגע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עצמכם</a:t>
            </a:r>
            <a:r>
              <a:rPr dirty="0"/>
              <a:t> — </a:t>
            </a:r>
            <a:r>
              <a:rPr dirty="0" err="1"/>
              <a:t>ואז</a:t>
            </a:r>
            <a:r>
              <a:rPr dirty="0"/>
              <a:t> </a:t>
            </a:r>
            <a:r>
              <a:rPr dirty="0" err="1"/>
              <a:t>תכפילו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זה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בחברה</a:t>
            </a:r>
            <a:r>
              <a:rPr dirty="0"/>
              <a:t>. זה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שזה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</a:t>
            </a:r>
            <a:r>
              <a:rPr dirty="0" err="1"/>
              <a:t>בשני</a:t>
            </a:r>
            <a:r>
              <a:rPr dirty="0"/>
              <a:t> </a:t>
            </a:r>
            <a:r>
              <a:rPr dirty="0" err="1"/>
              <a:t>מטבעות</a:t>
            </a:r>
            <a:r>
              <a:rPr dirty="0"/>
              <a:t> — </a:t>
            </a:r>
            <a:r>
              <a:rPr dirty="0" err="1"/>
              <a:t>קודם</a:t>
            </a:r>
            <a:r>
              <a:rPr dirty="0"/>
              <a:t> </a:t>
            </a:r>
            <a:r>
              <a:rPr dirty="0" err="1"/>
              <a:t>באנשים</a:t>
            </a:r>
            <a:r>
              <a:rPr dirty="0"/>
              <a:t>, </a:t>
            </a:r>
            <a:r>
              <a:rPr dirty="0" err="1"/>
              <a:t>ואז</a:t>
            </a:r>
            <a:r>
              <a:rPr dirty="0"/>
              <a:t> </a:t>
            </a:r>
            <a:r>
              <a:rPr dirty="0" err="1"/>
              <a:t>בכסף</a:t>
            </a:r>
            <a:r>
              <a:rPr dirty="0"/>
              <a:t>.']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4 — </a:t>
            </a:r>
            <a:r>
              <a:rPr dirty="0" err="1"/>
              <a:t>המחיר</a:t>
            </a:r>
            <a:r>
              <a:rPr dirty="0"/>
              <a:t> | 2:00–2:50]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קודם</a:t>
            </a:r>
            <a:r>
              <a:rPr dirty="0"/>
              <a:t> </a:t>
            </a:r>
            <a:r>
              <a:rPr dirty="0" err="1"/>
              <a:t>המחיר</a:t>
            </a:r>
            <a:r>
              <a:rPr dirty="0"/>
              <a:t> </a:t>
            </a:r>
            <a:r>
              <a:rPr dirty="0" err="1"/>
              <a:t>האנושי</a:t>
            </a:r>
            <a:r>
              <a:rPr dirty="0"/>
              <a:t>: </a:t>
            </a:r>
            <a:r>
              <a:rPr dirty="0" err="1"/>
              <a:t>מחקר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מייקרוסופט</a:t>
            </a:r>
            <a:r>
              <a:rPr dirty="0"/>
              <a:t> </a:t>
            </a:r>
            <a:r>
              <a:rPr dirty="0" err="1"/>
              <a:t>מצא</a:t>
            </a:r>
            <a:r>
              <a:rPr dirty="0"/>
              <a:t> 26% </a:t>
            </a:r>
            <a:r>
              <a:rPr dirty="0" err="1"/>
              <a:t>יותר</a:t>
            </a:r>
            <a:r>
              <a:rPr dirty="0"/>
              <a:t> </a:t>
            </a:r>
            <a:r>
              <a:rPr dirty="0" err="1"/>
              <a:t>סטרס</a:t>
            </a:r>
            <a:r>
              <a:rPr dirty="0"/>
              <a:t> </a:t>
            </a:r>
            <a:r>
              <a:rPr dirty="0" err="1"/>
              <a:t>ושביעות</a:t>
            </a:r>
            <a:r>
              <a:rPr dirty="0"/>
              <a:t> </a:t>
            </a:r>
            <a:r>
              <a:rPr dirty="0" err="1"/>
              <a:t>רצון</a:t>
            </a:r>
            <a:r>
              <a:rPr dirty="0"/>
              <a:t> </a:t>
            </a:r>
            <a:r>
              <a:rPr dirty="0" err="1"/>
              <a:t>נמוכה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 </a:t>
            </a:r>
            <a:r>
              <a:rPr dirty="0" err="1"/>
              <a:t>אצל</a:t>
            </a:r>
            <a:r>
              <a:rPr dirty="0"/>
              <a:t> </a:t>
            </a:r>
            <a:r>
              <a:rPr dirty="0" err="1"/>
              <a:t>עובדים</a:t>
            </a:r>
            <a:r>
              <a:rPr dirty="0"/>
              <a:t> </a:t>
            </a:r>
            <a:r>
              <a:rPr dirty="0" err="1"/>
              <a:t>שחווים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 </a:t>
            </a:r>
            <a:r>
              <a:rPr dirty="0" err="1"/>
              <a:t>הפרעות</a:t>
            </a:r>
            <a:r>
              <a:rPr dirty="0"/>
              <a:t> </a:t>
            </a:r>
            <a:r>
              <a:rPr dirty="0" err="1"/>
              <a:t>דיגיטליות</a:t>
            </a:r>
            <a:r>
              <a:rPr dirty="0"/>
              <a:t>. </a:t>
            </a:r>
            <a:r>
              <a:rPr dirty="0" err="1"/>
              <a:t>וה</a:t>
            </a:r>
            <a:r>
              <a:rPr dirty="0"/>
              <a:t>-WHO </a:t>
            </a:r>
            <a:r>
              <a:rPr dirty="0" err="1"/>
              <a:t>מעריך</a:t>
            </a:r>
            <a:r>
              <a:rPr dirty="0"/>
              <a:t> 12 </a:t>
            </a:r>
            <a:r>
              <a:rPr dirty="0" err="1"/>
              <a:t>מיליארד</a:t>
            </a:r>
            <a:r>
              <a:rPr dirty="0"/>
              <a:t> </a:t>
            </a:r>
            <a:r>
              <a:rPr dirty="0" err="1"/>
              <a:t>ימי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</a:t>
            </a:r>
            <a:r>
              <a:rPr dirty="0" err="1"/>
              <a:t>אבודים</a:t>
            </a:r>
            <a:r>
              <a:rPr dirty="0"/>
              <a:t> </a:t>
            </a:r>
            <a:r>
              <a:rPr dirty="0" err="1"/>
              <a:t>בשנה</a:t>
            </a:r>
            <a:r>
              <a:rPr dirty="0"/>
              <a:t> </a:t>
            </a:r>
            <a:r>
              <a:rPr dirty="0" err="1"/>
              <a:t>בגלל</a:t>
            </a:r>
            <a:r>
              <a:rPr dirty="0"/>
              <a:t> </a:t>
            </a:r>
            <a:r>
              <a:rPr dirty="0" err="1"/>
              <a:t>חרדה</a:t>
            </a:r>
            <a:r>
              <a:rPr dirty="0"/>
              <a:t> </a:t>
            </a:r>
            <a:r>
              <a:rPr dirty="0" err="1"/>
              <a:t>ודיכאון</a:t>
            </a:r>
            <a:r>
              <a:rPr dirty="0"/>
              <a:t> — </a:t>
            </a:r>
            <a:r>
              <a:rPr dirty="0" err="1"/>
              <a:t>טריליון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פרודוקטיביות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עכשיו</a:t>
            </a:r>
            <a:r>
              <a:rPr dirty="0"/>
              <a:t> </a:t>
            </a:r>
            <a:r>
              <a:rPr dirty="0" err="1"/>
              <a:t>הצד</a:t>
            </a:r>
            <a:r>
              <a:rPr dirty="0"/>
              <a:t> </a:t>
            </a:r>
            <a:r>
              <a:rPr dirty="0" err="1"/>
              <a:t>העסקי</a:t>
            </a:r>
            <a:r>
              <a:rPr dirty="0"/>
              <a:t>, </a:t>
            </a:r>
            <a:r>
              <a:rPr dirty="0" err="1"/>
              <a:t>ובכוונה</a:t>
            </a:r>
            <a:r>
              <a:rPr dirty="0"/>
              <a:t> </a:t>
            </a:r>
            <a:r>
              <a:rPr dirty="0" err="1"/>
              <a:t>בזהירות</a:t>
            </a:r>
            <a:r>
              <a:rPr dirty="0"/>
              <a:t>: </a:t>
            </a:r>
            <a:r>
              <a:rPr dirty="0" err="1"/>
              <a:t>חברת</a:t>
            </a:r>
            <a:r>
              <a:rPr dirty="0"/>
              <a:t> </a:t>
            </a:r>
            <a:r>
              <a:rPr dirty="0" err="1"/>
              <a:t>הייטק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250 </a:t>
            </a:r>
            <a:r>
              <a:rPr dirty="0" err="1"/>
              <a:t>עובדים</a:t>
            </a:r>
            <a:r>
              <a:rPr dirty="0"/>
              <a:t> </a:t>
            </a:r>
            <a:r>
              <a:rPr dirty="0" err="1"/>
              <a:t>מוציאה</a:t>
            </a:r>
            <a:r>
              <a:rPr dirty="0"/>
              <a:t> </a:t>
            </a:r>
            <a:r>
              <a:rPr dirty="0" err="1"/>
              <a:t>בערך</a:t>
            </a:r>
            <a:r>
              <a:rPr dirty="0"/>
              <a:t> 30 </a:t>
            </a:r>
            <a:r>
              <a:rPr dirty="0" err="1"/>
              <a:t>מיליון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 </a:t>
            </a:r>
            <a:r>
              <a:rPr dirty="0" err="1"/>
              <a:t>בשנה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שכר</a:t>
            </a:r>
            <a:r>
              <a:rPr dirty="0"/>
              <a:t>. </a:t>
            </a:r>
            <a:r>
              <a:rPr dirty="0" err="1"/>
              <a:t>גם</a:t>
            </a:r>
            <a:r>
              <a:rPr dirty="0"/>
              <a:t> </a:t>
            </a:r>
            <a:r>
              <a:rPr dirty="0" err="1"/>
              <a:t>אם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5% </a:t>
            </a:r>
            <a:r>
              <a:rPr dirty="0" err="1"/>
              <a:t>מזה</a:t>
            </a:r>
            <a:r>
              <a:rPr dirty="0"/>
              <a:t> </a:t>
            </a:r>
            <a:r>
              <a:rPr dirty="0" err="1"/>
              <a:t>הולך</a:t>
            </a:r>
            <a:r>
              <a:rPr dirty="0"/>
              <a:t> </a:t>
            </a:r>
            <a:r>
              <a:rPr dirty="0" err="1"/>
              <a:t>לאיבוד</a:t>
            </a:r>
            <a:r>
              <a:rPr dirty="0"/>
              <a:t> </a:t>
            </a:r>
            <a:r>
              <a:rPr dirty="0" err="1"/>
              <a:t>בגלל</a:t>
            </a:r>
            <a:r>
              <a:rPr dirty="0"/>
              <a:t> </a:t>
            </a:r>
            <a:r>
              <a:rPr dirty="0" err="1"/>
              <a:t>הפרעות</a:t>
            </a:r>
            <a:r>
              <a:rPr dirty="0"/>
              <a:t> — זה </a:t>
            </a:r>
            <a:r>
              <a:rPr dirty="0" err="1"/>
              <a:t>מיליון</a:t>
            </a:r>
            <a:r>
              <a:rPr dirty="0"/>
              <a:t> </a:t>
            </a:r>
            <a:r>
              <a:rPr dirty="0" err="1"/>
              <a:t>וחצי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 </a:t>
            </a:r>
            <a:r>
              <a:rPr dirty="0" err="1"/>
              <a:t>בשנה</a:t>
            </a:r>
            <a:r>
              <a:rPr dirty="0"/>
              <a:t>. </a:t>
            </a:r>
            <a:r>
              <a:rPr dirty="0" err="1"/>
              <a:t>אני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צריך</a:t>
            </a:r>
            <a:r>
              <a:rPr dirty="0"/>
              <a:t> </a:t>
            </a:r>
            <a:r>
              <a:rPr dirty="0" err="1"/>
              <a:t>לטעון</a:t>
            </a:r>
            <a:r>
              <a:rPr dirty="0"/>
              <a:t> </a:t>
            </a:r>
            <a:r>
              <a:rPr dirty="0" err="1"/>
              <a:t>שכל</a:t>
            </a:r>
            <a:r>
              <a:rPr dirty="0"/>
              <a:t> </a:t>
            </a:r>
            <a:r>
              <a:rPr dirty="0" err="1"/>
              <a:t>השעתיים</a:t>
            </a:r>
            <a:r>
              <a:rPr dirty="0"/>
              <a:t> </a:t>
            </a:r>
            <a:r>
              <a:rPr dirty="0" err="1"/>
              <a:t>ביום</a:t>
            </a:r>
            <a:r>
              <a:rPr dirty="0"/>
              <a:t> </a:t>
            </a:r>
            <a:r>
              <a:rPr dirty="0" err="1"/>
              <a:t>אבודות</a:t>
            </a:r>
            <a:r>
              <a:rPr dirty="0"/>
              <a:t> </a:t>
            </a:r>
            <a:r>
              <a:rPr dirty="0" err="1"/>
              <a:t>לגמרי</a:t>
            </a:r>
            <a:r>
              <a:rPr dirty="0"/>
              <a:t> — </a:t>
            </a:r>
            <a:r>
              <a:rPr dirty="0" err="1"/>
              <a:t>מספיק</a:t>
            </a:r>
            <a:r>
              <a:rPr dirty="0"/>
              <a:t> 5%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שהמספר</a:t>
            </a:r>
            <a:r>
              <a:rPr dirty="0"/>
              <a:t> </a:t>
            </a:r>
            <a:r>
              <a:rPr dirty="0" err="1"/>
              <a:t>יהיה</a:t>
            </a:r>
            <a:r>
              <a:rPr dirty="0"/>
              <a:t> </a:t>
            </a:r>
            <a:r>
              <a:rPr dirty="0" err="1"/>
              <a:t>דרמטי</a:t>
            </a:r>
            <a:r>
              <a:rPr dirty="0"/>
              <a:t>. 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כסף</a:t>
            </a:r>
            <a:r>
              <a:rPr dirty="0"/>
              <a:t> </a:t>
            </a:r>
            <a:r>
              <a:rPr dirty="0" err="1"/>
              <a:t>שאתם</a:t>
            </a:r>
            <a:r>
              <a:rPr dirty="0"/>
              <a:t> </a:t>
            </a:r>
            <a:r>
              <a:rPr dirty="0" err="1"/>
              <a:t>כבר</a:t>
            </a:r>
            <a:r>
              <a:rPr dirty="0"/>
              <a:t> </a:t>
            </a:r>
            <a:r>
              <a:rPr dirty="0" err="1"/>
              <a:t>מוציאים</a:t>
            </a:r>
            <a:r>
              <a:rPr dirty="0"/>
              <a:t>, </a:t>
            </a:r>
            <a:r>
              <a:rPr dirty="0" err="1"/>
              <a:t>היום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אז</a:t>
            </a:r>
            <a:r>
              <a:rPr dirty="0"/>
              <a:t> </a:t>
            </a:r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אף</a:t>
            </a:r>
            <a:r>
              <a:rPr dirty="0"/>
              <a:t> </a:t>
            </a:r>
            <a:r>
              <a:rPr dirty="0" err="1"/>
              <a:t>אחד</a:t>
            </a:r>
            <a:r>
              <a:rPr dirty="0"/>
              <a:t> </a:t>
            </a:r>
            <a:r>
              <a:rPr dirty="0" err="1"/>
              <a:t>עוד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פתר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זה?']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5 — </a:t>
            </a:r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הפתרונות</a:t>
            </a:r>
            <a:r>
              <a:rPr dirty="0"/>
              <a:t> </a:t>
            </a:r>
            <a:r>
              <a:rPr dirty="0" err="1"/>
              <a:t>הקיימים</a:t>
            </a:r>
            <a:r>
              <a:rPr dirty="0"/>
              <a:t> </a:t>
            </a:r>
            <a:r>
              <a:rPr dirty="0" err="1"/>
              <a:t>נכשלים</a:t>
            </a:r>
            <a:r>
              <a:rPr dirty="0"/>
              <a:t> | 2:50–3:25]</a:t>
            </a:r>
          </a:p>
          <a:p>
            <a:pPr algn="r" rtl="1"/>
            <a:endParaRPr dirty="0"/>
          </a:p>
          <a:p>
            <a:pPr algn="r" rtl="1"/>
            <a:r>
              <a:rPr dirty="0"/>
              <a:t>זה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שאין</a:t>
            </a:r>
            <a:r>
              <a:rPr dirty="0"/>
              <a:t> </a:t>
            </a:r>
            <a:r>
              <a:rPr dirty="0" err="1"/>
              <a:t>פתרונות</a:t>
            </a:r>
            <a:r>
              <a:rPr dirty="0"/>
              <a:t> </a:t>
            </a:r>
            <a:r>
              <a:rPr dirty="0" err="1"/>
              <a:t>בשוק</a:t>
            </a:r>
            <a:r>
              <a:rPr dirty="0"/>
              <a:t> — זה </a:t>
            </a:r>
            <a:r>
              <a:rPr dirty="0" err="1"/>
              <a:t>שכולם</a:t>
            </a:r>
            <a:r>
              <a:rPr dirty="0"/>
              <a:t> </a:t>
            </a:r>
            <a:r>
              <a:rPr dirty="0" err="1"/>
              <a:t>דורשים</a:t>
            </a:r>
            <a:r>
              <a:rPr dirty="0"/>
              <a:t> </a:t>
            </a:r>
            <a:r>
              <a:rPr dirty="0" err="1"/>
              <a:t>מהעובד</a:t>
            </a:r>
            <a:r>
              <a:rPr dirty="0"/>
              <a:t> </a:t>
            </a:r>
            <a:r>
              <a:rPr dirty="0" err="1"/>
              <a:t>לפעול</a:t>
            </a:r>
            <a:r>
              <a:rPr dirty="0"/>
              <a:t>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ברגע</a:t>
            </a:r>
            <a:r>
              <a:rPr dirty="0"/>
              <a:t> </a:t>
            </a:r>
            <a:r>
              <a:rPr dirty="0" err="1"/>
              <a:t>שהוא</a:t>
            </a:r>
            <a:r>
              <a:rPr dirty="0"/>
              <a:t> </a:t>
            </a:r>
            <a:r>
              <a:rPr dirty="0" err="1"/>
              <a:t>הכי</a:t>
            </a:r>
            <a:r>
              <a:rPr dirty="0"/>
              <a:t> </a:t>
            </a:r>
            <a:r>
              <a:rPr dirty="0" err="1"/>
              <a:t>פחות</a:t>
            </a:r>
            <a:r>
              <a:rPr dirty="0"/>
              <a:t> </a:t>
            </a:r>
            <a:r>
              <a:rPr dirty="0" err="1"/>
              <a:t>מסוגל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מצב</a:t>
            </a:r>
            <a:r>
              <a:rPr dirty="0"/>
              <a:t> '</a:t>
            </a:r>
            <a:r>
              <a:rPr dirty="0" err="1"/>
              <a:t>נא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להפריע</a:t>
            </a:r>
            <a:r>
              <a:rPr dirty="0"/>
              <a:t>' </a:t>
            </a:r>
            <a:r>
              <a:rPr dirty="0" err="1"/>
              <a:t>ידני</a:t>
            </a:r>
            <a:r>
              <a:rPr dirty="0"/>
              <a:t>? </a:t>
            </a:r>
            <a:r>
              <a:rPr dirty="0" err="1"/>
              <a:t>מבקש</a:t>
            </a:r>
            <a:r>
              <a:rPr dirty="0"/>
              <a:t> </a:t>
            </a:r>
            <a:r>
              <a:rPr dirty="0" err="1"/>
              <a:t>ממוח</a:t>
            </a:r>
            <a:r>
              <a:rPr dirty="0"/>
              <a:t> </a:t>
            </a:r>
            <a:r>
              <a:rPr dirty="0" err="1"/>
              <a:t>עמוס</a:t>
            </a:r>
            <a:r>
              <a:rPr dirty="0"/>
              <a:t> </a:t>
            </a:r>
            <a:r>
              <a:rPr dirty="0" err="1"/>
              <a:t>לשים</a:t>
            </a:r>
            <a:r>
              <a:rPr dirty="0"/>
              <a:t> </a:t>
            </a:r>
            <a:r>
              <a:rPr dirty="0" err="1"/>
              <a:t>לב</a:t>
            </a:r>
            <a:r>
              <a:rPr dirty="0"/>
              <a:t> </a:t>
            </a:r>
            <a:r>
              <a:rPr dirty="0" err="1"/>
              <a:t>שהוא</a:t>
            </a:r>
            <a:r>
              <a:rPr dirty="0"/>
              <a:t> </a:t>
            </a:r>
            <a:r>
              <a:rPr dirty="0" err="1"/>
              <a:t>עמוס</a:t>
            </a:r>
            <a:r>
              <a:rPr dirty="0"/>
              <a:t>. </a:t>
            </a:r>
            <a:r>
              <a:rPr dirty="0" err="1"/>
              <a:t>כלי</a:t>
            </a:r>
            <a:r>
              <a:rPr dirty="0"/>
              <a:t> </a:t>
            </a:r>
            <a:r>
              <a:rPr dirty="0" err="1"/>
              <a:t>מעקב</a:t>
            </a:r>
            <a:r>
              <a:rPr dirty="0"/>
              <a:t> </a:t>
            </a:r>
            <a:r>
              <a:rPr dirty="0" err="1"/>
              <a:t>כמו</a:t>
            </a:r>
            <a:r>
              <a:rPr dirty="0"/>
              <a:t> </a:t>
            </a:r>
            <a:r>
              <a:rPr dirty="0" err="1"/>
              <a:t>RescueTime</a:t>
            </a:r>
            <a:r>
              <a:rPr dirty="0"/>
              <a:t>? </a:t>
            </a:r>
            <a:r>
              <a:rPr dirty="0" err="1"/>
              <a:t>מדווחים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הנזק</a:t>
            </a:r>
            <a:r>
              <a:rPr dirty="0"/>
              <a:t> </a:t>
            </a:r>
            <a:r>
              <a:rPr dirty="0" err="1"/>
              <a:t>אחרי</a:t>
            </a:r>
            <a:r>
              <a:rPr dirty="0"/>
              <a:t> </a:t>
            </a:r>
            <a:r>
              <a:rPr dirty="0" err="1"/>
              <a:t>שקרה</a:t>
            </a:r>
            <a:r>
              <a:rPr dirty="0"/>
              <a:t> — </a:t>
            </a:r>
            <a:r>
              <a:rPr dirty="0" err="1"/>
              <a:t>מד</a:t>
            </a:r>
            <a:r>
              <a:rPr dirty="0"/>
              <a:t> </a:t>
            </a:r>
            <a:r>
              <a:rPr dirty="0" err="1"/>
              <a:t>מהירות</a:t>
            </a:r>
            <a:r>
              <a:rPr dirty="0"/>
              <a:t>,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חגורת</a:t>
            </a:r>
            <a:r>
              <a:rPr dirty="0"/>
              <a:t> </a:t>
            </a:r>
            <a:r>
              <a:rPr dirty="0" err="1"/>
              <a:t>בטיחות</a:t>
            </a:r>
            <a:r>
              <a:rPr dirty="0"/>
              <a:t>. </a:t>
            </a:r>
            <a:r>
              <a:rPr dirty="0" err="1"/>
              <a:t>מדיניות</a:t>
            </a:r>
            <a:r>
              <a:rPr dirty="0"/>
              <a:t> '</a:t>
            </a:r>
            <a:r>
              <a:rPr dirty="0" err="1"/>
              <a:t>שעות</a:t>
            </a:r>
            <a:r>
              <a:rPr dirty="0"/>
              <a:t> </a:t>
            </a:r>
            <a:r>
              <a:rPr dirty="0" err="1"/>
              <a:t>פוקוס</a:t>
            </a:r>
            <a:r>
              <a:rPr dirty="0"/>
              <a:t>'?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מותאמת</a:t>
            </a:r>
            <a:r>
              <a:rPr dirty="0"/>
              <a:t> </a:t>
            </a:r>
            <a:r>
              <a:rPr dirty="0" err="1"/>
              <a:t>אישית</a:t>
            </a:r>
            <a:r>
              <a:rPr dirty="0"/>
              <a:t> </a:t>
            </a:r>
            <a:r>
              <a:rPr dirty="0" err="1"/>
              <a:t>ולא</a:t>
            </a:r>
            <a:r>
              <a:rPr dirty="0"/>
              <a:t> </a:t>
            </a:r>
            <a:r>
              <a:rPr dirty="0" err="1"/>
              <a:t>נאכפת</a:t>
            </a:r>
            <a:r>
              <a:rPr dirty="0"/>
              <a:t>. </a:t>
            </a:r>
            <a:r>
              <a:rPr dirty="0" err="1"/>
              <a:t>אפליקציות</a:t>
            </a:r>
            <a:r>
              <a:rPr dirty="0"/>
              <a:t> wellness? </a:t>
            </a:r>
            <a:r>
              <a:rPr dirty="0" err="1"/>
              <a:t>נחמדות</a:t>
            </a:r>
            <a:r>
              <a:rPr dirty="0"/>
              <a:t>, </a:t>
            </a:r>
            <a:r>
              <a:rPr dirty="0" err="1"/>
              <a:t>אבל</a:t>
            </a:r>
            <a:r>
              <a:rPr dirty="0"/>
              <a:t> </a:t>
            </a:r>
            <a:r>
              <a:rPr dirty="0" err="1"/>
              <a:t>חיות</a:t>
            </a:r>
            <a:r>
              <a:rPr dirty="0"/>
              <a:t> </a:t>
            </a:r>
            <a:r>
              <a:rPr dirty="0" err="1"/>
              <a:t>מחוץ</a:t>
            </a:r>
            <a:r>
              <a:rPr dirty="0"/>
              <a:t> </a:t>
            </a:r>
            <a:r>
              <a:rPr dirty="0" err="1"/>
              <a:t>לזרימת</a:t>
            </a:r>
            <a:r>
              <a:rPr dirty="0"/>
              <a:t> </a:t>
            </a:r>
            <a:r>
              <a:rPr dirty="0" err="1"/>
              <a:t>העבודה</a:t>
            </a:r>
            <a:r>
              <a:rPr dirty="0"/>
              <a:t>, </a:t>
            </a:r>
            <a:r>
              <a:rPr dirty="0" err="1"/>
              <a:t>ששם</a:t>
            </a:r>
            <a:r>
              <a:rPr dirty="0"/>
              <a:t> </a:t>
            </a:r>
            <a:r>
              <a:rPr dirty="0" err="1"/>
              <a:t>הנזק</a:t>
            </a:r>
            <a:r>
              <a:rPr dirty="0"/>
              <a:t> </a:t>
            </a:r>
            <a:r>
              <a:rPr dirty="0" err="1"/>
              <a:t>קורה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הפער</a:t>
            </a:r>
            <a:r>
              <a:rPr dirty="0"/>
              <a:t> </a:t>
            </a:r>
            <a:r>
              <a:rPr dirty="0" err="1"/>
              <a:t>ברור</a:t>
            </a:r>
            <a:r>
              <a:rPr dirty="0"/>
              <a:t>: </a:t>
            </a:r>
            <a:r>
              <a:rPr dirty="0" err="1"/>
              <a:t>אין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אף</a:t>
            </a:r>
            <a:r>
              <a:rPr dirty="0"/>
              <a:t> </a:t>
            </a:r>
            <a:r>
              <a:rPr dirty="0" err="1"/>
              <a:t>כלי</a:t>
            </a:r>
            <a:r>
              <a:rPr dirty="0"/>
              <a:t> </a:t>
            </a:r>
            <a:r>
              <a:rPr dirty="0" err="1"/>
              <a:t>שמזהה</a:t>
            </a:r>
            <a:r>
              <a:rPr dirty="0"/>
              <a:t> </a:t>
            </a:r>
            <a:r>
              <a:rPr dirty="0" err="1"/>
              <a:t>עומס</a:t>
            </a:r>
            <a:r>
              <a:rPr dirty="0"/>
              <a:t> </a:t>
            </a:r>
            <a:r>
              <a:rPr dirty="0" err="1"/>
              <a:t>ופועל</a:t>
            </a:r>
            <a:r>
              <a:rPr dirty="0"/>
              <a:t> </a:t>
            </a:r>
            <a:r>
              <a:rPr dirty="0" err="1"/>
              <a:t>עליו</a:t>
            </a:r>
            <a:r>
              <a:rPr dirty="0"/>
              <a:t> </a:t>
            </a:r>
            <a:r>
              <a:rPr dirty="0" err="1"/>
              <a:t>אוטומטית</a:t>
            </a:r>
            <a:r>
              <a:rPr dirty="0"/>
              <a:t>, </a:t>
            </a:r>
            <a:r>
              <a:rPr dirty="0" err="1"/>
              <a:t>בזמן</a:t>
            </a:r>
            <a:r>
              <a:rPr dirty="0"/>
              <a:t> </a:t>
            </a:r>
            <a:r>
              <a:rPr dirty="0" err="1"/>
              <a:t>אמת</a:t>
            </a:r>
            <a:r>
              <a:rPr dirty="0"/>
              <a:t>, </a:t>
            </a:r>
            <a:r>
              <a:rPr dirty="0" err="1"/>
              <a:t>באפס</a:t>
            </a:r>
            <a:r>
              <a:rPr dirty="0"/>
              <a:t> </a:t>
            </a:r>
            <a:r>
              <a:rPr dirty="0" err="1"/>
              <a:t>מאמץ</a:t>
            </a:r>
            <a:r>
              <a:rPr dirty="0"/>
              <a:t> </a:t>
            </a:r>
            <a:r>
              <a:rPr dirty="0" err="1"/>
              <a:t>מהעובד</a:t>
            </a:r>
            <a:r>
              <a:rPr dirty="0"/>
              <a:t>. זה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שבנינו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 </a:t>
            </a:r>
            <a:r>
              <a:rPr dirty="0" err="1"/>
              <a:t>ישיר</a:t>
            </a:r>
            <a:r>
              <a:rPr dirty="0"/>
              <a:t> </a:t>
            </a:r>
            <a:r>
              <a:rPr dirty="0" err="1"/>
              <a:t>לפתרון</a:t>
            </a:r>
            <a:r>
              <a:rPr dirty="0"/>
              <a:t>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6 — </a:t>
            </a:r>
            <a:r>
              <a:rPr dirty="0" err="1"/>
              <a:t>הפתרון</a:t>
            </a:r>
            <a:r>
              <a:rPr dirty="0"/>
              <a:t> | 3:25–4:15]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עכשיו</a:t>
            </a:r>
            <a:r>
              <a:rPr dirty="0"/>
              <a:t> </a:t>
            </a:r>
            <a:r>
              <a:rPr dirty="0" err="1"/>
              <a:t>דמיינו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ההפך</a:t>
            </a:r>
            <a:r>
              <a:rPr dirty="0"/>
              <a:t>: </a:t>
            </a:r>
            <a:r>
              <a:rPr dirty="0" err="1"/>
              <a:t>שיש</a:t>
            </a:r>
            <a:r>
              <a:rPr dirty="0"/>
              <a:t> </a:t>
            </a:r>
            <a:r>
              <a:rPr dirty="0" err="1"/>
              <a:t>משהו</a:t>
            </a:r>
            <a:r>
              <a:rPr dirty="0"/>
              <a:t> </a:t>
            </a:r>
            <a:r>
              <a:rPr dirty="0" err="1"/>
              <a:t>ששומר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הריכוז</a:t>
            </a:r>
            <a:r>
              <a:rPr dirty="0"/>
              <a:t> </a:t>
            </a:r>
            <a:r>
              <a:rPr dirty="0" err="1"/>
              <a:t>שלכם</a:t>
            </a:r>
            <a:r>
              <a:rPr dirty="0"/>
              <a:t> </a:t>
            </a:r>
            <a:r>
              <a:rPr dirty="0" err="1"/>
              <a:t>ומוציא</a:t>
            </a:r>
            <a:r>
              <a:rPr dirty="0"/>
              <a:t> </a:t>
            </a:r>
            <a:r>
              <a:rPr dirty="0" err="1"/>
              <a:t>מכם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המיטב</a:t>
            </a:r>
            <a:r>
              <a:rPr dirty="0"/>
              <a:t> —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שתצטרכו</a:t>
            </a:r>
            <a:r>
              <a:rPr dirty="0"/>
              <a:t> </a:t>
            </a:r>
            <a:r>
              <a:rPr dirty="0" err="1"/>
              <a:t>בכלל</a:t>
            </a:r>
            <a:r>
              <a:rPr dirty="0"/>
              <a:t> </a:t>
            </a:r>
            <a:r>
              <a:rPr dirty="0" err="1"/>
              <a:t>לחשוב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זה. זה </a:t>
            </a:r>
            <a:r>
              <a:rPr dirty="0" err="1"/>
              <a:t>KungFlow</a:t>
            </a:r>
            <a:r>
              <a:rPr dirty="0"/>
              <a:t>. </a:t>
            </a:r>
            <a:r>
              <a:rPr dirty="0" err="1"/>
              <a:t>תחשבו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זה </a:t>
            </a:r>
            <a:r>
              <a:rPr dirty="0" err="1"/>
              <a:t>כמו</a:t>
            </a:r>
            <a:r>
              <a:rPr dirty="0"/>
              <a:t> </a:t>
            </a:r>
            <a:r>
              <a:rPr dirty="0" err="1"/>
              <a:t>חומת</a:t>
            </a:r>
            <a:r>
              <a:rPr dirty="0"/>
              <a:t> </a:t>
            </a:r>
            <a:r>
              <a:rPr dirty="0" err="1"/>
              <a:t>אש</a:t>
            </a:r>
            <a:r>
              <a:rPr dirty="0"/>
              <a:t>, </a:t>
            </a:r>
            <a:r>
              <a:rPr dirty="0" err="1"/>
              <a:t>אבל</a:t>
            </a:r>
            <a:r>
              <a:rPr dirty="0"/>
              <a:t> </a:t>
            </a:r>
            <a:r>
              <a:rPr dirty="0" err="1"/>
              <a:t>לריכוז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שלב</a:t>
            </a:r>
            <a:r>
              <a:rPr dirty="0"/>
              <a:t> </a:t>
            </a:r>
            <a:r>
              <a:rPr dirty="0" err="1"/>
              <a:t>ראשון</a:t>
            </a:r>
            <a:r>
              <a:rPr dirty="0"/>
              <a:t> — </a:t>
            </a:r>
            <a:r>
              <a:rPr dirty="0" err="1"/>
              <a:t>חישה</a:t>
            </a:r>
            <a:r>
              <a:rPr dirty="0"/>
              <a:t>: </a:t>
            </a:r>
            <a:r>
              <a:rPr dirty="0" err="1"/>
              <a:t>סוכן</a:t>
            </a:r>
            <a:r>
              <a:rPr dirty="0"/>
              <a:t> </a:t>
            </a:r>
            <a:r>
              <a:rPr dirty="0" err="1"/>
              <a:t>שקט</a:t>
            </a:r>
            <a:r>
              <a:rPr dirty="0"/>
              <a:t> </a:t>
            </a:r>
            <a:r>
              <a:rPr dirty="0" err="1"/>
              <a:t>קורא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קצב</a:t>
            </a:r>
            <a:r>
              <a:rPr dirty="0"/>
              <a:t> </a:t>
            </a:r>
            <a:r>
              <a:rPr dirty="0" err="1"/>
              <a:t>התנהגותי</a:t>
            </a:r>
            <a:r>
              <a:rPr dirty="0"/>
              <a:t> — </a:t>
            </a:r>
            <a:r>
              <a:rPr dirty="0" err="1"/>
              <a:t>מהירות</a:t>
            </a:r>
            <a:r>
              <a:rPr dirty="0"/>
              <a:t> </a:t>
            </a:r>
            <a:r>
              <a:rPr dirty="0" err="1"/>
              <a:t>הקלדה</a:t>
            </a:r>
            <a:r>
              <a:rPr dirty="0"/>
              <a:t>, </a:t>
            </a:r>
            <a:r>
              <a:rPr dirty="0" err="1"/>
              <a:t>מעברי</a:t>
            </a:r>
            <a:r>
              <a:rPr dirty="0"/>
              <a:t> </a:t>
            </a:r>
            <a:r>
              <a:rPr dirty="0" err="1"/>
              <a:t>חלונות</a:t>
            </a:r>
            <a:r>
              <a:rPr dirty="0"/>
              <a:t>, </a:t>
            </a:r>
            <a:r>
              <a:rPr dirty="0" err="1"/>
              <a:t>תנועת</a:t>
            </a:r>
            <a:r>
              <a:rPr dirty="0"/>
              <a:t> </a:t>
            </a:r>
            <a:r>
              <a:rPr dirty="0" err="1"/>
              <a:t>עכבר</a:t>
            </a:r>
            <a:r>
              <a:rPr dirty="0"/>
              <a:t>. </a:t>
            </a:r>
            <a:r>
              <a:rPr dirty="0" err="1"/>
              <a:t>פעם</a:t>
            </a:r>
            <a:r>
              <a:rPr dirty="0"/>
              <a:t> </a:t>
            </a:r>
            <a:r>
              <a:rPr dirty="0" err="1"/>
              <a:t>בדקה</a:t>
            </a:r>
            <a:r>
              <a:rPr dirty="0"/>
              <a:t>, </a:t>
            </a:r>
            <a:r>
              <a:rPr dirty="0" err="1"/>
              <a:t>ברקע</a:t>
            </a:r>
            <a:r>
              <a:rPr dirty="0"/>
              <a:t> </a:t>
            </a:r>
            <a:r>
              <a:rPr dirty="0" err="1"/>
              <a:t>מוחלט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שלב</a:t>
            </a:r>
            <a:r>
              <a:rPr dirty="0"/>
              <a:t> </a:t>
            </a:r>
            <a:r>
              <a:rPr dirty="0" err="1"/>
              <a:t>שני</a:t>
            </a:r>
            <a:r>
              <a:rPr dirty="0"/>
              <a:t> — </a:t>
            </a:r>
            <a:r>
              <a:rPr dirty="0" err="1"/>
              <a:t>הבנה</a:t>
            </a:r>
            <a:r>
              <a:rPr dirty="0"/>
              <a:t>: </a:t>
            </a:r>
            <a:r>
              <a:rPr dirty="0" err="1"/>
              <a:t>מחשב</a:t>
            </a:r>
            <a:r>
              <a:rPr dirty="0"/>
              <a:t> </a:t>
            </a:r>
            <a:r>
              <a:rPr dirty="0" err="1"/>
              <a:t>ציון</a:t>
            </a:r>
            <a:r>
              <a:rPr dirty="0"/>
              <a:t> </a:t>
            </a:r>
            <a:r>
              <a:rPr dirty="0" err="1"/>
              <a:t>עומס</a:t>
            </a:r>
            <a:r>
              <a:rPr dirty="0"/>
              <a:t> </a:t>
            </a:r>
            <a:r>
              <a:rPr dirty="0" err="1"/>
              <a:t>קוגניטיבי</a:t>
            </a:r>
            <a:r>
              <a:rPr dirty="0"/>
              <a:t> </a:t>
            </a:r>
            <a:r>
              <a:rPr dirty="0" err="1"/>
              <a:t>ומשווה</a:t>
            </a:r>
            <a:r>
              <a:rPr dirty="0"/>
              <a:t> </a:t>
            </a:r>
            <a:r>
              <a:rPr dirty="0" err="1"/>
              <a:t>לבייסליין</a:t>
            </a:r>
            <a:r>
              <a:rPr dirty="0"/>
              <a:t> </a:t>
            </a:r>
            <a:r>
              <a:rPr dirty="0" err="1"/>
              <a:t>אישי</a:t>
            </a:r>
            <a:r>
              <a:rPr dirty="0"/>
              <a:t> </a:t>
            </a:r>
            <a:r>
              <a:rPr dirty="0" err="1"/>
              <a:t>שנלמד</a:t>
            </a:r>
            <a:r>
              <a:rPr dirty="0"/>
              <a:t> </a:t>
            </a:r>
            <a:r>
              <a:rPr dirty="0" err="1"/>
              <a:t>לכל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.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שנורמלי</a:t>
            </a:r>
            <a:r>
              <a:rPr dirty="0"/>
              <a:t> </a:t>
            </a:r>
            <a:r>
              <a:rPr dirty="0" err="1"/>
              <a:t>בשבילי</a:t>
            </a:r>
            <a:r>
              <a:rPr dirty="0"/>
              <a:t> </a:t>
            </a:r>
            <a:r>
              <a:rPr dirty="0" err="1"/>
              <a:t>שונה</a:t>
            </a:r>
            <a:r>
              <a:rPr dirty="0"/>
              <a:t> </a:t>
            </a:r>
            <a:r>
              <a:rPr dirty="0" err="1"/>
              <a:t>ממה</a:t>
            </a:r>
            <a:r>
              <a:rPr dirty="0"/>
              <a:t> </a:t>
            </a:r>
            <a:r>
              <a:rPr dirty="0" err="1"/>
              <a:t>שנורמלי</a:t>
            </a:r>
            <a:r>
              <a:rPr dirty="0"/>
              <a:t> </a:t>
            </a:r>
            <a:r>
              <a:rPr dirty="0" err="1"/>
              <a:t>בשבילכם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שלב</a:t>
            </a:r>
            <a:r>
              <a:rPr dirty="0"/>
              <a:t> </a:t>
            </a:r>
            <a:r>
              <a:rPr dirty="0" err="1"/>
              <a:t>שלישי</a:t>
            </a:r>
            <a:r>
              <a:rPr dirty="0"/>
              <a:t> — </a:t>
            </a:r>
            <a:r>
              <a:rPr dirty="0" err="1"/>
              <a:t>הגנה</a:t>
            </a:r>
            <a:r>
              <a:rPr dirty="0"/>
              <a:t>: </a:t>
            </a:r>
            <a:r>
              <a:rPr dirty="0" err="1"/>
              <a:t>כשהציון</a:t>
            </a:r>
            <a:r>
              <a:rPr dirty="0"/>
              <a:t> </a:t>
            </a:r>
            <a:r>
              <a:rPr dirty="0" err="1"/>
              <a:t>חוצה</a:t>
            </a:r>
            <a:r>
              <a:rPr dirty="0"/>
              <a:t> 125% </a:t>
            </a:r>
            <a:r>
              <a:rPr dirty="0" err="1"/>
              <a:t>מהבייסליין</a:t>
            </a:r>
            <a:r>
              <a:rPr dirty="0"/>
              <a:t>, </a:t>
            </a:r>
            <a:r>
              <a:rPr dirty="0" err="1"/>
              <a:t>החומה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</a:t>
            </a:r>
            <a:r>
              <a:rPr dirty="0" err="1"/>
              <a:t>לבד</a:t>
            </a:r>
            <a:r>
              <a:rPr dirty="0"/>
              <a:t> — </a:t>
            </a:r>
            <a:r>
              <a:rPr lang="he-IL" dirty="0"/>
              <a:t>השתקת ההפרעות פועלת</a:t>
            </a:r>
            <a:r>
              <a:rPr dirty="0"/>
              <a:t>, </a:t>
            </a:r>
            <a:r>
              <a:rPr lang="he-IL" dirty="0"/>
              <a:t>אפליקציות מפריעות נחסמות</a:t>
            </a:r>
            <a:r>
              <a:rPr dirty="0"/>
              <a:t>. </a:t>
            </a:r>
            <a:r>
              <a:rPr dirty="0" err="1"/>
              <a:t>כשהעומס</a:t>
            </a:r>
            <a:r>
              <a:rPr dirty="0"/>
              <a:t> </a:t>
            </a:r>
            <a:r>
              <a:rPr dirty="0" err="1"/>
              <a:t>יורד</a:t>
            </a:r>
            <a:r>
              <a:rPr dirty="0"/>
              <a:t>, </a:t>
            </a:r>
            <a:r>
              <a:rPr dirty="0" err="1"/>
              <a:t>הכול</a:t>
            </a:r>
            <a:r>
              <a:rPr dirty="0"/>
              <a:t> </a:t>
            </a:r>
            <a:r>
              <a:rPr dirty="0" err="1"/>
              <a:t>חוזר</a:t>
            </a:r>
            <a:r>
              <a:rPr dirty="0"/>
              <a:t>. </a:t>
            </a:r>
            <a:r>
              <a:rPr dirty="0" err="1"/>
              <a:t>לבד</a:t>
            </a:r>
            <a:r>
              <a:rPr dirty="0"/>
              <a:t>.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כפתורים</a:t>
            </a:r>
            <a:r>
              <a:rPr dirty="0"/>
              <a:t>,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כוח</a:t>
            </a:r>
            <a:r>
              <a:rPr dirty="0"/>
              <a:t> </a:t>
            </a:r>
            <a:r>
              <a:rPr dirty="0" err="1"/>
              <a:t>רצון</a:t>
            </a:r>
            <a:r>
              <a:rPr dirty="0"/>
              <a:t>,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הרגלים</a:t>
            </a:r>
            <a:r>
              <a:rPr dirty="0"/>
              <a:t> </a:t>
            </a:r>
            <a:r>
              <a:rPr dirty="0" err="1"/>
              <a:t>חדשים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רעיון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שקף</a:t>
            </a:r>
            <a:r>
              <a:rPr dirty="0"/>
              <a:t> — זה </a:t>
            </a:r>
            <a:r>
              <a:rPr dirty="0" err="1"/>
              <a:t>רץ</a:t>
            </a:r>
            <a:r>
              <a:rPr dirty="0"/>
              <a:t>. </a:t>
            </a:r>
            <a:r>
              <a:rPr dirty="0" err="1"/>
              <a:t>תראו</a:t>
            </a:r>
            <a:r>
              <a:rPr dirty="0"/>
              <a:t>.']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7 — </a:t>
            </a:r>
            <a:r>
              <a:rPr dirty="0" err="1"/>
              <a:t>המוצר</a:t>
            </a:r>
            <a:r>
              <a:rPr dirty="0"/>
              <a:t> | 4:15–4:45]</a:t>
            </a:r>
          </a:p>
          <a:p>
            <a:pPr algn="r" rtl="1"/>
            <a:endParaRPr dirty="0"/>
          </a:p>
          <a:p>
            <a:pPr algn="r" rtl="1"/>
            <a:r>
              <a:rPr dirty="0"/>
              <a:t>זה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עצמו</a:t>
            </a:r>
            <a:r>
              <a:rPr dirty="0"/>
              <a:t>, </a:t>
            </a:r>
            <a:r>
              <a:rPr dirty="0" err="1"/>
              <a:t>רץ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Windows. </a:t>
            </a:r>
            <a:r>
              <a:rPr dirty="0" err="1"/>
              <a:t>ולא</a:t>
            </a:r>
            <a:r>
              <a:rPr dirty="0"/>
              <a:t> </a:t>
            </a:r>
            <a:r>
              <a:rPr dirty="0" err="1"/>
              <a:t>מוקאפ</a:t>
            </a:r>
            <a:r>
              <a:rPr dirty="0"/>
              <a:t> — </a:t>
            </a:r>
            <a:r>
              <a:rPr dirty="0" err="1"/>
              <a:t>גרסה</a:t>
            </a:r>
            <a:r>
              <a:rPr dirty="0"/>
              <a:t> </a:t>
            </a:r>
            <a:r>
              <a:rPr dirty="0" err="1"/>
              <a:t>ראשונה</a:t>
            </a:r>
            <a:r>
              <a:rPr dirty="0"/>
              <a:t> </a:t>
            </a:r>
            <a:r>
              <a:rPr dirty="0" err="1"/>
              <a:t>עובדת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משמאל</a:t>
            </a:r>
            <a:r>
              <a:rPr dirty="0"/>
              <a:t> </a:t>
            </a:r>
            <a:r>
              <a:rPr dirty="0" err="1"/>
              <a:t>מצב</a:t>
            </a:r>
            <a:r>
              <a:rPr dirty="0"/>
              <a:t> </a:t>
            </a:r>
            <a:r>
              <a:rPr dirty="0" err="1"/>
              <a:t>ירוק</a:t>
            </a:r>
            <a:r>
              <a:rPr dirty="0"/>
              <a:t>: </a:t>
            </a:r>
            <a:r>
              <a:rPr dirty="0" err="1"/>
              <a:t>העומס</a:t>
            </a:r>
            <a:r>
              <a:rPr dirty="0"/>
              <a:t> </a:t>
            </a:r>
            <a:r>
              <a:rPr dirty="0" err="1"/>
              <a:t>תקין</a:t>
            </a:r>
            <a:r>
              <a:rPr dirty="0"/>
              <a:t>, </a:t>
            </a:r>
            <a:r>
              <a:rPr dirty="0" err="1"/>
              <a:t>הכול</a:t>
            </a:r>
            <a:r>
              <a:rPr dirty="0"/>
              <a:t> </a:t>
            </a:r>
            <a:r>
              <a:rPr dirty="0" err="1"/>
              <a:t>עובר</a:t>
            </a:r>
            <a:r>
              <a:rPr dirty="0"/>
              <a:t> </a:t>
            </a:r>
            <a:r>
              <a:rPr dirty="0" err="1"/>
              <a:t>כרגיל</a:t>
            </a:r>
            <a:r>
              <a:rPr dirty="0"/>
              <a:t>. </a:t>
            </a:r>
            <a:r>
              <a:rPr dirty="0" err="1"/>
              <a:t>מימין</a:t>
            </a:r>
            <a:r>
              <a:rPr dirty="0"/>
              <a:t>: </a:t>
            </a:r>
            <a:r>
              <a:rPr dirty="0" err="1"/>
              <a:t>המערכת</a:t>
            </a:r>
            <a:r>
              <a:rPr dirty="0"/>
              <a:t> </a:t>
            </a:r>
            <a:r>
              <a:rPr dirty="0" err="1"/>
              <a:t>זיהתה</a:t>
            </a:r>
            <a:r>
              <a:rPr dirty="0"/>
              <a:t> </a:t>
            </a:r>
            <a:r>
              <a:rPr dirty="0" err="1"/>
              <a:t>עומס</a:t>
            </a:r>
            <a:r>
              <a:rPr dirty="0"/>
              <a:t> — </a:t>
            </a:r>
            <a:r>
              <a:rPr dirty="0" err="1"/>
              <a:t>העיגול</a:t>
            </a:r>
            <a:r>
              <a:rPr dirty="0"/>
              <a:t> </a:t>
            </a:r>
            <a:r>
              <a:rPr dirty="0" err="1"/>
              <a:t>אדום</a:t>
            </a:r>
            <a:r>
              <a:rPr dirty="0"/>
              <a:t>, </a:t>
            </a:r>
            <a:r>
              <a:rPr dirty="0" err="1"/>
              <a:t>חומת</a:t>
            </a:r>
            <a:r>
              <a:rPr dirty="0"/>
              <a:t> </a:t>
            </a:r>
            <a:r>
              <a:rPr dirty="0" err="1"/>
              <a:t>האש</a:t>
            </a:r>
            <a:r>
              <a:rPr dirty="0"/>
              <a:t> </a:t>
            </a:r>
            <a:r>
              <a:rPr dirty="0" err="1"/>
              <a:t>פעילה</a:t>
            </a:r>
            <a:r>
              <a:rPr dirty="0"/>
              <a:t>, </a:t>
            </a:r>
            <a:r>
              <a:rPr dirty="0" err="1"/>
              <a:t>וההתראות</a:t>
            </a:r>
            <a:r>
              <a:rPr dirty="0"/>
              <a:t> </a:t>
            </a:r>
            <a:r>
              <a:rPr dirty="0" err="1"/>
              <a:t>נחסמות</a:t>
            </a:r>
            <a:r>
              <a:rPr dirty="0"/>
              <a:t> </a:t>
            </a:r>
            <a:r>
              <a:rPr dirty="0" err="1"/>
              <a:t>בשקט</a:t>
            </a:r>
            <a:r>
              <a:rPr dirty="0"/>
              <a:t>. </a:t>
            </a:r>
            <a:r>
              <a:rPr dirty="0" err="1"/>
              <a:t>שימו</a:t>
            </a:r>
            <a:r>
              <a:rPr dirty="0"/>
              <a:t> </a:t>
            </a:r>
            <a:r>
              <a:rPr dirty="0" err="1"/>
              <a:t>לב</a:t>
            </a:r>
            <a:r>
              <a:rPr dirty="0"/>
              <a:t> </a:t>
            </a:r>
            <a:r>
              <a:rPr dirty="0" err="1"/>
              <a:t>שהעובד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עשה</a:t>
            </a:r>
            <a:r>
              <a:rPr dirty="0"/>
              <a:t> </a:t>
            </a:r>
            <a:r>
              <a:rPr dirty="0" err="1"/>
              <a:t>כלום</a:t>
            </a:r>
            <a:r>
              <a:rPr dirty="0"/>
              <a:t> — </a:t>
            </a:r>
            <a:r>
              <a:rPr dirty="0" err="1"/>
              <a:t>המעבר</a:t>
            </a:r>
            <a:r>
              <a:rPr dirty="0"/>
              <a:t> </a:t>
            </a:r>
            <a:r>
              <a:rPr dirty="0" err="1"/>
              <a:t>קרה</a:t>
            </a:r>
            <a:r>
              <a:rPr dirty="0"/>
              <a:t> </a:t>
            </a:r>
            <a:r>
              <a:rPr dirty="0" err="1"/>
              <a:t>לבד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מתחת</a:t>
            </a:r>
            <a:r>
              <a:rPr dirty="0"/>
              <a:t> </a:t>
            </a:r>
            <a:r>
              <a:rPr dirty="0" err="1"/>
              <a:t>למכסה</a:t>
            </a:r>
            <a:r>
              <a:rPr dirty="0"/>
              <a:t>: </a:t>
            </a:r>
            <a:r>
              <a:rPr dirty="0" err="1"/>
              <a:t>סוכן</a:t>
            </a:r>
            <a:r>
              <a:rPr dirty="0"/>
              <a:t> </a:t>
            </a:r>
            <a:r>
              <a:rPr dirty="0" err="1"/>
              <a:t>דסקטופ</a:t>
            </a:r>
            <a:r>
              <a:rPr dirty="0"/>
              <a:t>, </a:t>
            </a:r>
            <a:r>
              <a:rPr dirty="0" err="1"/>
              <a:t>ושרת</a:t>
            </a:r>
            <a:r>
              <a:rPr dirty="0"/>
              <a:t> </a:t>
            </a:r>
            <a:r>
              <a:rPr dirty="0" err="1"/>
              <a:t>ענן</a:t>
            </a:r>
            <a:r>
              <a:rPr dirty="0"/>
              <a:t> </a:t>
            </a:r>
            <a:r>
              <a:rPr dirty="0" err="1"/>
              <a:t>שמחשב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הציון</a:t>
            </a:r>
            <a:r>
              <a:rPr dirty="0"/>
              <a:t>. </a:t>
            </a:r>
            <a:r>
              <a:rPr dirty="0" err="1"/>
              <a:t>אשמח</a:t>
            </a:r>
            <a:r>
              <a:rPr dirty="0"/>
              <a:t> </a:t>
            </a:r>
            <a:r>
              <a:rPr dirty="0" err="1"/>
              <a:t>להראות</a:t>
            </a:r>
            <a:r>
              <a:rPr dirty="0"/>
              <a:t> </a:t>
            </a:r>
            <a:r>
              <a:rPr dirty="0" err="1"/>
              <a:t>הדגמה</a:t>
            </a:r>
            <a:r>
              <a:rPr dirty="0"/>
              <a:t> </a:t>
            </a:r>
            <a:r>
              <a:rPr dirty="0" err="1"/>
              <a:t>חיה</a:t>
            </a:r>
            <a:r>
              <a:rPr dirty="0"/>
              <a:t> </a:t>
            </a:r>
            <a:r>
              <a:rPr dirty="0" err="1"/>
              <a:t>אחרי</a:t>
            </a:r>
            <a:r>
              <a:rPr dirty="0"/>
              <a:t> </a:t>
            </a:r>
            <a:r>
              <a:rPr dirty="0" err="1"/>
              <a:t>הפיץ</a:t>
            </a:r>
            <a:r>
              <a:rPr dirty="0"/>
              <a:t>'.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קצר</a:t>
            </a:r>
            <a:r>
              <a:rPr dirty="0"/>
              <a:t>. </a:t>
            </a:r>
            <a:r>
              <a:rPr dirty="0" err="1"/>
              <a:t>לתת</a:t>
            </a:r>
            <a:r>
              <a:rPr dirty="0"/>
              <a:t> </a:t>
            </a:r>
            <a:r>
              <a:rPr dirty="0" err="1"/>
              <a:t>לתמונה</a:t>
            </a:r>
            <a:r>
              <a:rPr dirty="0"/>
              <a:t> </a:t>
            </a:r>
            <a:r>
              <a:rPr dirty="0" err="1"/>
              <a:t>לדבר</a:t>
            </a:r>
            <a:r>
              <a:rPr dirty="0"/>
              <a:t>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8 — </a:t>
            </a:r>
            <a:r>
              <a:rPr dirty="0" err="1"/>
              <a:t>אמון</a:t>
            </a:r>
            <a:r>
              <a:rPr dirty="0"/>
              <a:t> </a:t>
            </a:r>
            <a:r>
              <a:rPr dirty="0" err="1"/>
              <a:t>ופרטיות</a:t>
            </a:r>
            <a:r>
              <a:rPr dirty="0"/>
              <a:t> | 4:45–5:30]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השאלה</a:t>
            </a:r>
            <a:r>
              <a:rPr dirty="0"/>
              <a:t> </a:t>
            </a:r>
            <a:r>
              <a:rPr dirty="0" err="1"/>
              <a:t>הראשונה</a:t>
            </a:r>
            <a:r>
              <a:rPr dirty="0"/>
              <a:t> </a:t>
            </a:r>
            <a:r>
              <a:rPr dirty="0" err="1"/>
              <a:t>שכל</a:t>
            </a:r>
            <a:r>
              <a:rPr dirty="0"/>
              <a:t> </a:t>
            </a:r>
            <a:r>
              <a:rPr dirty="0" err="1"/>
              <a:t>ארגון</a:t>
            </a:r>
            <a:r>
              <a:rPr dirty="0"/>
              <a:t> </a:t>
            </a:r>
            <a:r>
              <a:rPr dirty="0" err="1"/>
              <a:t>שואל</a:t>
            </a:r>
            <a:r>
              <a:rPr dirty="0"/>
              <a:t>: '</a:t>
            </a:r>
            <a:r>
              <a:rPr dirty="0" err="1"/>
              <a:t>רגע</a:t>
            </a:r>
            <a:r>
              <a:rPr dirty="0"/>
              <a:t>, </a:t>
            </a:r>
            <a:r>
              <a:rPr dirty="0" err="1"/>
              <a:t>זו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תוכנת</a:t>
            </a:r>
            <a:r>
              <a:rPr dirty="0"/>
              <a:t> </a:t>
            </a:r>
            <a:r>
              <a:rPr dirty="0" err="1"/>
              <a:t>ריגול</a:t>
            </a:r>
            <a:r>
              <a:rPr dirty="0"/>
              <a:t> </a:t>
            </a:r>
            <a:r>
              <a:rPr dirty="0" err="1"/>
              <a:t>אחרי</a:t>
            </a:r>
            <a:r>
              <a:rPr dirty="0"/>
              <a:t> </a:t>
            </a:r>
            <a:r>
              <a:rPr dirty="0" err="1"/>
              <a:t>עובדים</a:t>
            </a:r>
            <a:r>
              <a:rPr dirty="0"/>
              <a:t>?' </a:t>
            </a:r>
            <a:r>
              <a:rPr dirty="0" err="1"/>
              <a:t>התשובה</a:t>
            </a:r>
            <a:r>
              <a:rPr dirty="0"/>
              <a:t>: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ההפך</a:t>
            </a:r>
            <a:r>
              <a:rPr dirty="0"/>
              <a:t>, </a:t>
            </a:r>
            <a:r>
              <a:rPr dirty="0" err="1"/>
              <a:t>ובכוונה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KungFlow</a:t>
            </a:r>
            <a:r>
              <a:rPr dirty="0"/>
              <a:t> </a:t>
            </a:r>
            <a:r>
              <a:rPr dirty="0" err="1"/>
              <a:t>אף</a:t>
            </a:r>
            <a:r>
              <a:rPr dirty="0"/>
              <a:t> </a:t>
            </a:r>
            <a:r>
              <a:rPr dirty="0" err="1"/>
              <a:t>פעם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רואה</a:t>
            </a:r>
            <a:r>
              <a:rPr dirty="0"/>
              <a:t> </a:t>
            </a:r>
            <a:r>
              <a:rPr dirty="0" err="1"/>
              <a:t>תוכן</a:t>
            </a:r>
            <a:r>
              <a:rPr dirty="0"/>
              <a:t> —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מקלידים</a:t>
            </a:r>
            <a:r>
              <a:rPr dirty="0"/>
              <a:t>,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אילו</a:t>
            </a:r>
            <a:r>
              <a:rPr dirty="0"/>
              <a:t> </a:t>
            </a:r>
            <a:r>
              <a:rPr dirty="0" err="1"/>
              <a:t>אתרים</a:t>
            </a:r>
            <a:r>
              <a:rPr dirty="0"/>
              <a:t>,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אילו</a:t>
            </a:r>
            <a:r>
              <a:rPr dirty="0"/>
              <a:t> </a:t>
            </a:r>
            <a:r>
              <a:rPr dirty="0" err="1"/>
              <a:t>מסמכים</a:t>
            </a:r>
            <a:r>
              <a:rPr dirty="0"/>
              <a:t>, </a:t>
            </a:r>
            <a:r>
              <a:rPr dirty="0" err="1"/>
              <a:t>ואין</a:t>
            </a:r>
            <a:r>
              <a:rPr dirty="0"/>
              <a:t> </a:t>
            </a:r>
            <a:r>
              <a:rPr dirty="0" err="1"/>
              <a:t>צילומי</a:t>
            </a:r>
            <a:r>
              <a:rPr dirty="0"/>
              <a:t> </a:t>
            </a:r>
            <a:r>
              <a:rPr dirty="0" err="1"/>
              <a:t>מסך</a:t>
            </a:r>
            <a:r>
              <a:rPr dirty="0"/>
              <a:t>.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קצב</a:t>
            </a:r>
            <a:r>
              <a:rPr dirty="0"/>
              <a:t> </a:t>
            </a:r>
            <a:r>
              <a:rPr dirty="0" err="1"/>
              <a:t>התנהגותי</a:t>
            </a:r>
            <a:r>
              <a:rPr dirty="0"/>
              <a:t>. </a:t>
            </a:r>
            <a:r>
              <a:rPr dirty="0" err="1"/>
              <a:t>וחשוב</a:t>
            </a:r>
            <a:r>
              <a:rPr dirty="0"/>
              <a:t> </a:t>
            </a:r>
            <a:r>
              <a:rPr dirty="0" err="1"/>
              <a:t>מכל</a:t>
            </a:r>
            <a:r>
              <a:rPr dirty="0"/>
              <a:t>: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הנתונים</a:t>
            </a:r>
            <a:r>
              <a:rPr dirty="0"/>
              <a:t> </a:t>
            </a:r>
            <a:r>
              <a:rPr dirty="0" err="1"/>
              <a:t>עוברים</a:t>
            </a:r>
            <a:r>
              <a:rPr dirty="0"/>
              <a:t> </a:t>
            </a:r>
            <a:r>
              <a:rPr dirty="0" err="1"/>
              <a:t>אנונימיזציה</a:t>
            </a:r>
            <a:r>
              <a:rPr dirty="0"/>
              <a:t> </a:t>
            </a:r>
            <a:r>
              <a:rPr dirty="0" err="1"/>
              <a:t>ואגרגציה</a:t>
            </a:r>
            <a:r>
              <a:rPr dirty="0"/>
              <a:t> — </a:t>
            </a:r>
            <a:r>
              <a:rPr dirty="0" err="1"/>
              <a:t>מנהל</a:t>
            </a:r>
            <a:r>
              <a:rPr dirty="0"/>
              <a:t> </a:t>
            </a:r>
            <a:r>
              <a:rPr dirty="0" err="1"/>
              <a:t>רואה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מגמות</a:t>
            </a:r>
            <a:r>
              <a:rPr dirty="0"/>
              <a:t> </a:t>
            </a:r>
            <a:r>
              <a:rPr dirty="0" err="1"/>
              <a:t>ברמת</a:t>
            </a:r>
            <a:r>
              <a:rPr dirty="0"/>
              <a:t> </a:t>
            </a:r>
            <a:r>
              <a:rPr dirty="0" err="1"/>
              <a:t>הצוות</a:t>
            </a:r>
            <a:r>
              <a:rPr dirty="0"/>
              <a:t>, </a:t>
            </a:r>
            <a:r>
              <a:rPr dirty="0" err="1"/>
              <a:t>אף</a:t>
            </a:r>
            <a:r>
              <a:rPr dirty="0"/>
              <a:t> </a:t>
            </a:r>
            <a:r>
              <a:rPr dirty="0" err="1"/>
              <a:t>פעם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ציון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בודד</a:t>
            </a:r>
            <a:r>
              <a:rPr dirty="0"/>
              <a:t>. </a:t>
            </a:r>
            <a:r>
              <a:rPr dirty="0" err="1"/>
              <a:t>וכל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 </a:t>
            </a:r>
            <a:r>
              <a:rPr dirty="0" err="1"/>
              <a:t>יכול</a:t>
            </a:r>
            <a:r>
              <a:rPr dirty="0"/>
              <a:t> </a:t>
            </a:r>
            <a:r>
              <a:rPr dirty="0" err="1"/>
              <a:t>לעצור</a:t>
            </a:r>
            <a:r>
              <a:rPr dirty="0"/>
              <a:t> </a:t>
            </a:r>
            <a:r>
              <a:rPr dirty="0" err="1"/>
              <a:t>איסוף</a:t>
            </a:r>
            <a:r>
              <a:rPr dirty="0"/>
              <a:t> </a:t>
            </a:r>
            <a:r>
              <a:rPr dirty="0" err="1"/>
              <a:t>נתונים</a:t>
            </a:r>
            <a:r>
              <a:rPr dirty="0"/>
              <a:t> </a:t>
            </a:r>
            <a:r>
              <a:rPr dirty="0" err="1"/>
              <a:t>בלחיצה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</a:t>
            </a:r>
            <a:r>
              <a:rPr dirty="0" err="1"/>
              <a:t>טכני</a:t>
            </a:r>
            <a:r>
              <a:rPr dirty="0"/>
              <a:t> — זה </a:t>
            </a:r>
            <a:r>
              <a:rPr dirty="0" err="1"/>
              <a:t>עקרוני</a:t>
            </a:r>
            <a:r>
              <a:rPr dirty="0"/>
              <a:t>: </a:t>
            </a:r>
            <a:r>
              <a:rPr dirty="0" err="1"/>
              <a:t>מחקר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APA </a:t>
            </a:r>
            <a:r>
              <a:rPr dirty="0" err="1"/>
              <a:t>מראה</a:t>
            </a:r>
            <a:r>
              <a:rPr dirty="0"/>
              <a:t> ש-56% </a:t>
            </a:r>
            <a:r>
              <a:rPr dirty="0" err="1"/>
              <a:t>מהעובדים</a:t>
            </a:r>
            <a:r>
              <a:rPr dirty="0"/>
              <a:t> </a:t>
            </a:r>
            <a:r>
              <a:rPr dirty="0" err="1"/>
              <a:t>שמנוטרים</a:t>
            </a:r>
            <a:r>
              <a:rPr dirty="0"/>
              <a:t> </a:t>
            </a:r>
            <a:r>
              <a:rPr dirty="0" err="1"/>
              <a:t>דיגיטלית</a:t>
            </a:r>
            <a:r>
              <a:rPr dirty="0"/>
              <a:t> </a:t>
            </a:r>
            <a:r>
              <a:rPr dirty="0" err="1"/>
              <a:t>מרגישים</a:t>
            </a:r>
            <a:r>
              <a:rPr dirty="0"/>
              <a:t> </a:t>
            </a:r>
            <a:r>
              <a:rPr dirty="0" err="1"/>
              <a:t>מתוחים</a:t>
            </a:r>
            <a:r>
              <a:rPr dirty="0"/>
              <a:t>, </a:t>
            </a:r>
            <a:r>
              <a:rPr dirty="0" err="1"/>
              <a:t>מול</a:t>
            </a:r>
            <a:r>
              <a:rPr dirty="0"/>
              <a:t> 40% </a:t>
            </a:r>
            <a:r>
              <a:rPr dirty="0" err="1"/>
              <a:t>אצל</a:t>
            </a:r>
            <a:r>
              <a:rPr dirty="0"/>
              <a:t> </a:t>
            </a:r>
            <a:r>
              <a:rPr dirty="0" err="1"/>
              <a:t>מי</a:t>
            </a:r>
            <a:r>
              <a:rPr dirty="0"/>
              <a:t> </a:t>
            </a:r>
            <a:r>
              <a:rPr dirty="0" err="1"/>
              <a:t>שלא</a:t>
            </a:r>
            <a:r>
              <a:rPr dirty="0"/>
              <a:t>. </a:t>
            </a:r>
            <a:r>
              <a:rPr dirty="0" err="1"/>
              <a:t>ניטור</a:t>
            </a:r>
            <a:r>
              <a:rPr dirty="0"/>
              <a:t> </a:t>
            </a:r>
            <a:r>
              <a:rPr dirty="0" err="1"/>
              <a:t>פוגע</a:t>
            </a:r>
            <a:r>
              <a:rPr dirty="0"/>
              <a:t>. </a:t>
            </a:r>
            <a:r>
              <a:rPr dirty="0" err="1"/>
              <a:t>אז</a:t>
            </a:r>
            <a:r>
              <a:rPr dirty="0"/>
              <a:t> </a:t>
            </a:r>
            <a:r>
              <a:rPr dirty="0" err="1"/>
              <a:t>הפכנו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המודל</a:t>
            </a:r>
            <a:r>
              <a:rPr dirty="0"/>
              <a:t> — </a:t>
            </a:r>
            <a:r>
              <a:rPr dirty="0" err="1"/>
              <a:t>הדאטה</a:t>
            </a:r>
            <a:r>
              <a:rPr dirty="0"/>
              <a:t> </a:t>
            </a:r>
            <a:r>
              <a:rPr dirty="0" err="1"/>
              <a:t>שייכת</a:t>
            </a:r>
            <a:r>
              <a:rPr dirty="0"/>
              <a:t> </a:t>
            </a:r>
            <a:r>
              <a:rPr dirty="0" err="1"/>
              <a:t>לעובד</a:t>
            </a:r>
            <a:r>
              <a:rPr dirty="0"/>
              <a:t> </a:t>
            </a:r>
            <a:r>
              <a:rPr dirty="0" err="1"/>
              <a:t>ועובדת</a:t>
            </a:r>
            <a:r>
              <a:rPr dirty="0"/>
              <a:t> </a:t>
            </a:r>
            <a:r>
              <a:rPr dirty="0" err="1"/>
              <a:t>בשבילו</a:t>
            </a:r>
            <a:r>
              <a:rPr dirty="0"/>
              <a:t>. </a:t>
            </a:r>
            <a:r>
              <a:rPr dirty="0" err="1"/>
              <a:t>פיצ'ר</a:t>
            </a:r>
            <a:r>
              <a:rPr dirty="0"/>
              <a:t>,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שוט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ויש</a:t>
            </a:r>
            <a:r>
              <a:rPr dirty="0"/>
              <a:t> </a:t>
            </a:r>
            <a:r>
              <a:rPr dirty="0" err="1"/>
              <a:t>לנו</a:t>
            </a:r>
            <a:r>
              <a:rPr dirty="0"/>
              <a:t> </a:t>
            </a:r>
            <a:r>
              <a:rPr dirty="0" err="1"/>
              <a:t>גם</a:t>
            </a:r>
            <a:r>
              <a:rPr dirty="0"/>
              <a:t> </a:t>
            </a:r>
            <a:r>
              <a:rPr dirty="0" err="1"/>
              <a:t>הוכחה</a:t>
            </a:r>
            <a:r>
              <a:rPr dirty="0"/>
              <a:t> </a:t>
            </a:r>
            <a:r>
              <a:rPr dirty="0" err="1"/>
              <a:t>שזה</a:t>
            </a:r>
            <a:r>
              <a:rPr dirty="0"/>
              <a:t> </a:t>
            </a:r>
            <a:r>
              <a:rPr dirty="0" err="1"/>
              <a:t>עובד</a:t>
            </a:r>
            <a:r>
              <a:rPr dirty="0"/>
              <a:t>.']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9 — </a:t>
            </a:r>
            <a:r>
              <a:rPr dirty="0" err="1"/>
              <a:t>ולידציה</a:t>
            </a:r>
            <a:r>
              <a:rPr dirty="0"/>
              <a:t> | 5:30–6:10]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רצינו</a:t>
            </a:r>
            <a:r>
              <a:rPr dirty="0"/>
              <a:t> </a:t>
            </a:r>
            <a:r>
              <a:rPr dirty="0" err="1"/>
              <a:t>לבדוק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ההנחה</a:t>
            </a:r>
            <a:r>
              <a:rPr dirty="0"/>
              <a:t> </a:t>
            </a:r>
            <a:r>
              <a:rPr dirty="0" err="1"/>
              <a:t>הבסיסית</a:t>
            </a:r>
            <a:r>
              <a:rPr dirty="0"/>
              <a:t>: </a:t>
            </a:r>
            <a:r>
              <a:rPr dirty="0" err="1"/>
              <a:t>האם</a:t>
            </a:r>
            <a:r>
              <a:rPr dirty="0"/>
              <a:t> </a:t>
            </a:r>
            <a:r>
              <a:rPr dirty="0" err="1"/>
              <a:t>הסרת</a:t>
            </a:r>
            <a:r>
              <a:rPr dirty="0"/>
              <a:t> </a:t>
            </a:r>
            <a:r>
              <a:rPr dirty="0" err="1"/>
              <a:t>הפרעות</a:t>
            </a:r>
            <a:r>
              <a:rPr dirty="0"/>
              <a:t> </a:t>
            </a:r>
            <a:r>
              <a:rPr dirty="0" err="1"/>
              <a:t>באמת</a:t>
            </a:r>
            <a:r>
              <a:rPr dirty="0"/>
              <a:t> </a:t>
            </a:r>
            <a:r>
              <a:rPr dirty="0" err="1"/>
              <a:t>משפרת</a:t>
            </a:r>
            <a:r>
              <a:rPr dirty="0"/>
              <a:t> </a:t>
            </a:r>
            <a:r>
              <a:rPr dirty="0" err="1"/>
              <a:t>ביצועים</a:t>
            </a:r>
            <a:r>
              <a:rPr dirty="0"/>
              <a:t>? </a:t>
            </a:r>
            <a:r>
              <a:rPr dirty="0" err="1"/>
              <a:t>אז</a:t>
            </a:r>
            <a:r>
              <a:rPr dirty="0"/>
              <a:t> </a:t>
            </a:r>
            <a:r>
              <a:rPr dirty="0" err="1"/>
              <a:t>עשינו</a:t>
            </a:r>
            <a:r>
              <a:rPr dirty="0"/>
              <a:t> </a:t>
            </a:r>
            <a:r>
              <a:rPr dirty="0" err="1"/>
              <a:t>ניסוי</a:t>
            </a:r>
            <a:r>
              <a:rPr dirty="0"/>
              <a:t> </a:t>
            </a:r>
            <a:r>
              <a:rPr dirty="0" err="1"/>
              <a:t>מבוקר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נתנו</a:t>
            </a:r>
            <a:r>
              <a:rPr dirty="0"/>
              <a:t> </a:t>
            </a:r>
            <a:r>
              <a:rPr dirty="0" err="1"/>
              <a:t>לנבדקים</a:t>
            </a:r>
            <a:r>
              <a:rPr dirty="0"/>
              <a:t> </a:t>
            </a:r>
            <a:r>
              <a:rPr dirty="0" err="1"/>
              <a:t>מטלת</a:t>
            </a:r>
            <a:r>
              <a:rPr dirty="0"/>
              <a:t> </a:t>
            </a:r>
            <a:r>
              <a:rPr dirty="0" err="1"/>
              <a:t>איתור</a:t>
            </a:r>
            <a:r>
              <a:rPr dirty="0"/>
              <a:t> </a:t>
            </a:r>
            <a:r>
              <a:rPr dirty="0" err="1"/>
              <a:t>ותיקון</a:t>
            </a:r>
            <a:r>
              <a:rPr dirty="0"/>
              <a:t> </a:t>
            </a:r>
            <a:r>
              <a:rPr dirty="0" err="1"/>
              <a:t>שגיאות</a:t>
            </a:r>
            <a:r>
              <a:rPr dirty="0"/>
              <a:t> </a:t>
            </a:r>
            <a:r>
              <a:rPr dirty="0" err="1"/>
              <a:t>בטבלה</a:t>
            </a:r>
            <a:r>
              <a:rPr dirty="0"/>
              <a:t> — 20 </a:t>
            </a:r>
            <a:r>
              <a:rPr dirty="0" err="1"/>
              <a:t>שגיאות</a:t>
            </a:r>
            <a:r>
              <a:rPr dirty="0"/>
              <a:t>, 10 </a:t>
            </a:r>
            <a:r>
              <a:rPr dirty="0" err="1"/>
              <a:t>דקות</a:t>
            </a:r>
            <a:r>
              <a:rPr dirty="0"/>
              <a:t>. </a:t>
            </a:r>
            <a:r>
              <a:rPr dirty="0" err="1"/>
              <a:t>קבוצת</a:t>
            </a:r>
            <a:r>
              <a:rPr dirty="0"/>
              <a:t> </a:t>
            </a:r>
            <a:r>
              <a:rPr dirty="0" err="1"/>
              <a:t>הניסוי</a:t>
            </a:r>
            <a:r>
              <a:rPr dirty="0"/>
              <a:t> </a:t>
            </a:r>
            <a:r>
              <a:rPr dirty="0" err="1"/>
              <a:t>עשתה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זה </a:t>
            </a:r>
            <a:r>
              <a:rPr dirty="0" err="1"/>
              <a:t>פעם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הפרעות</a:t>
            </a:r>
            <a:r>
              <a:rPr dirty="0"/>
              <a:t> </a:t>
            </a:r>
            <a:r>
              <a:rPr dirty="0" err="1"/>
              <a:t>ופעם</a:t>
            </a:r>
            <a:r>
              <a:rPr dirty="0"/>
              <a:t> </a:t>
            </a:r>
            <a:r>
              <a:rPr dirty="0" err="1"/>
              <a:t>בלי</a:t>
            </a:r>
            <a:r>
              <a:rPr dirty="0"/>
              <a:t>, </a:t>
            </a:r>
            <a:r>
              <a:rPr dirty="0" err="1"/>
              <a:t>וקבוצת</a:t>
            </a:r>
            <a:r>
              <a:rPr dirty="0"/>
              <a:t> </a:t>
            </a:r>
            <a:r>
              <a:rPr dirty="0" err="1"/>
              <a:t>ביקורת</a:t>
            </a:r>
            <a:r>
              <a:rPr dirty="0"/>
              <a:t> </a:t>
            </a:r>
            <a:r>
              <a:rPr dirty="0" err="1"/>
              <a:t>מדדה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אפקט</a:t>
            </a:r>
            <a:r>
              <a:rPr dirty="0"/>
              <a:t> </a:t>
            </a:r>
            <a:r>
              <a:rPr dirty="0" err="1"/>
              <a:t>הלמידה</a:t>
            </a:r>
            <a:r>
              <a:rPr dirty="0"/>
              <a:t> </a:t>
            </a:r>
            <a:r>
              <a:rPr dirty="0" err="1"/>
              <a:t>הטבעי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התוצאות</a:t>
            </a:r>
            <a:r>
              <a:rPr dirty="0"/>
              <a:t>: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הפרעות</a:t>
            </a:r>
            <a:r>
              <a:rPr dirty="0"/>
              <a:t> — </a:t>
            </a:r>
            <a:r>
              <a:rPr dirty="0" err="1"/>
              <a:t>ציון</a:t>
            </a:r>
            <a:r>
              <a:rPr dirty="0"/>
              <a:t> </a:t>
            </a:r>
            <a:r>
              <a:rPr dirty="0" err="1"/>
              <a:t>ממוצע</a:t>
            </a:r>
            <a:r>
              <a:rPr dirty="0"/>
              <a:t> 4.6 </a:t>
            </a:r>
            <a:r>
              <a:rPr dirty="0" err="1"/>
              <a:t>מתוך</a:t>
            </a:r>
            <a:r>
              <a:rPr dirty="0"/>
              <a:t> 20. </a:t>
            </a:r>
            <a:r>
              <a:rPr dirty="0" err="1"/>
              <a:t>בלי</a:t>
            </a:r>
            <a:r>
              <a:rPr dirty="0"/>
              <a:t> — 12.2. </a:t>
            </a:r>
            <a:r>
              <a:rPr dirty="0" err="1"/>
              <a:t>שיפור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165%, ו-49% </a:t>
            </a:r>
            <a:r>
              <a:rPr dirty="0" err="1"/>
              <a:t>פחות</a:t>
            </a:r>
            <a:r>
              <a:rPr dirty="0"/>
              <a:t> </a:t>
            </a:r>
            <a:r>
              <a:rPr dirty="0" err="1"/>
              <a:t>שגיאות</a:t>
            </a:r>
            <a:r>
              <a:rPr dirty="0"/>
              <a:t> </a:t>
            </a:r>
            <a:r>
              <a:rPr dirty="0" err="1"/>
              <a:t>שפוספסו</a:t>
            </a:r>
            <a:r>
              <a:rPr dirty="0"/>
              <a:t>. </a:t>
            </a:r>
            <a:r>
              <a:rPr dirty="0" err="1"/>
              <a:t>וגם</a:t>
            </a:r>
            <a:r>
              <a:rPr dirty="0"/>
              <a:t> </a:t>
            </a:r>
            <a:r>
              <a:rPr dirty="0" err="1"/>
              <a:t>אחרי</a:t>
            </a:r>
            <a:r>
              <a:rPr dirty="0"/>
              <a:t> </a:t>
            </a:r>
            <a:r>
              <a:rPr dirty="0" err="1"/>
              <a:t>ניכוי</a:t>
            </a:r>
            <a:r>
              <a:rPr dirty="0"/>
              <a:t> </a:t>
            </a:r>
            <a:r>
              <a:rPr dirty="0" err="1"/>
              <a:t>אפקט</a:t>
            </a:r>
            <a:r>
              <a:rPr dirty="0"/>
              <a:t> </a:t>
            </a:r>
            <a:r>
              <a:rPr dirty="0" err="1"/>
              <a:t>הלמידה</a:t>
            </a:r>
            <a:r>
              <a:rPr dirty="0"/>
              <a:t> — </a:t>
            </a:r>
            <a:r>
              <a:rPr dirty="0" err="1"/>
              <a:t>נשאר</a:t>
            </a:r>
            <a:r>
              <a:rPr dirty="0"/>
              <a:t> </a:t>
            </a:r>
            <a:r>
              <a:rPr dirty="0" err="1"/>
              <a:t>שיפור</a:t>
            </a:r>
            <a:r>
              <a:rPr dirty="0"/>
              <a:t> </a:t>
            </a:r>
            <a:r>
              <a:rPr dirty="0" err="1"/>
              <a:t>נטו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25% </a:t>
            </a:r>
            <a:r>
              <a:rPr dirty="0" err="1"/>
              <a:t>מהציון</a:t>
            </a:r>
            <a:r>
              <a:rPr dirty="0"/>
              <a:t> </a:t>
            </a:r>
            <a:r>
              <a:rPr dirty="0" err="1"/>
              <a:t>המקסימלי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הראשונים</a:t>
            </a:r>
            <a:r>
              <a:rPr dirty="0"/>
              <a:t> </a:t>
            </a:r>
            <a:r>
              <a:rPr dirty="0" err="1"/>
              <a:t>להגיד</a:t>
            </a:r>
            <a:r>
              <a:rPr dirty="0"/>
              <a:t>: זה </a:t>
            </a:r>
            <a:r>
              <a:rPr dirty="0" err="1"/>
              <a:t>פיילוט</a:t>
            </a:r>
            <a:r>
              <a:rPr dirty="0"/>
              <a:t> </a:t>
            </a:r>
            <a:r>
              <a:rPr dirty="0" err="1"/>
              <a:t>קטן</a:t>
            </a:r>
            <a:r>
              <a:rPr dirty="0"/>
              <a:t>, </a:t>
            </a:r>
            <a:r>
              <a:rPr dirty="0" err="1"/>
              <a:t>שמונה</a:t>
            </a:r>
            <a:r>
              <a:rPr dirty="0"/>
              <a:t> </a:t>
            </a:r>
            <a:r>
              <a:rPr dirty="0" err="1"/>
              <a:t>נבדקים</a:t>
            </a:r>
            <a:r>
              <a:rPr dirty="0"/>
              <a:t>. </a:t>
            </a:r>
            <a:r>
              <a:rPr dirty="0" err="1"/>
              <a:t>אבל</a:t>
            </a:r>
            <a:r>
              <a:rPr dirty="0"/>
              <a:t> </a:t>
            </a:r>
            <a:r>
              <a:rPr dirty="0" err="1"/>
              <a:t>האפקט</a:t>
            </a:r>
            <a:r>
              <a:rPr dirty="0"/>
              <a:t> </a:t>
            </a:r>
            <a:r>
              <a:rPr dirty="0" err="1"/>
              <a:t>גדול</a:t>
            </a:r>
            <a:r>
              <a:rPr dirty="0"/>
              <a:t> </a:t>
            </a:r>
            <a:r>
              <a:rPr dirty="0" err="1"/>
              <a:t>ועקבי</a:t>
            </a:r>
            <a:r>
              <a:rPr dirty="0"/>
              <a:t>, </a:t>
            </a:r>
            <a:r>
              <a:rPr dirty="0" err="1"/>
              <a:t>ומחקר</a:t>
            </a:r>
            <a:r>
              <a:rPr dirty="0"/>
              <a:t> </a:t>
            </a:r>
            <a:r>
              <a:rPr dirty="0" err="1"/>
              <a:t>המשך</a:t>
            </a:r>
            <a:r>
              <a:rPr dirty="0"/>
              <a:t> </a:t>
            </a:r>
            <a:r>
              <a:rPr dirty="0" err="1"/>
              <a:t>רחב</a:t>
            </a:r>
            <a:r>
              <a:rPr dirty="0"/>
              <a:t> </a:t>
            </a:r>
            <a:r>
              <a:rPr dirty="0" err="1"/>
              <a:t>מתוכנן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שותפי</a:t>
            </a:r>
            <a:r>
              <a:rPr dirty="0"/>
              <a:t> </a:t>
            </a:r>
            <a:r>
              <a:rPr dirty="0" err="1"/>
              <a:t>העיצוב</a:t>
            </a:r>
            <a:r>
              <a:rPr dirty="0"/>
              <a:t>. </a:t>
            </a:r>
            <a:r>
              <a:rPr dirty="0" err="1"/>
              <a:t>המדע</a:t>
            </a:r>
            <a:r>
              <a:rPr dirty="0"/>
              <a:t> </a:t>
            </a:r>
            <a:r>
              <a:rPr dirty="0" err="1"/>
              <a:t>שמאחורי</a:t>
            </a:r>
            <a:r>
              <a:rPr dirty="0"/>
              <a:t> זה — </a:t>
            </a:r>
            <a:r>
              <a:rPr dirty="0" err="1"/>
              <a:t>עשרות</a:t>
            </a:r>
            <a:r>
              <a:rPr dirty="0"/>
              <a:t> </a:t>
            </a:r>
            <a:r>
              <a:rPr dirty="0" err="1"/>
              <a:t>שנות</a:t>
            </a:r>
            <a:r>
              <a:rPr dirty="0"/>
              <a:t> </a:t>
            </a:r>
            <a:r>
              <a:rPr dirty="0" err="1"/>
              <a:t>מחקר</a:t>
            </a:r>
            <a:r>
              <a:rPr dirty="0"/>
              <a:t> </a:t>
            </a:r>
            <a:r>
              <a:rPr dirty="0" err="1"/>
              <a:t>קשב</a:t>
            </a:r>
            <a:r>
              <a:rPr dirty="0"/>
              <a:t> — </a:t>
            </a:r>
            <a:r>
              <a:rPr dirty="0" err="1"/>
              <a:t>מוכח</a:t>
            </a:r>
            <a:r>
              <a:rPr dirty="0"/>
              <a:t> </a:t>
            </a:r>
            <a:r>
              <a:rPr dirty="0" err="1"/>
              <a:t>מזמן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אז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זה </a:t>
            </a:r>
            <a:r>
              <a:rPr dirty="0" err="1"/>
              <a:t>שווה</a:t>
            </a:r>
            <a:r>
              <a:rPr dirty="0"/>
              <a:t> </a:t>
            </a:r>
            <a:r>
              <a:rPr dirty="0" err="1"/>
              <a:t>לחברה</a:t>
            </a:r>
            <a:r>
              <a:rPr dirty="0"/>
              <a:t>? </a:t>
            </a:r>
            <a:r>
              <a:rPr dirty="0" err="1"/>
              <a:t>בואו</a:t>
            </a:r>
            <a:r>
              <a:rPr dirty="0"/>
              <a:t> </a:t>
            </a:r>
            <a:r>
              <a:rPr dirty="0" err="1"/>
              <a:t>נעשה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זה </a:t>
            </a:r>
            <a:r>
              <a:rPr dirty="0" err="1"/>
              <a:t>פשוט</a:t>
            </a:r>
            <a:r>
              <a:rPr dirty="0"/>
              <a:t>.']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10 — </a:t>
            </a:r>
            <a:r>
              <a:rPr dirty="0" err="1"/>
              <a:t>אימפקט</a:t>
            </a:r>
            <a:r>
              <a:rPr dirty="0"/>
              <a:t> | 6:10–6:40]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החשבון</a:t>
            </a:r>
            <a:r>
              <a:rPr dirty="0"/>
              <a:t> </a:t>
            </a:r>
            <a:r>
              <a:rPr dirty="0" err="1"/>
              <a:t>הכי</a:t>
            </a:r>
            <a:r>
              <a:rPr dirty="0"/>
              <a:t> </a:t>
            </a:r>
            <a:r>
              <a:rPr dirty="0" err="1"/>
              <a:t>פשוט</a:t>
            </a:r>
            <a:r>
              <a:rPr dirty="0"/>
              <a:t> </a:t>
            </a:r>
            <a:r>
              <a:rPr dirty="0" err="1"/>
              <a:t>שיש</a:t>
            </a:r>
            <a:r>
              <a:rPr dirty="0"/>
              <a:t>,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חברה</a:t>
            </a:r>
            <a:r>
              <a:rPr dirty="0"/>
              <a:t> </a:t>
            </a:r>
            <a:r>
              <a:rPr dirty="0" err="1"/>
              <a:t>אחת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250 </a:t>
            </a:r>
            <a:r>
              <a:rPr dirty="0" err="1"/>
              <a:t>עובדים</a:t>
            </a:r>
            <a:r>
              <a:rPr dirty="0"/>
              <a:t>. </a:t>
            </a:r>
            <a:r>
              <a:rPr dirty="0" err="1"/>
              <a:t>השכר</a:t>
            </a:r>
            <a:r>
              <a:rPr dirty="0"/>
              <a:t> </a:t>
            </a:r>
            <a:r>
              <a:rPr dirty="0" err="1"/>
              <a:t>השנתי</a:t>
            </a:r>
            <a:r>
              <a:rPr dirty="0"/>
              <a:t> </a:t>
            </a:r>
            <a:r>
              <a:rPr dirty="0" err="1"/>
              <a:t>שלה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בערך</a:t>
            </a:r>
            <a:r>
              <a:rPr dirty="0"/>
              <a:t> 30 </a:t>
            </a:r>
            <a:r>
              <a:rPr dirty="0" err="1"/>
              <a:t>מיליון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. </a:t>
            </a:r>
            <a:r>
              <a:rPr dirty="0" err="1"/>
              <a:t>גם</a:t>
            </a:r>
            <a:r>
              <a:rPr dirty="0"/>
              <a:t> </a:t>
            </a:r>
            <a:r>
              <a:rPr dirty="0" err="1"/>
              <a:t>אם</a:t>
            </a:r>
            <a:r>
              <a:rPr dirty="0"/>
              <a:t> </a:t>
            </a:r>
            <a:r>
              <a:rPr dirty="0" err="1"/>
              <a:t>נחזיר</a:t>
            </a:r>
            <a:r>
              <a:rPr dirty="0"/>
              <a:t> </a:t>
            </a:r>
            <a:r>
              <a:rPr dirty="0" err="1"/>
              <a:t>רק</a:t>
            </a:r>
            <a:r>
              <a:rPr dirty="0"/>
              <a:t> 5% </a:t>
            </a:r>
            <a:r>
              <a:rPr dirty="0" err="1"/>
              <a:t>מזה</a:t>
            </a:r>
            <a:r>
              <a:rPr dirty="0"/>
              <a:t> — זה </a:t>
            </a:r>
            <a:r>
              <a:rPr dirty="0" err="1"/>
              <a:t>מיליון</a:t>
            </a:r>
            <a:r>
              <a:rPr dirty="0"/>
              <a:t> </a:t>
            </a:r>
            <a:r>
              <a:rPr dirty="0" err="1"/>
              <a:t>וחצי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. </a:t>
            </a:r>
            <a:r>
              <a:rPr dirty="0" err="1"/>
              <a:t>KungFlow</a:t>
            </a:r>
            <a:r>
              <a:rPr dirty="0"/>
              <a:t> </a:t>
            </a:r>
            <a:r>
              <a:rPr dirty="0" err="1"/>
              <a:t>עולה</a:t>
            </a:r>
            <a:r>
              <a:rPr dirty="0"/>
              <a:t> </a:t>
            </a:r>
            <a:r>
              <a:rPr dirty="0" err="1"/>
              <a:t>לה</a:t>
            </a:r>
            <a:r>
              <a:rPr dirty="0"/>
              <a:t> 90 </a:t>
            </a:r>
            <a:r>
              <a:rPr dirty="0" err="1"/>
              <a:t>אלף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 </a:t>
            </a:r>
            <a:r>
              <a:rPr dirty="0" err="1"/>
              <a:t>בשנה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המושבים</a:t>
            </a:r>
            <a:r>
              <a:rPr dirty="0"/>
              <a:t> — 0.3% </a:t>
            </a:r>
            <a:r>
              <a:rPr dirty="0" err="1"/>
              <a:t>מהשכר</a:t>
            </a:r>
            <a:r>
              <a:rPr dirty="0"/>
              <a:t>. </a:t>
            </a:r>
            <a:r>
              <a:rPr dirty="0" err="1"/>
              <a:t>יחס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16 ל-1.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ושימו</a:t>
            </a:r>
            <a:r>
              <a:rPr dirty="0"/>
              <a:t> </a:t>
            </a:r>
            <a:r>
              <a:rPr dirty="0" err="1"/>
              <a:t>לב</a:t>
            </a:r>
            <a:r>
              <a:rPr dirty="0"/>
              <a:t> </a:t>
            </a:r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שזה</a:t>
            </a:r>
            <a:r>
              <a:rPr dirty="0"/>
              <a:t> </a:t>
            </a:r>
            <a:r>
              <a:rPr dirty="0" err="1"/>
              <a:t>באמת</a:t>
            </a:r>
            <a:r>
              <a:rPr dirty="0"/>
              <a:t> </a:t>
            </a:r>
            <a:r>
              <a:rPr dirty="0" err="1"/>
              <a:t>אומר</a:t>
            </a:r>
            <a:r>
              <a:rPr dirty="0"/>
              <a:t>: </a:t>
            </a:r>
            <a:r>
              <a:rPr dirty="0" err="1"/>
              <a:t>אתם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מוסיפים</a:t>
            </a:r>
            <a:r>
              <a:rPr dirty="0"/>
              <a:t> </a:t>
            </a:r>
            <a:r>
              <a:rPr dirty="0" err="1"/>
              <a:t>הוצאה</a:t>
            </a:r>
            <a:r>
              <a:rPr dirty="0"/>
              <a:t> — </a:t>
            </a:r>
            <a:r>
              <a:rPr dirty="0" err="1"/>
              <a:t>אתם</a:t>
            </a:r>
            <a:r>
              <a:rPr dirty="0"/>
              <a:t> </a:t>
            </a:r>
            <a:r>
              <a:rPr dirty="0" err="1"/>
              <a:t>מחזירים</a:t>
            </a:r>
            <a:r>
              <a:rPr dirty="0"/>
              <a:t> </a:t>
            </a:r>
            <a:r>
              <a:rPr dirty="0" err="1"/>
              <a:t>כסף</a:t>
            </a:r>
            <a:r>
              <a:rPr dirty="0"/>
              <a:t> </a:t>
            </a:r>
            <a:r>
              <a:rPr dirty="0" err="1"/>
              <a:t>שכבר</a:t>
            </a:r>
            <a:r>
              <a:rPr dirty="0"/>
              <a:t> </a:t>
            </a:r>
            <a:r>
              <a:rPr dirty="0" err="1"/>
              <a:t>הולך</a:t>
            </a:r>
            <a:r>
              <a:rPr dirty="0"/>
              <a:t> </a:t>
            </a:r>
            <a:r>
              <a:rPr dirty="0" err="1"/>
              <a:t>לאיבוד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וברמת</a:t>
            </a:r>
            <a:r>
              <a:rPr dirty="0"/>
              <a:t> </a:t>
            </a:r>
            <a:r>
              <a:rPr dirty="0" err="1"/>
              <a:t>העובד</a:t>
            </a:r>
            <a:r>
              <a:rPr dirty="0"/>
              <a:t> </a:t>
            </a:r>
            <a:r>
              <a:rPr dirty="0" err="1"/>
              <a:t>הבודד</a:t>
            </a:r>
            <a:r>
              <a:rPr dirty="0"/>
              <a:t>: </a:t>
            </a:r>
            <a:r>
              <a:rPr dirty="0" err="1"/>
              <a:t>בערך</a:t>
            </a:r>
            <a:r>
              <a:rPr dirty="0"/>
              <a:t> </a:t>
            </a:r>
            <a:r>
              <a:rPr dirty="0" err="1"/>
              <a:t>שעתיים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עבודה</a:t>
            </a:r>
            <a:r>
              <a:rPr dirty="0"/>
              <a:t> </a:t>
            </a:r>
            <a:r>
              <a:rPr dirty="0" err="1"/>
              <a:t>עמוקה</a:t>
            </a:r>
            <a:r>
              <a:rPr dirty="0"/>
              <a:t> </a:t>
            </a:r>
            <a:r>
              <a:rPr dirty="0" err="1"/>
              <a:t>חוזרות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יום</a:t>
            </a:r>
            <a:r>
              <a:rPr dirty="0"/>
              <a:t>, </a:t>
            </a:r>
            <a:r>
              <a:rPr dirty="0" err="1"/>
              <a:t>פחות</a:t>
            </a:r>
            <a:r>
              <a:rPr dirty="0"/>
              <a:t> </a:t>
            </a:r>
            <a:r>
              <a:rPr dirty="0" err="1"/>
              <a:t>סטרס</a:t>
            </a:r>
            <a:r>
              <a:rPr dirty="0"/>
              <a:t>, </a:t>
            </a:r>
            <a:r>
              <a:rPr dirty="0" err="1"/>
              <a:t>וסיכון</a:t>
            </a:r>
            <a:r>
              <a:rPr dirty="0"/>
              <a:t> </a:t>
            </a:r>
            <a:r>
              <a:rPr dirty="0" err="1"/>
              <a:t>שחיקה</a:t>
            </a:r>
            <a:r>
              <a:rPr dirty="0"/>
              <a:t> </a:t>
            </a:r>
            <a:r>
              <a:rPr dirty="0" err="1"/>
              <a:t>נמוך</a:t>
            </a:r>
            <a:r>
              <a:rPr dirty="0"/>
              <a:t> </a:t>
            </a:r>
            <a:r>
              <a:rPr dirty="0" err="1"/>
              <a:t>יותר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וכמה</a:t>
            </a:r>
            <a:r>
              <a:rPr dirty="0"/>
              <a:t> </a:t>
            </a:r>
            <a:r>
              <a:rPr dirty="0" err="1"/>
              <a:t>גדול</a:t>
            </a:r>
            <a:r>
              <a:rPr dirty="0"/>
              <a:t> </a:t>
            </a:r>
            <a:r>
              <a:rPr dirty="0" err="1"/>
              <a:t>השוק</a:t>
            </a:r>
            <a:r>
              <a:rPr dirty="0"/>
              <a:t>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11 — </a:t>
            </a:r>
            <a:r>
              <a:rPr dirty="0" err="1"/>
              <a:t>שוק</a:t>
            </a:r>
            <a:r>
              <a:rPr dirty="0"/>
              <a:t> | 6:40–7:05]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השוק</a:t>
            </a:r>
            <a:r>
              <a:rPr dirty="0"/>
              <a:t> </a:t>
            </a:r>
            <a:r>
              <a:rPr dirty="0" err="1"/>
              <a:t>עצום</a:t>
            </a:r>
            <a:r>
              <a:rPr dirty="0"/>
              <a:t>: 1.2 </a:t>
            </a:r>
            <a:r>
              <a:rPr dirty="0" err="1"/>
              <a:t>מיליארד</a:t>
            </a:r>
            <a:r>
              <a:rPr dirty="0"/>
              <a:t> </a:t>
            </a:r>
            <a:r>
              <a:rPr dirty="0" err="1"/>
              <a:t>עובדי</a:t>
            </a:r>
            <a:r>
              <a:rPr dirty="0"/>
              <a:t> </a:t>
            </a:r>
            <a:r>
              <a:rPr dirty="0" err="1"/>
              <a:t>ידע</a:t>
            </a:r>
            <a:r>
              <a:rPr dirty="0"/>
              <a:t> </a:t>
            </a:r>
            <a:r>
              <a:rPr dirty="0" err="1"/>
              <a:t>בעולם</a:t>
            </a:r>
            <a:r>
              <a:rPr dirty="0"/>
              <a:t>. </a:t>
            </a:r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מתחילים</a:t>
            </a:r>
            <a:r>
              <a:rPr dirty="0"/>
              <a:t> </a:t>
            </a:r>
            <a:r>
              <a:rPr dirty="0" err="1"/>
              <a:t>בישראל</a:t>
            </a:r>
            <a:r>
              <a:rPr dirty="0"/>
              <a:t> — 400 </a:t>
            </a:r>
            <a:r>
              <a:rPr dirty="0" err="1"/>
              <a:t>אלף</a:t>
            </a:r>
            <a:r>
              <a:rPr dirty="0"/>
              <a:t> </a:t>
            </a:r>
            <a:r>
              <a:rPr dirty="0" err="1"/>
              <a:t>עובדי</a:t>
            </a:r>
            <a:r>
              <a:rPr dirty="0"/>
              <a:t> </a:t>
            </a:r>
            <a:r>
              <a:rPr dirty="0" err="1"/>
              <a:t>הייטק</a:t>
            </a:r>
            <a:r>
              <a:rPr dirty="0"/>
              <a:t>, </a:t>
            </a:r>
            <a:r>
              <a:rPr dirty="0" err="1"/>
              <a:t>שוק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מאמצים</a:t>
            </a:r>
            <a:r>
              <a:rPr dirty="0"/>
              <a:t> </a:t>
            </a:r>
            <a:r>
              <a:rPr dirty="0" err="1"/>
              <a:t>מוקדמים</a:t>
            </a:r>
            <a:r>
              <a:rPr dirty="0"/>
              <a:t> </a:t>
            </a:r>
            <a:r>
              <a:rPr dirty="0" err="1"/>
              <a:t>שאנחנו</a:t>
            </a:r>
            <a:r>
              <a:rPr dirty="0"/>
              <a:t> </a:t>
            </a:r>
            <a:r>
              <a:rPr dirty="0" err="1"/>
              <a:t>מכירים</a:t>
            </a:r>
            <a:r>
              <a:rPr dirty="0"/>
              <a:t> </a:t>
            </a:r>
            <a:r>
              <a:rPr dirty="0" err="1"/>
              <a:t>אישית</a:t>
            </a:r>
            <a:r>
              <a:rPr dirty="0"/>
              <a:t>. </a:t>
            </a:r>
            <a:r>
              <a:rPr dirty="0" err="1"/>
              <a:t>היעד</a:t>
            </a:r>
            <a:r>
              <a:rPr dirty="0"/>
              <a:t> </a:t>
            </a:r>
            <a:r>
              <a:rPr dirty="0" err="1"/>
              <a:t>לשנה</a:t>
            </a:r>
            <a:r>
              <a:rPr dirty="0"/>
              <a:t> </a:t>
            </a:r>
            <a:r>
              <a:rPr dirty="0" err="1"/>
              <a:t>הראשונה</a:t>
            </a:r>
            <a:r>
              <a:rPr dirty="0"/>
              <a:t> </a:t>
            </a:r>
            <a:r>
              <a:rPr dirty="0" err="1"/>
              <a:t>צנוע</a:t>
            </a:r>
            <a:r>
              <a:rPr dirty="0"/>
              <a:t> </a:t>
            </a:r>
            <a:r>
              <a:rPr dirty="0" err="1"/>
              <a:t>וברור</a:t>
            </a:r>
            <a:r>
              <a:rPr dirty="0"/>
              <a:t>: 10 </a:t>
            </a:r>
            <a:r>
              <a:rPr dirty="0" err="1"/>
              <a:t>חברות</a:t>
            </a:r>
            <a:r>
              <a:rPr dirty="0"/>
              <a:t> </a:t>
            </a:r>
            <a:r>
              <a:rPr dirty="0" err="1"/>
              <a:t>מיד-מרקט</a:t>
            </a:r>
            <a:r>
              <a:rPr dirty="0"/>
              <a:t>, 2,500 </a:t>
            </a:r>
            <a:r>
              <a:rPr dirty="0" err="1"/>
              <a:t>משתמשים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ומבחינת</a:t>
            </a:r>
            <a:r>
              <a:rPr dirty="0"/>
              <a:t> </a:t>
            </a:r>
            <a:r>
              <a:rPr dirty="0" err="1"/>
              <a:t>תחרות</a:t>
            </a:r>
            <a:r>
              <a:rPr dirty="0"/>
              <a:t> — </a:t>
            </a:r>
            <a:r>
              <a:rPr dirty="0" err="1"/>
              <a:t>תסתכלו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השורה</a:t>
            </a:r>
            <a:r>
              <a:rPr dirty="0"/>
              <a:t> </a:t>
            </a:r>
            <a:r>
              <a:rPr dirty="0" err="1"/>
              <a:t>התחתונה</a:t>
            </a:r>
            <a:r>
              <a:rPr dirty="0"/>
              <a:t>: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המתחרים</a:t>
            </a:r>
            <a:r>
              <a:rPr dirty="0"/>
              <a:t> </a:t>
            </a:r>
            <a:r>
              <a:rPr dirty="0" err="1"/>
              <a:t>דורשים</a:t>
            </a:r>
            <a:r>
              <a:rPr dirty="0"/>
              <a:t> </a:t>
            </a:r>
            <a:r>
              <a:rPr dirty="0" err="1"/>
              <a:t>שהמשתמש</a:t>
            </a:r>
            <a:r>
              <a:rPr dirty="0"/>
              <a:t> </a:t>
            </a:r>
            <a:r>
              <a:rPr dirty="0" err="1"/>
              <a:t>או</a:t>
            </a:r>
            <a:r>
              <a:rPr dirty="0"/>
              <a:t> </a:t>
            </a:r>
            <a:r>
              <a:rPr dirty="0" err="1"/>
              <a:t>הארגון</a:t>
            </a:r>
            <a:r>
              <a:rPr dirty="0"/>
              <a:t> </a:t>
            </a:r>
            <a:r>
              <a:rPr dirty="0" err="1"/>
              <a:t>יפעלו</a:t>
            </a:r>
            <a:r>
              <a:rPr dirty="0"/>
              <a:t> </a:t>
            </a:r>
            <a:r>
              <a:rPr dirty="0" err="1"/>
              <a:t>בעצמם</a:t>
            </a:r>
            <a:r>
              <a:rPr dirty="0"/>
              <a:t>. </a:t>
            </a:r>
            <a:r>
              <a:rPr dirty="0" err="1"/>
              <a:t>RescueTime</a:t>
            </a:r>
            <a:r>
              <a:rPr dirty="0"/>
              <a:t> </a:t>
            </a:r>
            <a:r>
              <a:rPr dirty="0" err="1"/>
              <a:t>מדווח</a:t>
            </a:r>
            <a:r>
              <a:rPr dirty="0"/>
              <a:t> </a:t>
            </a:r>
            <a:r>
              <a:rPr dirty="0" err="1"/>
              <a:t>בדיעבד</a:t>
            </a:r>
            <a:r>
              <a:rPr dirty="0"/>
              <a:t>, Calm </a:t>
            </a:r>
            <a:r>
              <a:rPr dirty="0" err="1"/>
              <a:t>חי</a:t>
            </a:r>
            <a:r>
              <a:rPr dirty="0"/>
              <a:t> </a:t>
            </a:r>
            <a:r>
              <a:rPr dirty="0" err="1"/>
              <a:t>מחוץ</a:t>
            </a:r>
            <a:r>
              <a:rPr dirty="0"/>
              <a:t> </a:t>
            </a:r>
            <a:r>
              <a:rPr dirty="0" err="1"/>
              <a:t>לעבודה</a:t>
            </a:r>
            <a:r>
              <a:rPr dirty="0"/>
              <a:t>, Viva זה </a:t>
            </a:r>
            <a:r>
              <a:rPr dirty="0" err="1"/>
              <a:t>דשבורדים</a:t>
            </a:r>
            <a:r>
              <a:rPr dirty="0"/>
              <a:t>, ו-DND </a:t>
            </a:r>
            <a:r>
              <a:rPr dirty="0" err="1"/>
              <a:t>מובנה</a:t>
            </a:r>
            <a:r>
              <a:rPr dirty="0"/>
              <a:t> </a:t>
            </a:r>
            <a:r>
              <a:rPr dirty="0" err="1"/>
              <a:t>דורש</a:t>
            </a:r>
            <a:r>
              <a:rPr dirty="0"/>
              <a:t> </a:t>
            </a:r>
            <a:r>
              <a:rPr dirty="0" err="1"/>
              <a:t>מהעובד</a:t>
            </a:r>
            <a:r>
              <a:rPr dirty="0"/>
              <a:t> </a:t>
            </a:r>
            <a:r>
              <a:rPr dirty="0" err="1"/>
              <a:t>ללחוץ</a:t>
            </a:r>
            <a:r>
              <a:rPr dirty="0"/>
              <a:t>. </a:t>
            </a:r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היחידים</a:t>
            </a:r>
            <a:r>
              <a:rPr dirty="0"/>
              <a:t> </a:t>
            </a:r>
            <a:r>
              <a:rPr dirty="0" err="1"/>
              <a:t>שמזהים</a:t>
            </a:r>
            <a:r>
              <a:rPr dirty="0"/>
              <a:t> </a:t>
            </a:r>
            <a:r>
              <a:rPr dirty="0" err="1"/>
              <a:t>ומגינים</a:t>
            </a:r>
            <a:r>
              <a:rPr dirty="0"/>
              <a:t> </a:t>
            </a:r>
            <a:r>
              <a:rPr dirty="0" err="1"/>
              <a:t>לבד</a:t>
            </a:r>
            <a:r>
              <a:rPr dirty="0"/>
              <a:t>. </a:t>
            </a:r>
            <a:r>
              <a:rPr dirty="0" err="1"/>
              <a:t>קטגוריה</a:t>
            </a:r>
            <a:r>
              <a:rPr dirty="0"/>
              <a:t> </a:t>
            </a:r>
            <a:r>
              <a:rPr dirty="0" err="1"/>
              <a:t>ריקה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מהר</a:t>
            </a:r>
            <a:r>
              <a:rPr dirty="0"/>
              <a:t> — </a:t>
            </a:r>
            <a:r>
              <a:rPr dirty="0" err="1"/>
              <a:t>המספרים</a:t>
            </a:r>
            <a:r>
              <a:rPr dirty="0"/>
              <a:t> </a:t>
            </a:r>
            <a:r>
              <a:rPr dirty="0" err="1"/>
              <a:t>מדברים</a:t>
            </a:r>
            <a:r>
              <a:rPr dirty="0"/>
              <a:t>. 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איך</a:t>
            </a:r>
            <a:r>
              <a:rPr dirty="0"/>
              <a:t> </a:t>
            </a:r>
            <a:r>
              <a:rPr dirty="0" err="1"/>
              <a:t>מרוויחים</a:t>
            </a:r>
            <a:r>
              <a:rPr dirty="0"/>
              <a:t> </a:t>
            </a:r>
            <a:r>
              <a:rPr dirty="0" err="1"/>
              <a:t>מזה</a:t>
            </a:r>
            <a:r>
              <a:rPr dirty="0"/>
              <a:t>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12 — </a:t>
            </a:r>
            <a:r>
              <a:rPr dirty="0" err="1"/>
              <a:t>מודל</a:t>
            </a:r>
            <a:r>
              <a:rPr dirty="0"/>
              <a:t> </a:t>
            </a:r>
            <a:r>
              <a:rPr dirty="0" err="1"/>
              <a:t>עסקי</a:t>
            </a:r>
            <a:r>
              <a:rPr dirty="0"/>
              <a:t> | 7:05–7:35]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מודל</a:t>
            </a:r>
            <a:r>
              <a:rPr dirty="0"/>
              <a:t> freemium </a:t>
            </a:r>
            <a:r>
              <a:rPr dirty="0" err="1"/>
              <a:t>מבוסס</a:t>
            </a:r>
            <a:r>
              <a:rPr dirty="0"/>
              <a:t> </a:t>
            </a:r>
            <a:r>
              <a:rPr dirty="0" err="1"/>
              <a:t>מוצר</a:t>
            </a:r>
            <a:r>
              <a:rPr dirty="0"/>
              <a:t>. </a:t>
            </a:r>
            <a:r>
              <a:rPr dirty="0" err="1"/>
              <a:t>ארבע</a:t>
            </a:r>
            <a:r>
              <a:rPr dirty="0"/>
              <a:t> </a:t>
            </a:r>
            <a:r>
              <a:rPr dirty="0" err="1"/>
              <a:t>רמות</a:t>
            </a:r>
            <a:r>
              <a:rPr dirty="0"/>
              <a:t>, </a:t>
            </a:r>
            <a:r>
              <a:rPr dirty="0" err="1"/>
              <a:t>וכל</a:t>
            </a:r>
            <a:r>
              <a:rPr dirty="0"/>
              <a:t> </a:t>
            </a:r>
            <a:r>
              <a:rPr dirty="0" err="1"/>
              <a:t>קפיצה</a:t>
            </a:r>
            <a:r>
              <a:rPr dirty="0"/>
              <a:t> </a:t>
            </a:r>
            <a:r>
              <a:rPr dirty="0" err="1"/>
              <a:t>נותנת</a:t>
            </a:r>
            <a:r>
              <a:rPr dirty="0"/>
              <a:t> </a:t>
            </a:r>
            <a:r>
              <a:rPr dirty="0" err="1"/>
              <a:t>סיבה</a:t>
            </a:r>
            <a:r>
              <a:rPr dirty="0"/>
              <a:t> </a:t>
            </a:r>
            <a:r>
              <a:rPr dirty="0" err="1"/>
              <a:t>ברורה</a:t>
            </a:r>
            <a:r>
              <a:rPr dirty="0"/>
              <a:t> </a:t>
            </a:r>
            <a:r>
              <a:rPr dirty="0" err="1"/>
              <a:t>לשדרג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Free, </a:t>
            </a:r>
            <a:r>
              <a:rPr dirty="0" err="1"/>
              <a:t>בחינם</a:t>
            </a:r>
            <a:r>
              <a:rPr dirty="0"/>
              <a:t> </a:t>
            </a:r>
            <a:r>
              <a:rPr dirty="0" err="1"/>
              <a:t>לתמיד</a:t>
            </a:r>
            <a:r>
              <a:rPr dirty="0"/>
              <a:t> </a:t>
            </a:r>
            <a:r>
              <a:rPr dirty="0" err="1"/>
              <a:t>ליחיד</a:t>
            </a:r>
            <a:r>
              <a:rPr dirty="0"/>
              <a:t> — </a:t>
            </a:r>
            <a:r>
              <a:rPr dirty="0" err="1"/>
              <a:t>ציון</a:t>
            </a:r>
            <a:r>
              <a:rPr dirty="0"/>
              <a:t> </a:t>
            </a:r>
            <a:r>
              <a:rPr dirty="0" err="1"/>
              <a:t>עומס</a:t>
            </a:r>
            <a:r>
              <a:rPr dirty="0"/>
              <a:t> </a:t>
            </a:r>
            <a:r>
              <a:rPr dirty="0" err="1"/>
              <a:t>חי</a:t>
            </a:r>
            <a:r>
              <a:rPr dirty="0"/>
              <a:t>, DND </a:t>
            </a:r>
            <a:r>
              <a:rPr dirty="0" err="1"/>
              <a:t>אוטומטי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מכשיר</a:t>
            </a:r>
            <a:r>
              <a:rPr dirty="0"/>
              <a:t> </a:t>
            </a:r>
            <a:r>
              <a:rPr dirty="0" err="1"/>
              <a:t>אחד</a:t>
            </a:r>
            <a:r>
              <a:rPr dirty="0"/>
              <a:t>, </a:t>
            </a:r>
            <a:r>
              <a:rPr dirty="0" err="1"/>
              <a:t>והיסטוריה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שבוע</a:t>
            </a:r>
            <a:r>
              <a:rPr dirty="0"/>
              <a:t>. </a:t>
            </a:r>
            <a:r>
              <a:rPr dirty="0" err="1"/>
              <a:t>זו</a:t>
            </a:r>
            <a:r>
              <a:rPr dirty="0"/>
              <a:t> </a:t>
            </a:r>
            <a:r>
              <a:rPr dirty="0" err="1"/>
              <a:t>לא</a:t>
            </a:r>
            <a:r>
              <a:rPr dirty="0"/>
              <a:t> </a:t>
            </a:r>
            <a:r>
              <a:rPr dirty="0" err="1"/>
              <a:t>גרסת</a:t>
            </a:r>
            <a:r>
              <a:rPr dirty="0"/>
              <a:t> </a:t>
            </a:r>
            <a:r>
              <a:rPr dirty="0" err="1"/>
              <a:t>טעימה</a:t>
            </a:r>
            <a:r>
              <a:rPr dirty="0"/>
              <a:t> — זה </a:t>
            </a:r>
            <a:r>
              <a:rPr dirty="0" err="1"/>
              <a:t>ערך</a:t>
            </a:r>
            <a:r>
              <a:rPr dirty="0"/>
              <a:t> </a:t>
            </a:r>
            <a:r>
              <a:rPr dirty="0" err="1"/>
              <a:t>אמיתי</a:t>
            </a:r>
            <a:r>
              <a:rPr dirty="0"/>
              <a:t>, 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שגורם</a:t>
            </a:r>
            <a:r>
              <a:rPr dirty="0"/>
              <a:t> </a:t>
            </a:r>
            <a:r>
              <a:rPr dirty="0" err="1"/>
              <a:t>לזה</a:t>
            </a:r>
            <a:r>
              <a:rPr dirty="0"/>
              <a:t> </a:t>
            </a:r>
            <a:r>
              <a:rPr dirty="0" err="1"/>
              <a:t>להתפשט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Team ב-20 </a:t>
            </a:r>
            <a:r>
              <a:rPr dirty="0" err="1"/>
              <a:t>דולר</a:t>
            </a:r>
            <a:r>
              <a:rPr dirty="0"/>
              <a:t> — </a:t>
            </a:r>
            <a:r>
              <a:rPr dirty="0" err="1"/>
              <a:t>הבייסליין</a:t>
            </a:r>
            <a:r>
              <a:rPr dirty="0"/>
              <a:t> </a:t>
            </a:r>
            <a:r>
              <a:rPr dirty="0" err="1"/>
              <a:t>נהיה</a:t>
            </a:r>
            <a:r>
              <a:rPr dirty="0"/>
              <a:t> </a:t>
            </a:r>
            <a:r>
              <a:rPr dirty="0" err="1"/>
              <a:t>אדפטיבי</a:t>
            </a:r>
            <a:r>
              <a:rPr dirty="0"/>
              <a:t> </a:t>
            </a:r>
            <a:r>
              <a:rPr dirty="0" err="1"/>
              <a:t>ולומד</a:t>
            </a:r>
            <a:r>
              <a:rPr dirty="0"/>
              <a:t> </a:t>
            </a:r>
            <a:r>
              <a:rPr dirty="0" err="1"/>
              <a:t>אותך</a:t>
            </a:r>
            <a:r>
              <a:rPr dirty="0"/>
              <a:t>,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האפליקציות</a:t>
            </a:r>
            <a:r>
              <a:rPr dirty="0"/>
              <a:t> </a:t>
            </a:r>
            <a:r>
              <a:rPr dirty="0" err="1"/>
              <a:t>וכל</a:t>
            </a:r>
            <a:r>
              <a:rPr dirty="0"/>
              <a:t> </a:t>
            </a:r>
            <a:r>
              <a:rPr dirty="0" err="1"/>
              <a:t>המכשירים</a:t>
            </a:r>
            <a:r>
              <a:rPr dirty="0"/>
              <a:t>, </a:t>
            </a:r>
            <a:r>
              <a:rPr dirty="0" err="1"/>
              <a:t>היסטוריה</a:t>
            </a:r>
            <a:r>
              <a:rPr dirty="0"/>
              <a:t> </a:t>
            </a:r>
            <a:r>
              <a:rPr dirty="0" err="1"/>
              <a:t>מלאה</a:t>
            </a:r>
            <a:r>
              <a:rPr dirty="0"/>
              <a:t> </a:t>
            </a:r>
            <a:r>
              <a:rPr dirty="0" err="1"/>
              <a:t>ודשבורד</a:t>
            </a:r>
            <a:r>
              <a:rPr dirty="0"/>
              <a:t> </a:t>
            </a:r>
            <a:r>
              <a:rPr dirty="0" err="1"/>
              <a:t>אישי</a:t>
            </a:r>
            <a:r>
              <a:rPr dirty="0"/>
              <a:t>. </a:t>
            </a:r>
            <a:r>
              <a:rPr dirty="0" err="1"/>
              <a:t>משדרגים</a:t>
            </a:r>
            <a:r>
              <a:rPr dirty="0"/>
              <a:t> </a:t>
            </a:r>
            <a:r>
              <a:rPr dirty="0" err="1"/>
              <a:t>כשרוצים</a:t>
            </a:r>
            <a:r>
              <a:rPr dirty="0"/>
              <a:t> ש-</a:t>
            </a:r>
            <a:r>
              <a:rPr dirty="0" err="1"/>
              <a:t>KungFlow</a:t>
            </a:r>
            <a:r>
              <a:rPr dirty="0"/>
              <a:t> </a:t>
            </a:r>
            <a:r>
              <a:rPr dirty="0" err="1"/>
              <a:t>באמת</a:t>
            </a:r>
            <a:r>
              <a:rPr dirty="0"/>
              <a:t> </a:t>
            </a:r>
            <a:r>
              <a:rPr dirty="0" err="1"/>
              <a:t>יתפור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עצמו</a:t>
            </a:r>
            <a:r>
              <a:rPr dirty="0"/>
              <a:t> </a:t>
            </a:r>
            <a:r>
              <a:rPr dirty="0" err="1"/>
              <a:t>אליך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Business ב-30 </a:t>
            </a:r>
            <a:r>
              <a:rPr dirty="0" err="1"/>
              <a:t>דולר</a:t>
            </a:r>
            <a:r>
              <a:rPr dirty="0"/>
              <a:t> — </a:t>
            </a:r>
            <a:r>
              <a:rPr dirty="0" err="1"/>
              <a:t>המנהל</a:t>
            </a:r>
            <a:r>
              <a:rPr dirty="0"/>
              <a:t>: </a:t>
            </a:r>
            <a:r>
              <a:rPr dirty="0" err="1"/>
              <a:t>אנליטיקות</a:t>
            </a:r>
            <a:r>
              <a:rPr dirty="0"/>
              <a:t> </a:t>
            </a:r>
            <a:r>
              <a:rPr dirty="0" err="1"/>
              <a:t>צוות</a:t>
            </a:r>
            <a:r>
              <a:rPr dirty="0"/>
              <a:t>, </a:t>
            </a:r>
            <a:r>
              <a:rPr dirty="0" err="1"/>
              <a:t>כללי</a:t>
            </a:r>
            <a:r>
              <a:rPr dirty="0"/>
              <a:t> VIP </a:t>
            </a:r>
            <a:r>
              <a:rPr dirty="0" err="1"/>
              <a:t>מותאמים</a:t>
            </a:r>
            <a:r>
              <a:rPr dirty="0"/>
              <a:t>, </a:t>
            </a:r>
            <a:r>
              <a:rPr dirty="0" err="1"/>
              <a:t>וקונסולת</a:t>
            </a:r>
            <a:r>
              <a:rPr dirty="0"/>
              <a:t> </a:t>
            </a:r>
            <a:r>
              <a:rPr dirty="0" err="1"/>
              <a:t>אדמין</a:t>
            </a:r>
            <a:r>
              <a:rPr dirty="0"/>
              <a:t>. </a:t>
            </a:r>
            <a:r>
              <a:rPr dirty="0" err="1"/>
              <a:t>משדרגים</a:t>
            </a:r>
            <a:r>
              <a:rPr dirty="0"/>
              <a:t> </a:t>
            </a:r>
            <a:r>
              <a:rPr dirty="0" err="1"/>
              <a:t>כדי</a:t>
            </a:r>
            <a:r>
              <a:rPr dirty="0"/>
              <a:t> </a:t>
            </a:r>
            <a:r>
              <a:rPr dirty="0" err="1"/>
              <a:t>להכניס</a:t>
            </a:r>
            <a:r>
              <a:rPr dirty="0"/>
              <a:t> </a:t>
            </a:r>
            <a:r>
              <a:rPr dirty="0" err="1"/>
              <a:t>צוות</a:t>
            </a:r>
            <a:r>
              <a:rPr dirty="0"/>
              <a:t> </a:t>
            </a:r>
            <a:r>
              <a:rPr dirty="0" err="1"/>
              <a:t>שלם</a:t>
            </a:r>
            <a:r>
              <a:rPr dirty="0"/>
              <a:t> </a:t>
            </a:r>
            <a:r>
              <a:rPr dirty="0" err="1"/>
              <a:t>לעבודה</a:t>
            </a:r>
            <a:r>
              <a:rPr dirty="0"/>
              <a:t> </a:t>
            </a:r>
            <a:r>
              <a:rPr dirty="0" err="1"/>
              <a:t>עמוקה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נראות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Enterprise מ-45 </a:t>
            </a:r>
            <a:r>
              <a:rPr dirty="0" err="1"/>
              <a:t>דולר</a:t>
            </a:r>
            <a:r>
              <a:rPr dirty="0"/>
              <a:t> — HR ו-IT: </a:t>
            </a:r>
            <a:r>
              <a:rPr dirty="0" err="1"/>
              <a:t>מדדי</a:t>
            </a:r>
            <a:r>
              <a:rPr dirty="0"/>
              <a:t> </a:t>
            </a:r>
            <a:r>
              <a:rPr dirty="0" err="1"/>
              <a:t>סיכון</a:t>
            </a:r>
            <a:r>
              <a:rPr dirty="0"/>
              <a:t> </a:t>
            </a:r>
            <a:r>
              <a:rPr dirty="0" err="1"/>
              <a:t>שחיקה</a:t>
            </a:r>
            <a:r>
              <a:rPr dirty="0"/>
              <a:t> </a:t>
            </a:r>
            <a:r>
              <a:rPr dirty="0" err="1"/>
              <a:t>ארגוניים</a:t>
            </a:r>
            <a:r>
              <a:rPr dirty="0"/>
              <a:t>, </a:t>
            </a:r>
            <a:r>
              <a:rPr dirty="0" err="1"/>
              <a:t>סיכום</a:t>
            </a:r>
            <a:r>
              <a:rPr dirty="0"/>
              <a:t> AI, SSO, ו-CSM </a:t>
            </a:r>
            <a:r>
              <a:rPr dirty="0" err="1"/>
              <a:t>ייעודי</a:t>
            </a:r>
            <a:r>
              <a:rPr dirty="0"/>
              <a:t>. </a:t>
            </a:r>
            <a:r>
              <a:rPr dirty="0" err="1"/>
              <a:t>משדרגים</a:t>
            </a:r>
            <a:r>
              <a:rPr dirty="0"/>
              <a:t> </a:t>
            </a:r>
            <a:r>
              <a:rPr dirty="0" err="1"/>
              <a:t>לפריסה</a:t>
            </a:r>
            <a:r>
              <a:rPr dirty="0"/>
              <a:t> </a:t>
            </a:r>
            <a:r>
              <a:rPr dirty="0" err="1"/>
              <a:t>ארגונית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אבטחה</a:t>
            </a:r>
            <a:r>
              <a:rPr dirty="0"/>
              <a:t> </a:t>
            </a:r>
            <a:r>
              <a:rPr dirty="0" err="1"/>
              <a:t>ותמיכה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ואיך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זה </a:t>
            </a:r>
            <a:r>
              <a:rPr dirty="0" err="1"/>
              <a:t>גדל</a:t>
            </a:r>
            <a:r>
              <a:rPr dirty="0"/>
              <a:t> </a:t>
            </a:r>
            <a:r>
              <a:rPr dirty="0" err="1"/>
              <a:t>מעצמו</a:t>
            </a:r>
            <a:r>
              <a:rPr dirty="0"/>
              <a:t>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13 — </a:t>
            </a:r>
            <a:r>
              <a:rPr dirty="0" err="1"/>
              <a:t>הבקשה</a:t>
            </a:r>
            <a:r>
              <a:rPr dirty="0"/>
              <a:t> | 7:30–7:55]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אנחנו</a:t>
            </a:r>
            <a:r>
              <a:rPr dirty="0"/>
              <a:t> </a:t>
            </a:r>
            <a:r>
              <a:rPr dirty="0" err="1"/>
              <a:t>מגייסים</a:t>
            </a:r>
            <a:r>
              <a:rPr dirty="0"/>
              <a:t> 770 </a:t>
            </a:r>
            <a:r>
              <a:rPr dirty="0" err="1"/>
              <a:t>אלף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. </a:t>
            </a:r>
            <a:r>
              <a:rPr dirty="0" err="1"/>
              <a:t>הסכום</a:t>
            </a:r>
            <a:r>
              <a:rPr dirty="0"/>
              <a:t> </a:t>
            </a:r>
            <a:r>
              <a:rPr dirty="0" err="1"/>
              <a:t>מכסה</a:t>
            </a:r>
            <a:r>
              <a:rPr dirty="0"/>
              <a:t> 12 </a:t>
            </a:r>
            <a:r>
              <a:rPr dirty="0" err="1"/>
              <a:t>חודשי</a:t>
            </a:r>
            <a:r>
              <a:rPr dirty="0"/>
              <a:t> </a:t>
            </a:r>
            <a:r>
              <a:rPr dirty="0" err="1"/>
              <a:t>פעילות</a:t>
            </a:r>
            <a:r>
              <a:rPr dirty="0"/>
              <a:t> </a:t>
            </a:r>
            <a:r>
              <a:rPr dirty="0" err="1"/>
              <a:t>מלאים</a:t>
            </a:r>
            <a:r>
              <a:rPr dirty="0"/>
              <a:t> — </a:t>
            </a:r>
            <a:r>
              <a:rPr dirty="0" err="1"/>
              <a:t>הגירעון</a:t>
            </a:r>
            <a:r>
              <a:rPr dirty="0"/>
              <a:t> </a:t>
            </a:r>
            <a:r>
              <a:rPr dirty="0" err="1"/>
              <a:t>התפעולי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שנה</a:t>
            </a:r>
            <a:r>
              <a:rPr dirty="0"/>
              <a:t> </a:t>
            </a:r>
            <a:r>
              <a:rPr dirty="0" err="1"/>
              <a:t>ראשונה</a:t>
            </a:r>
            <a:r>
              <a:rPr dirty="0"/>
              <a:t>, </a:t>
            </a:r>
            <a:r>
              <a:rPr dirty="0" err="1"/>
              <a:t>בערך</a:t>
            </a:r>
            <a:r>
              <a:rPr dirty="0"/>
              <a:t> 550 </a:t>
            </a:r>
            <a:r>
              <a:rPr dirty="0" err="1"/>
              <a:t>אלף</a:t>
            </a:r>
            <a:r>
              <a:rPr dirty="0"/>
              <a:t> </a:t>
            </a:r>
            <a:r>
              <a:rPr dirty="0" err="1"/>
              <a:t>דולר</a:t>
            </a:r>
            <a:r>
              <a:rPr dirty="0"/>
              <a:t> — </a:t>
            </a:r>
            <a:r>
              <a:rPr dirty="0" err="1"/>
              <a:t>פלוס</a:t>
            </a:r>
            <a:r>
              <a:rPr dirty="0"/>
              <a:t> </a:t>
            </a:r>
            <a:r>
              <a:rPr dirty="0" err="1"/>
              <a:t>באפר</a:t>
            </a:r>
            <a:r>
              <a:rPr dirty="0"/>
              <a:t> </a:t>
            </a:r>
            <a:r>
              <a:rPr dirty="0" err="1"/>
              <a:t>ביטחון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שלושה</a:t>
            </a:r>
            <a:r>
              <a:rPr dirty="0"/>
              <a:t> </a:t>
            </a:r>
            <a:r>
              <a:rPr dirty="0" err="1"/>
              <a:t>חודשים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רוב</a:t>
            </a:r>
            <a:r>
              <a:rPr dirty="0"/>
              <a:t> </a:t>
            </a:r>
            <a:r>
              <a:rPr dirty="0" err="1"/>
              <a:t>הכסף</a:t>
            </a:r>
            <a:r>
              <a:rPr dirty="0"/>
              <a:t>, 57%, </a:t>
            </a:r>
            <a:r>
              <a:rPr dirty="0" err="1"/>
              <a:t>הולך</a:t>
            </a:r>
            <a:r>
              <a:rPr dirty="0"/>
              <a:t> </a:t>
            </a:r>
            <a:r>
              <a:rPr dirty="0" err="1"/>
              <a:t>למוצר</a:t>
            </a:r>
            <a:r>
              <a:rPr dirty="0"/>
              <a:t> — </a:t>
            </a:r>
            <a:r>
              <a:rPr dirty="0" err="1"/>
              <a:t>שלושת</a:t>
            </a:r>
            <a:r>
              <a:rPr dirty="0"/>
              <a:t> </a:t>
            </a:r>
            <a:r>
              <a:rPr dirty="0" err="1"/>
              <a:t>המהנדסים</a:t>
            </a:r>
            <a:r>
              <a:rPr dirty="0"/>
              <a:t>. </a:t>
            </a:r>
            <a:r>
              <a:rPr dirty="0" err="1"/>
              <a:t>השאר</a:t>
            </a:r>
            <a:r>
              <a:rPr dirty="0"/>
              <a:t> </a:t>
            </a:r>
            <a:r>
              <a:rPr dirty="0" err="1"/>
              <a:t>לשיווק</a:t>
            </a:r>
            <a:r>
              <a:rPr dirty="0"/>
              <a:t>, </a:t>
            </a:r>
            <a:r>
              <a:rPr dirty="0" err="1"/>
              <a:t>ללקוחות</a:t>
            </a:r>
            <a:r>
              <a:rPr dirty="0"/>
              <a:t> </a:t>
            </a:r>
            <a:r>
              <a:rPr dirty="0" err="1"/>
              <a:t>ולמכירות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והדרך</a:t>
            </a:r>
            <a:r>
              <a:rPr dirty="0"/>
              <a:t> </a:t>
            </a:r>
            <a:r>
              <a:rPr dirty="0" err="1"/>
              <a:t>מדידה</a:t>
            </a:r>
            <a:r>
              <a:rPr dirty="0"/>
              <a:t> </a:t>
            </a:r>
            <a:r>
              <a:rPr dirty="0" err="1"/>
              <a:t>לחלוטין</a:t>
            </a:r>
            <a:r>
              <a:rPr dirty="0"/>
              <a:t>: </a:t>
            </a:r>
            <a:r>
              <a:rPr dirty="0" err="1"/>
              <a:t>חודש</a:t>
            </a:r>
            <a:r>
              <a:rPr dirty="0"/>
              <a:t> 3 — </a:t>
            </a:r>
            <a:r>
              <a:rPr dirty="0" err="1"/>
              <a:t>שני</a:t>
            </a:r>
            <a:r>
              <a:rPr dirty="0"/>
              <a:t> </a:t>
            </a:r>
            <a:r>
              <a:rPr dirty="0" err="1"/>
              <a:t>שותפי</a:t>
            </a:r>
            <a:r>
              <a:rPr dirty="0"/>
              <a:t> </a:t>
            </a:r>
            <a:r>
              <a:rPr dirty="0" err="1"/>
              <a:t>עיצוב</a:t>
            </a:r>
            <a:r>
              <a:rPr dirty="0"/>
              <a:t>. </a:t>
            </a:r>
            <a:r>
              <a:rPr dirty="0" err="1"/>
              <a:t>חודש</a:t>
            </a:r>
            <a:r>
              <a:rPr dirty="0"/>
              <a:t> 4 — </a:t>
            </a:r>
            <a:r>
              <a:rPr dirty="0" err="1"/>
              <a:t>הכנסה</a:t>
            </a:r>
            <a:r>
              <a:rPr dirty="0"/>
              <a:t> </a:t>
            </a:r>
            <a:r>
              <a:rPr dirty="0" err="1"/>
              <a:t>ראשונה</a:t>
            </a:r>
            <a:r>
              <a:rPr dirty="0"/>
              <a:t>. </a:t>
            </a:r>
            <a:r>
              <a:rPr dirty="0" err="1"/>
              <a:t>חודש</a:t>
            </a:r>
            <a:r>
              <a:rPr dirty="0"/>
              <a:t> 6 — SDR </a:t>
            </a:r>
            <a:r>
              <a:rPr dirty="0" err="1"/>
              <a:t>ראשון</a:t>
            </a:r>
            <a:r>
              <a:rPr dirty="0"/>
              <a:t>. </a:t>
            </a:r>
            <a:r>
              <a:rPr dirty="0" err="1"/>
              <a:t>חודש</a:t>
            </a:r>
            <a:r>
              <a:rPr dirty="0"/>
              <a:t> 9 — </a:t>
            </a:r>
            <a:r>
              <a:rPr dirty="0" err="1"/>
              <a:t>קייס</a:t>
            </a:r>
            <a:r>
              <a:rPr dirty="0"/>
              <a:t> </a:t>
            </a:r>
            <a:r>
              <a:rPr dirty="0" err="1"/>
              <a:t>סטאדי</a:t>
            </a:r>
            <a:r>
              <a:rPr dirty="0"/>
              <a:t> </a:t>
            </a:r>
            <a:r>
              <a:rPr dirty="0" err="1"/>
              <a:t>פומבי</a:t>
            </a:r>
            <a:r>
              <a:rPr dirty="0"/>
              <a:t>. </a:t>
            </a:r>
            <a:r>
              <a:rPr dirty="0" err="1"/>
              <a:t>חודש</a:t>
            </a:r>
            <a:r>
              <a:rPr dirty="0"/>
              <a:t> 12 — </a:t>
            </a:r>
            <a:r>
              <a:rPr dirty="0" err="1"/>
              <a:t>עשר</a:t>
            </a:r>
            <a:r>
              <a:rPr dirty="0"/>
              <a:t> </a:t>
            </a:r>
            <a:r>
              <a:rPr dirty="0" err="1"/>
              <a:t>חברות</a:t>
            </a:r>
            <a:r>
              <a:rPr dirty="0"/>
              <a:t>, 2,500 </a:t>
            </a:r>
            <a:r>
              <a:rPr dirty="0" err="1"/>
              <a:t>משתמשים</a:t>
            </a:r>
            <a:r>
              <a:rPr dirty="0"/>
              <a:t>, </a:t>
            </a:r>
            <a:r>
              <a:rPr dirty="0" err="1"/>
              <a:t>ונקודת</a:t>
            </a:r>
            <a:r>
              <a:rPr dirty="0"/>
              <a:t> </a:t>
            </a:r>
            <a:r>
              <a:rPr dirty="0" err="1"/>
              <a:t>איזון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ואיך</a:t>
            </a:r>
            <a:r>
              <a:rPr dirty="0"/>
              <a:t> </a:t>
            </a:r>
            <a:r>
              <a:rPr dirty="0" err="1"/>
              <a:t>בדיוק</a:t>
            </a:r>
            <a:r>
              <a:rPr dirty="0"/>
              <a:t> </a:t>
            </a:r>
            <a:r>
              <a:rPr dirty="0" err="1"/>
              <a:t>נגיע</a:t>
            </a:r>
            <a:r>
              <a:rPr dirty="0"/>
              <a:t> </a:t>
            </a:r>
            <a:r>
              <a:rPr dirty="0" err="1"/>
              <a:t>לחברות</a:t>
            </a:r>
            <a:r>
              <a:rPr dirty="0"/>
              <a:t> </a:t>
            </a:r>
            <a:r>
              <a:rPr dirty="0" err="1"/>
              <a:t>האלה</a:t>
            </a:r>
            <a:r>
              <a:rPr dirty="0"/>
              <a:t>?']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14 — </a:t>
            </a:r>
            <a:r>
              <a:rPr dirty="0" err="1"/>
              <a:t>אסטרטגיית</a:t>
            </a:r>
            <a:r>
              <a:rPr dirty="0"/>
              <a:t> GTM | 7:35–8:05]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הכיוון</a:t>
            </a:r>
            <a:r>
              <a:rPr dirty="0"/>
              <a:t> </a:t>
            </a:r>
            <a:r>
              <a:rPr dirty="0" err="1"/>
              <a:t>שלנו</a:t>
            </a:r>
            <a:r>
              <a:rPr dirty="0"/>
              <a:t> </a:t>
            </a:r>
            <a:r>
              <a:rPr dirty="0" err="1"/>
              <a:t>הוא</a:t>
            </a:r>
            <a:r>
              <a:rPr dirty="0"/>
              <a:t> </a:t>
            </a:r>
            <a:r>
              <a:rPr dirty="0" err="1"/>
              <a:t>צמיחה</a:t>
            </a:r>
            <a:r>
              <a:rPr dirty="0"/>
              <a:t> </a:t>
            </a:r>
            <a:r>
              <a:rPr dirty="0" err="1"/>
              <a:t>מבוססת-מוצר</a:t>
            </a:r>
            <a:r>
              <a:rPr dirty="0"/>
              <a:t>, PLG. </a:t>
            </a:r>
            <a:r>
              <a:rPr dirty="0" err="1"/>
              <a:t>הלולאה</a:t>
            </a:r>
            <a:r>
              <a:rPr dirty="0"/>
              <a:t> </a:t>
            </a:r>
            <a:r>
              <a:rPr dirty="0" err="1"/>
              <a:t>פשוטה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ADOPT — </a:t>
            </a:r>
            <a:r>
              <a:rPr dirty="0" err="1"/>
              <a:t>היחיד</a:t>
            </a:r>
            <a:r>
              <a:rPr dirty="0"/>
              <a:t> </a:t>
            </a:r>
            <a:r>
              <a:rPr dirty="0" err="1"/>
              <a:t>מתקין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הגרסה</a:t>
            </a:r>
            <a:r>
              <a:rPr dirty="0"/>
              <a:t> </a:t>
            </a:r>
            <a:r>
              <a:rPr dirty="0" err="1"/>
              <a:t>החינמית</a:t>
            </a:r>
            <a:r>
              <a:rPr dirty="0"/>
              <a:t> </a:t>
            </a:r>
            <a:r>
              <a:rPr dirty="0" err="1"/>
              <a:t>ומקבל</a:t>
            </a:r>
            <a:r>
              <a:rPr dirty="0"/>
              <a:t> </a:t>
            </a:r>
            <a:r>
              <a:rPr dirty="0" err="1"/>
              <a:t>ערך</a:t>
            </a:r>
            <a:r>
              <a:rPr dirty="0"/>
              <a:t> </a:t>
            </a:r>
            <a:r>
              <a:rPr dirty="0" err="1"/>
              <a:t>אמיתי</a:t>
            </a:r>
            <a:r>
              <a:rPr dirty="0"/>
              <a:t>, </a:t>
            </a:r>
            <a:r>
              <a:rPr dirty="0" err="1"/>
              <a:t>בלי</a:t>
            </a:r>
            <a:r>
              <a:rPr dirty="0"/>
              <a:t> </a:t>
            </a:r>
            <a:r>
              <a:rPr dirty="0" err="1"/>
              <a:t>חיכוך</a:t>
            </a:r>
            <a:r>
              <a:rPr dirty="0"/>
              <a:t> </a:t>
            </a:r>
            <a:r>
              <a:rPr dirty="0" err="1"/>
              <a:t>ובלי</a:t>
            </a:r>
            <a:r>
              <a:rPr dirty="0"/>
              <a:t> </a:t>
            </a:r>
            <a:r>
              <a:rPr dirty="0" err="1"/>
              <a:t>קונה</a:t>
            </a:r>
            <a:r>
              <a:rPr dirty="0"/>
              <a:t>. זה </a:t>
            </a:r>
            <a:r>
              <a:rPr dirty="0" err="1"/>
              <a:t>מתפשט</a:t>
            </a:r>
            <a:r>
              <a:rPr dirty="0"/>
              <a:t> </a:t>
            </a:r>
            <a:r>
              <a:rPr dirty="0" err="1"/>
              <a:t>משולחן</a:t>
            </a:r>
            <a:r>
              <a:rPr dirty="0"/>
              <a:t> </a:t>
            </a:r>
            <a:r>
              <a:rPr dirty="0" err="1"/>
              <a:t>לשולחן</a:t>
            </a:r>
            <a:r>
              <a:rPr dirty="0"/>
              <a:t>. CONVERT — </a:t>
            </a:r>
            <a:r>
              <a:rPr dirty="0" err="1"/>
              <a:t>משתמשי-על</a:t>
            </a:r>
            <a:r>
              <a:rPr dirty="0"/>
              <a:t> </a:t>
            </a:r>
            <a:r>
              <a:rPr dirty="0" err="1"/>
              <a:t>משדרגים</a:t>
            </a:r>
            <a:r>
              <a:rPr dirty="0"/>
              <a:t> </a:t>
            </a:r>
            <a:r>
              <a:rPr dirty="0" err="1"/>
              <a:t>לבד</a:t>
            </a:r>
            <a:r>
              <a:rPr dirty="0"/>
              <a:t> ל-Team </a:t>
            </a:r>
            <a:r>
              <a:rPr dirty="0" err="1"/>
              <a:t>בשביל</a:t>
            </a:r>
            <a:r>
              <a:rPr dirty="0"/>
              <a:t> </a:t>
            </a:r>
            <a:r>
              <a:rPr dirty="0" err="1"/>
              <a:t>הבייסליין</a:t>
            </a:r>
            <a:r>
              <a:rPr dirty="0"/>
              <a:t> </a:t>
            </a:r>
            <a:r>
              <a:rPr dirty="0" err="1"/>
              <a:t>האדפטיבי</a:t>
            </a:r>
            <a:r>
              <a:rPr dirty="0"/>
              <a:t> </a:t>
            </a:r>
            <a:r>
              <a:rPr dirty="0" err="1"/>
              <a:t>וכל</a:t>
            </a:r>
            <a:r>
              <a:rPr dirty="0"/>
              <a:t> </a:t>
            </a:r>
            <a:r>
              <a:rPr dirty="0" err="1"/>
              <a:t>האפליקציות</a:t>
            </a:r>
            <a:r>
              <a:rPr dirty="0"/>
              <a:t>, </a:t>
            </a:r>
            <a:r>
              <a:rPr dirty="0" err="1"/>
              <a:t>סלף-סרב</a:t>
            </a:r>
            <a:r>
              <a:rPr dirty="0"/>
              <a:t> </a:t>
            </a:r>
            <a:r>
              <a:rPr dirty="0" err="1"/>
              <a:t>לגמרי</a:t>
            </a:r>
            <a:r>
              <a:rPr dirty="0"/>
              <a:t>. EXPAND — </a:t>
            </a:r>
            <a:r>
              <a:rPr dirty="0" err="1"/>
              <a:t>מנהל</a:t>
            </a:r>
            <a:r>
              <a:rPr dirty="0"/>
              <a:t> </a:t>
            </a:r>
            <a:r>
              <a:rPr dirty="0" err="1"/>
              <a:t>רואה</a:t>
            </a:r>
            <a:r>
              <a:rPr dirty="0"/>
              <a:t> </a:t>
            </a:r>
            <a:r>
              <a:rPr dirty="0" err="1"/>
              <a:t>שהצוות</a:t>
            </a:r>
            <a:r>
              <a:rPr dirty="0"/>
              <a:t> </a:t>
            </a:r>
            <a:r>
              <a:rPr dirty="0" err="1"/>
              <a:t>שלו</a:t>
            </a:r>
            <a:r>
              <a:rPr dirty="0"/>
              <a:t> </a:t>
            </a:r>
            <a:r>
              <a:rPr dirty="0" err="1"/>
              <a:t>כבר</a:t>
            </a:r>
            <a:r>
              <a:rPr dirty="0"/>
              <a:t> </a:t>
            </a:r>
            <a:r>
              <a:rPr dirty="0" err="1"/>
              <a:t>משתמש</a:t>
            </a:r>
            <a:r>
              <a:rPr dirty="0"/>
              <a:t>, </a:t>
            </a:r>
            <a:r>
              <a:rPr dirty="0" err="1"/>
              <a:t>וקונה</a:t>
            </a:r>
            <a:r>
              <a:rPr dirty="0"/>
              <a:t> </a:t>
            </a:r>
            <a:r>
              <a:rPr dirty="0" err="1"/>
              <a:t>אנליטיקות</a:t>
            </a:r>
            <a:r>
              <a:rPr dirty="0"/>
              <a:t>, </a:t>
            </a:r>
            <a:r>
              <a:rPr dirty="0" err="1"/>
              <a:t>אדמין</a:t>
            </a:r>
            <a:r>
              <a:rPr dirty="0"/>
              <a:t> </a:t>
            </a:r>
            <a:r>
              <a:rPr dirty="0" err="1"/>
              <a:t>וכללים</a:t>
            </a:r>
            <a:r>
              <a:rPr dirty="0"/>
              <a:t> — </a:t>
            </a:r>
            <a:r>
              <a:rPr dirty="0" err="1"/>
              <a:t>סיוע</a:t>
            </a:r>
            <a:r>
              <a:rPr dirty="0"/>
              <a:t> </a:t>
            </a:r>
            <a:r>
              <a:rPr dirty="0" err="1"/>
              <a:t>מכירה</a:t>
            </a:r>
            <a:r>
              <a:rPr dirty="0"/>
              <a:t> </a:t>
            </a:r>
            <a:r>
              <a:rPr dirty="0" err="1"/>
              <a:t>קל</a:t>
            </a:r>
            <a:r>
              <a:rPr dirty="0"/>
              <a:t>. STANDARDIZE — HR ו-IT </a:t>
            </a:r>
            <a:r>
              <a:rPr dirty="0" err="1"/>
              <a:t>פורסים</a:t>
            </a:r>
            <a:r>
              <a:rPr dirty="0"/>
              <a:t> </a:t>
            </a:r>
            <a:r>
              <a:rPr dirty="0" err="1"/>
              <a:t>ארגונית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SSO, </a:t>
            </a:r>
            <a:r>
              <a:rPr dirty="0" err="1"/>
              <a:t>מדדי</a:t>
            </a:r>
            <a:r>
              <a:rPr dirty="0"/>
              <a:t> </a:t>
            </a:r>
            <a:r>
              <a:rPr dirty="0" err="1"/>
              <a:t>שחיקה</a:t>
            </a:r>
            <a:r>
              <a:rPr dirty="0"/>
              <a:t> ו-CSM. </a:t>
            </a:r>
            <a:r>
              <a:rPr dirty="0" err="1"/>
              <a:t>הטופ-דאון</a:t>
            </a:r>
            <a:r>
              <a:rPr dirty="0"/>
              <a:t> </a:t>
            </a:r>
            <a:r>
              <a:rPr dirty="0" err="1"/>
              <a:t>נוחת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</a:t>
            </a:r>
            <a:r>
              <a:rPr dirty="0" err="1"/>
              <a:t>ביקוש</a:t>
            </a:r>
            <a:r>
              <a:rPr dirty="0"/>
              <a:t> </a:t>
            </a:r>
            <a:r>
              <a:rPr dirty="0" err="1"/>
              <a:t>שכבר</a:t>
            </a:r>
            <a:r>
              <a:rPr dirty="0"/>
              <a:t> </a:t>
            </a:r>
            <a:r>
              <a:rPr dirty="0" err="1"/>
              <a:t>נבנה</a:t>
            </a:r>
            <a:r>
              <a:rPr dirty="0"/>
              <a:t> </a:t>
            </a:r>
            <a:r>
              <a:rPr dirty="0" err="1"/>
              <a:t>מלמטה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המשפט</a:t>
            </a:r>
            <a:r>
              <a:rPr dirty="0"/>
              <a:t> </a:t>
            </a:r>
            <a:r>
              <a:rPr dirty="0" err="1"/>
              <a:t>שצריך</a:t>
            </a:r>
            <a:r>
              <a:rPr dirty="0"/>
              <a:t> </a:t>
            </a:r>
            <a:r>
              <a:rPr dirty="0" err="1"/>
              <a:t>להישאר</a:t>
            </a:r>
            <a:r>
              <a:rPr dirty="0"/>
              <a:t>: ה-Free </a:t>
            </a:r>
            <a:r>
              <a:rPr dirty="0" err="1"/>
              <a:t>הוא</a:t>
            </a:r>
            <a:r>
              <a:rPr dirty="0"/>
              <a:t> זה </a:t>
            </a:r>
            <a:r>
              <a:rPr dirty="0" err="1"/>
              <a:t>שמוכר</a:t>
            </a:r>
            <a:r>
              <a:rPr dirty="0"/>
              <a:t>. </a:t>
            </a:r>
            <a:r>
              <a:rPr dirty="0" err="1"/>
              <a:t>המוצר</a:t>
            </a:r>
            <a:r>
              <a:rPr dirty="0"/>
              <a:t> </a:t>
            </a:r>
            <a:r>
              <a:rPr dirty="0" err="1"/>
              <a:t>מרחיב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</a:t>
            </a:r>
            <a:r>
              <a:rPr dirty="0" err="1"/>
              <a:t>עצמו</a:t>
            </a:r>
            <a:r>
              <a:rPr dirty="0"/>
              <a:t> </a:t>
            </a:r>
            <a:r>
              <a:rPr dirty="0" err="1"/>
              <a:t>במעלה</a:t>
            </a:r>
            <a:r>
              <a:rPr dirty="0"/>
              <a:t> </a:t>
            </a:r>
            <a:r>
              <a:rPr dirty="0" err="1"/>
              <a:t>הארגון</a:t>
            </a:r>
            <a:r>
              <a:rPr dirty="0"/>
              <a:t> — CAC </a:t>
            </a:r>
            <a:r>
              <a:rPr dirty="0" err="1"/>
              <a:t>נמוך</a:t>
            </a:r>
            <a:r>
              <a:rPr dirty="0"/>
              <a:t>, </a:t>
            </a:r>
            <a:r>
              <a:rPr dirty="0" err="1"/>
              <a:t>החזר</a:t>
            </a:r>
            <a:r>
              <a:rPr dirty="0"/>
              <a:t> </a:t>
            </a:r>
            <a:r>
              <a:rPr dirty="0" err="1"/>
              <a:t>מהיר</a:t>
            </a:r>
            <a:r>
              <a:rPr dirty="0"/>
              <a:t>, </a:t>
            </a:r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מצטבר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: '</a:t>
            </a:r>
            <a:r>
              <a:rPr dirty="0" err="1"/>
              <a:t>וככה</a:t>
            </a:r>
            <a:r>
              <a:rPr dirty="0"/>
              <a:t> זה </a:t>
            </a:r>
            <a:r>
              <a:rPr dirty="0" err="1"/>
              <a:t>נראה</a:t>
            </a:r>
            <a:r>
              <a:rPr dirty="0"/>
              <a:t> </a:t>
            </a:r>
            <a:r>
              <a:rPr dirty="0" err="1"/>
              <a:t>בשטח</a:t>
            </a:r>
            <a:r>
              <a:rPr dirty="0"/>
              <a:t>, </a:t>
            </a:r>
            <a:r>
              <a:rPr dirty="0" err="1"/>
              <a:t>שלב</a:t>
            </a:r>
            <a:r>
              <a:rPr dirty="0"/>
              <a:t> </a:t>
            </a:r>
            <a:r>
              <a:rPr dirty="0" err="1"/>
              <a:t>אחר</a:t>
            </a:r>
            <a:r>
              <a:rPr dirty="0"/>
              <a:t> </a:t>
            </a:r>
            <a:r>
              <a:rPr dirty="0" err="1"/>
              <a:t>שלב</a:t>
            </a:r>
            <a:r>
              <a:rPr dirty="0"/>
              <a:t>.']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dirty="0"/>
              <a:t>[</a:t>
            </a:r>
            <a:r>
              <a:rPr dirty="0" err="1"/>
              <a:t>שקופית</a:t>
            </a:r>
            <a:r>
              <a:rPr dirty="0"/>
              <a:t> 15 — </a:t>
            </a:r>
            <a:r>
              <a:rPr dirty="0" err="1"/>
              <a:t>כניסה</a:t>
            </a:r>
            <a:r>
              <a:rPr dirty="0"/>
              <a:t> </a:t>
            </a:r>
            <a:r>
              <a:rPr dirty="0" err="1"/>
              <a:t>לשוק</a:t>
            </a:r>
            <a:r>
              <a:rPr dirty="0"/>
              <a:t> | 8:05–8:30]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וזה</a:t>
            </a:r>
            <a:r>
              <a:rPr dirty="0"/>
              <a:t> </a:t>
            </a:r>
            <a:r>
              <a:rPr dirty="0" err="1"/>
              <a:t>הביצוע</a:t>
            </a:r>
            <a:r>
              <a:rPr dirty="0"/>
              <a:t> </a:t>
            </a:r>
            <a:r>
              <a:rPr dirty="0" err="1"/>
              <a:t>בשטח</a:t>
            </a:r>
            <a:r>
              <a:rPr dirty="0"/>
              <a:t>, </a:t>
            </a:r>
            <a:r>
              <a:rPr dirty="0" err="1"/>
              <a:t>השכבה</a:t>
            </a:r>
            <a:r>
              <a:rPr dirty="0"/>
              <a:t> </a:t>
            </a:r>
            <a:r>
              <a:rPr dirty="0" err="1"/>
              <a:t>המסייעת</a:t>
            </a:r>
            <a:r>
              <a:rPr dirty="0"/>
              <a:t> </a:t>
            </a:r>
            <a:r>
              <a:rPr dirty="0" err="1"/>
              <a:t>שמאיצה</a:t>
            </a:r>
            <a:r>
              <a:rPr dirty="0"/>
              <a:t> </a:t>
            </a:r>
            <a:r>
              <a:rPr dirty="0" err="1"/>
              <a:t>את</a:t>
            </a:r>
            <a:r>
              <a:rPr dirty="0"/>
              <a:t> ה-PLG </a:t>
            </a:r>
            <a:r>
              <a:rPr dirty="0" err="1"/>
              <a:t>בשלב</a:t>
            </a:r>
            <a:r>
              <a:rPr dirty="0"/>
              <a:t> </a:t>
            </a:r>
            <a:r>
              <a:rPr dirty="0" err="1"/>
              <a:t>הסיד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שלב</a:t>
            </a:r>
            <a:r>
              <a:rPr dirty="0"/>
              <a:t> 1, </a:t>
            </a:r>
            <a:r>
              <a:rPr dirty="0" err="1"/>
              <a:t>חודשים</a:t>
            </a:r>
            <a:r>
              <a:rPr dirty="0"/>
              <a:t> 1–3: </a:t>
            </a:r>
            <a:r>
              <a:rPr dirty="0" err="1"/>
              <a:t>שני</a:t>
            </a:r>
            <a:r>
              <a:rPr dirty="0"/>
              <a:t> </a:t>
            </a:r>
            <a:r>
              <a:rPr dirty="0" err="1"/>
              <a:t>שותפי</a:t>
            </a:r>
            <a:r>
              <a:rPr dirty="0"/>
              <a:t> </a:t>
            </a:r>
            <a:r>
              <a:rPr dirty="0" err="1"/>
              <a:t>עיצוב</a:t>
            </a:r>
            <a:r>
              <a:rPr dirty="0"/>
              <a:t> </a:t>
            </a:r>
            <a:r>
              <a:rPr dirty="0" err="1"/>
              <a:t>מהרשת</a:t>
            </a:r>
            <a:r>
              <a:rPr dirty="0"/>
              <a:t> </a:t>
            </a:r>
            <a:r>
              <a:rPr dirty="0" err="1"/>
              <a:t>האישית</a:t>
            </a:r>
            <a:r>
              <a:rPr dirty="0"/>
              <a:t>, </a:t>
            </a:r>
            <a:r>
              <a:rPr dirty="0" err="1"/>
              <a:t>בחינם</a:t>
            </a:r>
            <a:r>
              <a:rPr dirty="0"/>
              <a:t>, </a:t>
            </a:r>
            <a:r>
              <a:rPr dirty="0" err="1"/>
              <a:t>בתמורה</a:t>
            </a:r>
            <a:r>
              <a:rPr dirty="0"/>
              <a:t> </a:t>
            </a:r>
            <a:r>
              <a:rPr dirty="0" err="1"/>
              <a:t>למשוב</a:t>
            </a:r>
            <a:r>
              <a:rPr dirty="0"/>
              <a:t> </a:t>
            </a:r>
            <a:r>
              <a:rPr dirty="0" err="1"/>
              <a:t>וזכויות</a:t>
            </a:r>
            <a:r>
              <a:rPr dirty="0"/>
              <a:t> </a:t>
            </a:r>
            <a:r>
              <a:rPr dirty="0" err="1"/>
              <a:t>קייס</a:t>
            </a:r>
            <a:r>
              <a:rPr dirty="0"/>
              <a:t> </a:t>
            </a:r>
            <a:r>
              <a:rPr dirty="0" err="1"/>
              <a:t>סטאדי</a:t>
            </a:r>
            <a:r>
              <a:rPr dirty="0"/>
              <a:t>. </a:t>
            </a:r>
            <a:r>
              <a:rPr dirty="0" err="1"/>
              <a:t>שלב</a:t>
            </a:r>
            <a:r>
              <a:rPr dirty="0"/>
              <a:t> 2, </a:t>
            </a:r>
            <a:r>
              <a:rPr dirty="0" err="1"/>
              <a:t>חודשים</a:t>
            </a:r>
            <a:r>
              <a:rPr dirty="0"/>
              <a:t> 4–6: </a:t>
            </a:r>
            <a:r>
              <a:rPr dirty="0" err="1"/>
              <a:t>מכירה</a:t>
            </a:r>
            <a:r>
              <a:rPr dirty="0"/>
              <a:t> </a:t>
            </a:r>
            <a:r>
              <a:rPr dirty="0" err="1"/>
              <a:t>ישירה</a:t>
            </a:r>
            <a:r>
              <a:rPr dirty="0"/>
              <a:t> — </a:t>
            </a:r>
            <a:r>
              <a:rPr dirty="0" err="1"/>
              <a:t>פנייה</a:t>
            </a:r>
            <a:r>
              <a:rPr dirty="0"/>
              <a:t> ל-VP R&amp;D ו-VP People </a:t>
            </a:r>
            <a:r>
              <a:rPr dirty="0" err="1"/>
              <a:t>בהייטק</a:t>
            </a:r>
            <a:r>
              <a:rPr dirty="0"/>
              <a:t> </a:t>
            </a:r>
            <a:r>
              <a:rPr dirty="0" err="1"/>
              <a:t>ישראלי</a:t>
            </a:r>
            <a:r>
              <a:rPr dirty="0"/>
              <a:t> </a:t>
            </a:r>
            <a:r>
              <a:rPr dirty="0" err="1"/>
              <a:t>של</a:t>
            </a:r>
            <a:r>
              <a:rPr dirty="0"/>
              <a:t> 100–500 </a:t>
            </a:r>
            <a:r>
              <a:rPr dirty="0" err="1"/>
              <a:t>עובדים</a:t>
            </a:r>
            <a:r>
              <a:rPr dirty="0"/>
              <a:t>. </a:t>
            </a:r>
            <a:r>
              <a:rPr dirty="0" err="1"/>
              <a:t>שלב</a:t>
            </a:r>
            <a:r>
              <a:rPr dirty="0"/>
              <a:t> 3, </a:t>
            </a:r>
            <a:r>
              <a:rPr dirty="0" err="1"/>
              <a:t>חודשים</a:t>
            </a:r>
            <a:r>
              <a:rPr dirty="0"/>
              <a:t> 6–12: SDR </a:t>
            </a:r>
            <a:r>
              <a:rPr dirty="0" err="1"/>
              <a:t>ראשון</a:t>
            </a:r>
            <a:r>
              <a:rPr dirty="0"/>
              <a:t>, 40 </a:t>
            </a:r>
            <a:r>
              <a:rPr dirty="0" err="1"/>
              <a:t>פניות</a:t>
            </a:r>
            <a:r>
              <a:rPr dirty="0"/>
              <a:t> </a:t>
            </a:r>
            <a:r>
              <a:rPr dirty="0" err="1"/>
              <a:t>בשבוע</a:t>
            </a:r>
            <a:r>
              <a:rPr dirty="0"/>
              <a:t>, </a:t>
            </a:r>
            <a:r>
              <a:rPr dirty="0" err="1"/>
              <a:t>וקייס</a:t>
            </a:r>
            <a:r>
              <a:rPr dirty="0"/>
              <a:t> </a:t>
            </a:r>
            <a:r>
              <a:rPr dirty="0" err="1"/>
              <a:t>סטאדי</a:t>
            </a:r>
            <a:r>
              <a:rPr dirty="0"/>
              <a:t> </a:t>
            </a:r>
            <a:r>
              <a:rPr dirty="0" err="1"/>
              <a:t>פומבי</a:t>
            </a:r>
            <a:r>
              <a:rPr dirty="0"/>
              <a:t> </a:t>
            </a:r>
            <a:r>
              <a:rPr dirty="0" err="1"/>
              <a:t>בחודש</a:t>
            </a:r>
            <a:r>
              <a:rPr dirty="0"/>
              <a:t> 9. </a:t>
            </a:r>
            <a:r>
              <a:rPr dirty="0" err="1"/>
              <a:t>ואז</a:t>
            </a:r>
            <a:r>
              <a:rPr dirty="0"/>
              <a:t>: Land &amp; expand </a:t>
            </a:r>
            <a:r>
              <a:rPr dirty="0" err="1"/>
              <a:t>בכל</a:t>
            </a:r>
            <a:r>
              <a:rPr dirty="0"/>
              <a:t> </a:t>
            </a:r>
            <a:r>
              <a:rPr dirty="0" err="1"/>
              <a:t>חשבון</a:t>
            </a:r>
            <a:r>
              <a:rPr dirty="0"/>
              <a:t>, </a:t>
            </a:r>
            <a:r>
              <a:rPr dirty="0" err="1"/>
              <a:t>ארה"ב</a:t>
            </a:r>
            <a:r>
              <a:rPr dirty="0"/>
              <a:t> </a:t>
            </a:r>
            <a:r>
              <a:rPr dirty="0" err="1"/>
              <a:t>דרך</a:t>
            </a:r>
            <a:r>
              <a:rPr dirty="0"/>
              <a:t> </a:t>
            </a:r>
            <a:r>
              <a:rPr dirty="0" err="1"/>
              <a:t>לוגואים</a:t>
            </a:r>
            <a:r>
              <a:rPr dirty="0"/>
              <a:t> </a:t>
            </a:r>
            <a:r>
              <a:rPr dirty="0" err="1"/>
              <a:t>ישראליים</a:t>
            </a:r>
            <a:r>
              <a:rPr dirty="0"/>
              <a:t> </a:t>
            </a:r>
            <a:r>
              <a:rPr dirty="0" err="1"/>
              <a:t>עם</a:t>
            </a:r>
            <a:r>
              <a:rPr dirty="0"/>
              <a:t> </a:t>
            </a:r>
            <a:r>
              <a:rPr dirty="0" err="1"/>
              <a:t>סניפים</a:t>
            </a:r>
            <a:r>
              <a:rPr dirty="0"/>
              <a:t> </a:t>
            </a:r>
            <a:r>
              <a:rPr dirty="0" err="1"/>
              <a:t>שם</a:t>
            </a:r>
            <a:r>
              <a:rPr dirty="0"/>
              <a:t>, </a:t>
            </a:r>
            <a:r>
              <a:rPr dirty="0" err="1"/>
              <a:t>ואחר</a:t>
            </a:r>
            <a:r>
              <a:rPr dirty="0"/>
              <a:t> </a:t>
            </a:r>
            <a:r>
              <a:rPr dirty="0" err="1"/>
              <a:t>כך</a:t>
            </a:r>
            <a:r>
              <a:rPr dirty="0"/>
              <a:t> </a:t>
            </a:r>
            <a:r>
              <a:rPr dirty="0" err="1"/>
              <a:t>אירופה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 err="1"/>
              <a:t>למה</a:t>
            </a:r>
            <a:r>
              <a:rPr dirty="0"/>
              <a:t> </a:t>
            </a:r>
            <a:r>
              <a:rPr dirty="0" err="1"/>
              <a:t>ישראל</a:t>
            </a:r>
            <a:r>
              <a:rPr dirty="0"/>
              <a:t> </a:t>
            </a:r>
            <a:r>
              <a:rPr dirty="0" err="1"/>
              <a:t>קודם</a:t>
            </a:r>
            <a:r>
              <a:rPr dirty="0"/>
              <a:t>? </a:t>
            </a:r>
            <a:r>
              <a:rPr dirty="0" err="1"/>
              <a:t>רשת</a:t>
            </a:r>
            <a:r>
              <a:rPr dirty="0"/>
              <a:t> </a:t>
            </a:r>
            <a:r>
              <a:rPr dirty="0" err="1"/>
              <a:t>חמה</a:t>
            </a:r>
            <a:r>
              <a:rPr dirty="0"/>
              <a:t>, </a:t>
            </a:r>
            <a:r>
              <a:rPr dirty="0" err="1"/>
              <a:t>מאמצים</a:t>
            </a:r>
            <a:r>
              <a:rPr dirty="0"/>
              <a:t> </a:t>
            </a:r>
            <a:r>
              <a:rPr dirty="0" err="1"/>
              <a:t>מוקדמים</a:t>
            </a:r>
            <a:r>
              <a:rPr dirty="0"/>
              <a:t> </a:t>
            </a:r>
            <a:r>
              <a:rPr dirty="0" err="1"/>
              <a:t>תובעניים</a:t>
            </a:r>
            <a:r>
              <a:rPr dirty="0"/>
              <a:t>, </a:t>
            </a:r>
            <a:r>
              <a:rPr dirty="0" err="1"/>
              <a:t>ומחזורי</a:t>
            </a:r>
            <a:r>
              <a:rPr dirty="0"/>
              <a:t> </a:t>
            </a:r>
            <a:r>
              <a:rPr dirty="0" err="1"/>
              <a:t>מכירה</a:t>
            </a:r>
            <a:r>
              <a:rPr dirty="0"/>
              <a:t> </a:t>
            </a:r>
            <a:r>
              <a:rPr dirty="0" err="1"/>
              <a:t>קצרים</a:t>
            </a:r>
            <a:r>
              <a:rPr dirty="0"/>
              <a:t> </a:t>
            </a:r>
            <a:r>
              <a:rPr dirty="0" err="1"/>
              <a:t>ששומרים</a:t>
            </a:r>
            <a:r>
              <a:rPr dirty="0"/>
              <a:t> </a:t>
            </a:r>
            <a:r>
              <a:rPr dirty="0" err="1"/>
              <a:t>על</a:t>
            </a:r>
            <a:r>
              <a:rPr dirty="0"/>
              <a:t> CAC </a:t>
            </a:r>
            <a:r>
              <a:rPr dirty="0" err="1"/>
              <a:t>נמוך</a:t>
            </a:r>
            <a:r>
              <a:rPr dirty="0"/>
              <a:t> — </a:t>
            </a:r>
            <a:r>
              <a:rPr dirty="0" err="1"/>
              <a:t>והלוגואים</a:t>
            </a:r>
            <a:r>
              <a:rPr dirty="0"/>
              <a:t> </a:t>
            </a:r>
            <a:r>
              <a:rPr dirty="0" err="1"/>
              <a:t>פותחים</a:t>
            </a:r>
            <a:r>
              <a:rPr dirty="0"/>
              <a:t> </a:t>
            </a:r>
            <a:r>
              <a:rPr dirty="0" err="1"/>
              <a:t>דלתות</a:t>
            </a:r>
            <a:r>
              <a:rPr dirty="0"/>
              <a:t> </a:t>
            </a:r>
            <a:r>
              <a:rPr dirty="0" err="1"/>
              <a:t>בארה"ב</a:t>
            </a:r>
            <a:r>
              <a:rPr dirty="0"/>
              <a:t>.</a:t>
            </a:r>
          </a:p>
          <a:p>
            <a:pPr algn="r" rtl="1"/>
            <a:endParaRPr dirty="0"/>
          </a:p>
          <a:p>
            <a:pPr algn="r" rtl="1"/>
            <a:r>
              <a:rPr dirty="0"/>
              <a:t>[</a:t>
            </a:r>
            <a:r>
              <a:rPr dirty="0" err="1"/>
              <a:t>מעבר</a:t>
            </a:r>
            <a:r>
              <a:rPr dirty="0"/>
              <a:t> </a:t>
            </a:r>
            <a:r>
              <a:rPr dirty="0" err="1"/>
              <a:t>לסיום</a:t>
            </a:r>
            <a:r>
              <a:rPr dirty="0"/>
              <a:t>.]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[שקופית 16 — סיום | 8:30–8:40]</a:t>
            </a:r>
          </a:p>
          <a:p>
            <a:endParaRPr/>
          </a:p>
          <a:p>
            <a:r>
              <a:t>תודה רבה שהקשבתם.</a:t>
            </a:r>
          </a:p>
          <a:p>
            <a:endParaRPr/>
          </a:p>
          <a:p>
            <a:r>
              <a:t>אנחנו בונים את KungFlow כדי להחזיר לאנשים את הריכוז שלהם — ולחברות את השעות שהן כבר משלמות עליהן.</a:t>
            </a:r>
          </a:p>
          <a:p>
            <a:endParaRPr/>
          </a:p>
          <a:p>
            <a:r>
              <a:t>אשמח להראות לכם הדגמה חיה של המערכת, ולענות על כל שאלה.</a:t>
            </a:r>
          </a:p>
          <a:p>
            <a:endParaRPr/>
          </a:p>
          <a:p>
            <a:r>
              <a:t>[לעצור. לחייך. לחכות לשאלות.]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3383280" cy="4754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8275320" y="1417320"/>
            <a:ext cx="566928" cy="566928"/>
          </a:xfrm>
          <a:prstGeom prst="ellipse">
            <a:avLst/>
          </a:prstGeom>
          <a:solidFill>
            <a:srgbClr val="1FA055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006840" y="13624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006840" y="16916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load — everything gets through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75320" y="2898648"/>
            <a:ext cx="566928" cy="566928"/>
          </a:xfrm>
          <a:prstGeom prst="ellipse">
            <a:avLst/>
          </a:prstGeom>
          <a:solidFill>
            <a:srgbClr val="D98E04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006840" y="28437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0068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rising — KungFlow is watching your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4379976"/>
            <a:ext cx="566928" cy="566928"/>
          </a:xfrm>
          <a:prstGeom prst="ellipse">
            <a:avLst/>
          </a:prstGeom>
          <a:solidFill>
            <a:srgbClr val="D2403B"/>
          </a:solidFill>
          <a:ln w="38100">
            <a:solidFill>
              <a:srgbClr val="FFFFFF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9006840" y="4325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006840" y="465429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— interruptions quietly blocked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21208" y="841248"/>
            <a:ext cx="1106424" cy="106070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14400"/>
            <a:ext cx="96012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187452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6600" dirty="0"/>
          </a:p>
        </p:txBody>
      </p:sp>
      <p:sp>
        <p:nvSpPr>
          <p:cNvPr id="15" name="Text 12"/>
          <p:cNvSpPr/>
          <p:nvPr/>
        </p:nvSpPr>
        <p:spPr>
          <a:xfrm>
            <a:off x="594360" y="29718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that protects your people.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594360" y="36118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senses cognitive overload in real time and quietly blocks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— automatically. Healthier minds, deeper work.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94360" y="4983480"/>
            <a:ext cx="6400800" cy="0"/>
          </a:xfrm>
          <a:prstGeom prst="line">
            <a:avLst/>
          </a:prstGeom>
          <a:noFill/>
          <a:ln w="12700">
            <a:solidFill>
              <a:srgbClr val="D8D4C9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5943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  ·  2026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4360" y="5486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Leeor Nessing  ·  Ido Mark  ·  Rotem Saraf  ·  Eden Elkayam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people who lived the problem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1472184" y="2148840"/>
            <a:ext cx="822960" cy="822960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147218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Leeor Nessing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&amp; UX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strategy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65576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2"/>
          <p:cNvSpPr/>
          <p:nvPr/>
        </p:nvSpPr>
        <p:spPr>
          <a:xfrm>
            <a:off x="4343400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Text 13"/>
          <p:cNvSpPr/>
          <p:nvPr/>
        </p:nvSpPr>
        <p:spPr>
          <a:xfrm>
            <a:off x="434340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557016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Ido Mark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557016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57016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336792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8"/>
          <p:cNvSpPr/>
          <p:nvPr/>
        </p:nvSpPr>
        <p:spPr>
          <a:xfrm>
            <a:off x="7214616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19"/>
          <p:cNvSpPr/>
          <p:nvPr/>
        </p:nvSpPr>
        <p:spPr>
          <a:xfrm>
            <a:off x="721461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28232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Rotem Saraf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428232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28232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208008" y="1828800"/>
            <a:ext cx="2578608" cy="27432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Shape 24"/>
          <p:cNvSpPr/>
          <p:nvPr/>
        </p:nvSpPr>
        <p:spPr>
          <a:xfrm>
            <a:off x="10085832" y="214884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1008583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99448" y="3127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Eden Elkayam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299448" y="3493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299448" y="382219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594360" y="4983480"/>
            <a:ext cx="11000232" cy="1051560"/>
          </a:xfrm>
          <a:prstGeom prst="roundRect">
            <a:avLst>
              <a:gd name="adj" fmla="val 7826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3" name="Text 30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us?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problem sits exactly between cognitive psychology and software engineering — and so do we. We built KungFlow because notifications were burning our own working hours.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in the zone — then the pings hit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interruptions per workday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6868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Pings, messages and alerts — one every ~9 minutes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1"/>
          <p:cNvSpPr/>
          <p:nvPr/>
        </p:nvSpPr>
        <p:spPr>
          <a:xfrm>
            <a:off x="466344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028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515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 min</a:t>
            </a:r>
            <a:endParaRPr lang="en-US" sz="4800" dirty="0"/>
          </a:p>
        </p:txBody>
      </p:sp>
      <p:sp>
        <p:nvSpPr>
          <p:cNvPr id="18" name="Text 13"/>
          <p:cNvSpPr/>
          <p:nvPr/>
        </p:nvSpPr>
        <p:spPr>
          <a:xfrm>
            <a:off x="466344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regain deep focus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466344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single interruption (Mark, UC Irvine)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83880" y="182880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6"/>
          <p:cNvSpPr/>
          <p:nvPr/>
        </p:nvSpPr>
        <p:spPr>
          <a:xfrm>
            <a:off x="8458200" y="2103120"/>
            <a:ext cx="603504" cy="603504"/>
          </a:xfrm>
          <a:prstGeom prst="ellipse">
            <a:avLst/>
          </a:prstGeom>
          <a:solidFill>
            <a:srgbClr val="E7F1E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22402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39912" y="278892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up</a:t>
            </a:r>
            <a:endParaRPr lang="en-US" sz="4000" dirty="0"/>
          </a:p>
        </p:txBody>
      </p:sp>
      <p:sp>
        <p:nvSpPr>
          <p:cNvPr id="24" name="Text 18"/>
          <p:cNvSpPr/>
          <p:nvPr/>
        </p:nvSpPr>
        <p:spPr>
          <a:xfrm>
            <a:off x="84582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35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price of pings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458200" y="39319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work raises stress, frustration &amp; time pressure (CHI '08)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94360" y="50292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Text 21"/>
          <p:cNvSpPr/>
          <p:nvPr/>
        </p:nvSpPr>
        <p:spPr>
          <a:xfrm>
            <a:off x="868680" y="512064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that for a second — your focus shattering. Now multiply it across every employee. That's what it costs the company.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costs people. Then it costs money.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39496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HUMAN COST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233172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stress and lower job satisfaction among employees with more digital interruptions (Microsoft)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12B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working days lost globally every year to depression &amp; anxiety — a $1T productivity bill (WHO)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868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interruption load is a direct driver of workplace stress and burnout.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6537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D98E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BUSINESS COST — 250-PERSON COMPANY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23317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$30M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payroll for 250 employees, every year</a:t>
            </a:r>
            <a:endParaRPr lang="en-US" sz="3000" dirty="0"/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~5%</a:t>
            </a: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it — $1.5M+ — lost to interruptions (~2 hrs per person, daily)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37960" y="4297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$10K gross/mo · employer cost ~$75/hr — money you already spend.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94360" y="5074920"/>
            <a:ext cx="11000232" cy="960120"/>
          </a:xfrm>
          <a:prstGeom prst="roundRect">
            <a:avLst>
              <a:gd name="adj" fmla="val 857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68680" y="5166360"/>
            <a:ext cx="10451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wellbeing pays.  </a:t>
            </a:r>
            <a:r>
              <a:rPr lang="en-US" sz="16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employee mental health returns ~$4 in health and productivity (WHO).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Plenty of fixes. None act in time.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965960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758952" y="2167128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2768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084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Do-Not-Disturb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71600" y="241401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an overloaded brain to notice it's overloaded — exactly when it can't.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4360" y="2990088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0"/>
          <p:cNvSpPr/>
          <p:nvPr/>
        </p:nvSpPr>
        <p:spPr>
          <a:xfrm>
            <a:off x="758952" y="3191256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30098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08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trackers (RescueTime, Toggl)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71600" y="343814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damage after it's done. A speedometer, not a seatbelt.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94360" y="4014216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9" name="Shape 14"/>
          <p:cNvSpPr/>
          <p:nvPr/>
        </p:nvSpPr>
        <p:spPr>
          <a:xfrm>
            <a:off x="758952" y="4215384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1330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focus-hour policies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371600" y="44622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One-size-fits-none. Not personal, not enforced, quietly resented.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94360" y="5038344"/>
            <a:ext cx="73152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18"/>
          <p:cNvSpPr/>
          <p:nvPr/>
        </p:nvSpPr>
        <p:spPr>
          <a:xfrm>
            <a:off x="758952" y="5239512"/>
            <a:ext cx="457200" cy="457200"/>
          </a:xfrm>
          <a:prstGeom prst="ellipse">
            <a:avLst/>
          </a:prstGeom>
          <a:solidFill>
            <a:srgbClr val="F0EEE7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3492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515721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 apps (Calm, Headspace)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1371600" y="54864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— but they live outside the workflow where the damage happens.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8183880" y="1965960"/>
            <a:ext cx="3429000" cy="4041648"/>
          </a:xfrm>
          <a:prstGeom prst="roundRect">
            <a:avLst>
              <a:gd name="adj" fmla="val 2400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9" name="Text 22"/>
          <p:cNvSpPr/>
          <p:nvPr/>
        </p:nvSpPr>
        <p:spPr>
          <a:xfrm>
            <a:off x="84582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8458200" y="26974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tool detects overload and acts on it — automatically, in real time, with zero effort from the employee.</a:t>
            </a:r>
            <a:endParaRPr lang="en-US" sz="1800" dirty="0"/>
          </a:p>
        </p:txBody>
      </p:sp>
      <p:sp>
        <p:nvSpPr>
          <p:cNvPr id="31" name="Text 24"/>
          <p:cNvSpPr/>
          <p:nvPr/>
        </p:nvSpPr>
        <p:spPr>
          <a:xfrm>
            <a:off x="8458200" y="5166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F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product we built.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— a firewall for your focus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Shape 6"/>
          <p:cNvSpPr/>
          <p:nvPr/>
        </p:nvSpPr>
        <p:spPr>
          <a:xfrm>
            <a:off x="868680" y="2148840"/>
            <a:ext cx="658368" cy="658368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30428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SENSE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6868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behavioral rhythm only — typing speed, window switches, mouse motion. Every minute, silently.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3088" y="3063240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8912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Shape 10"/>
          <p:cNvSpPr/>
          <p:nvPr/>
        </p:nvSpPr>
        <p:spPr>
          <a:xfrm>
            <a:off x="4663440" y="2148840"/>
            <a:ext cx="658368" cy="658368"/>
          </a:xfrm>
          <a:prstGeom prst="ellipse">
            <a:avLst/>
          </a:prstGeom>
          <a:solidFill>
            <a:srgbClr val="0B6E66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2304288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UNDERSTAND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66344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cognitive load against your personal baseline. It learns what “normal” means for you.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48" y="306324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83880" y="18745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4"/>
          <p:cNvSpPr/>
          <p:nvPr/>
        </p:nvSpPr>
        <p:spPr>
          <a:xfrm>
            <a:off x="8458200" y="2148840"/>
            <a:ext cx="658368" cy="658368"/>
          </a:xfrm>
          <a:prstGeom prst="ellipse">
            <a:avLst/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648" y="23042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582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PROTECT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8458200" y="33832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exceeds 125% of baseline? </a:t>
            </a:r>
            <a:r>
              <a:rPr lang="en-US" sz="1400" dirty="0"/>
              <a:t>Focus Firewall turns on and mutes distracting apps.</a:t>
            </a: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Load drops? Everything back. Automatically.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94360" y="480060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8"/>
          <p:cNvSpPr/>
          <p:nvPr/>
        </p:nvSpPr>
        <p:spPr>
          <a:xfrm>
            <a:off x="868680" y="49377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buttons. No willpower. No new habits.  </a:t>
            </a:r>
            <a:r>
              <a:rPr lang="en-US" sz="16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just works — KungFlow guards the door. Desktop agent (Windows), live today.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on Windows today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9" name="Image 1" descr="assets/slide08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74520"/>
            <a:ext cx="5074920" cy="36428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" y="5636254"/>
            <a:ext cx="274320" cy="274320"/>
          </a:xfrm>
          <a:prstGeom prst="ellipse">
            <a:avLst/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103327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load — everything gets through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63640" y="1783080"/>
            <a:ext cx="5257800" cy="4328662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pic>
        <p:nvPicPr>
          <p:cNvPr id="13" name="Image 2" descr="assets/slide09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74520"/>
            <a:ext cx="5074920" cy="364286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0" y="5636254"/>
            <a:ext cx="274320" cy="274320"/>
          </a:xfrm>
          <a:prstGeom prst="ellipse">
            <a:avLst/>
          </a:prstGeom>
          <a:solidFill>
            <a:srgbClr val="D2403B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0"/>
          <p:cNvSpPr/>
          <p:nvPr/>
        </p:nvSpPr>
        <p:spPr>
          <a:xfrm>
            <a:off x="6793992" y="5590534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 detected — firewall on, quiet restored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6263640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version — desktop agent + cloud scoring — running live on Windows today. Full walkthrough available after the pitch.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surveillance. The opposite.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5778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 NEVER SEES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3774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331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type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77063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7249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you visit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16382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1181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you open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557016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5112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— of anything, ever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ONLY SENSES RHYTHM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498848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4348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speed &amp; window switches — signals your OS already has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956048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8920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signals are anonymized and aggregated — managers see team trends only, never an individual's score.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413248"/>
            <a:ext cx="219456" cy="219456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234440" y="5349240"/>
            <a:ext cx="4800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can pause data collection. One toggle, no questions.</a:t>
            </a:r>
            <a:endParaRPr lang="en-US" sz="1400" dirty="0"/>
          </a:p>
        </p:txBody>
      </p:sp>
      <p:sp>
        <p:nvSpPr>
          <p:cNvPr id="25" name="Shape 15"/>
          <p:cNvSpPr/>
          <p:nvPr/>
        </p:nvSpPr>
        <p:spPr>
          <a:xfrm>
            <a:off x="6446520" y="178308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BEAE9"/>
          </a:solidFill>
          <a:ln w="9525">
            <a:solidFill>
              <a:srgbClr val="FBEAE9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16"/>
          <p:cNvSpPr/>
          <p:nvPr/>
        </p:nvSpPr>
        <p:spPr>
          <a:xfrm>
            <a:off x="6720840" y="201168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56% vs 40%</a:t>
            </a:r>
            <a:endParaRPr lang="en-US" sz="3400" dirty="0"/>
          </a:p>
          <a:p>
            <a:pPr marL="0" indent="0">
              <a:buNone/>
            </a:pPr>
            <a:r>
              <a:rPr lang="en-US" sz="15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digitally monitored employees feel tense or stressed at work, compared to non-monitored peers (APA, Work in America 2023).</a:t>
            </a:r>
            <a:endParaRPr lang="en-US" sz="3400" dirty="0"/>
          </a:p>
        </p:txBody>
      </p:sp>
      <p:sp>
        <p:nvSpPr>
          <p:cNvPr id="27" name="Shape 17"/>
          <p:cNvSpPr/>
          <p:nvPr/>
        </p:nvSpPr>
        <p:spPr>
          <a:xfrm>
            <a:off x="6446520" y="4251960"/>
            <a:ext cx="5166360" cy="1737360"/>
          </a:xfrm>
          <a:prstGeom prst="roundRect">
            <a:avLst>
              <a:gd name="adj" fmla="val 4737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18"/>
          <p:cNvSpPr/>
          <p:nvPr/>
        </p:nvSpPr>
        <p:spPr>
          <a:xfrm>
            <a:off x="6720840" y="438912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backfires.  </a:t>
            </a:r>
            <a:r>
              <a:rPr lang="en-US" sz="15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flipped the model: the data belongs to the employee and works for the employee. KungFlow is a perk, not a watchdog.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tested it. Focus won.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566928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accuracy — error-correction task, score out of 20</a:t>
            </a:r>
            <a:endParaRPr lang="en-US" sz="15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822960" y="237744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1783080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Text 8"/>
          <p:cNvSpPr/>
          <p:nvPr/>
        </p:nvSpPr>
        <p:spPr>
          <a:xfrm>
            <a:off x="6766560" y="18928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+165%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8503920" y="189280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task scores once interruptions were removed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37960" y="2990088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1"/>
          <p:cNvSpPr/>
          <p:nvPr/>
        </p:nvSpPr>
        <p:spPr>
          <a:xfrm>
            <a:off x="6766560" y="309981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49%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8503920" y="309981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missed in the same 10-minute window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37960" y="4197096"/>
            <a:ext cx="507492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66560" y="43068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+25%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8503920" y="4306824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gain after controlling for natural learning effects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5486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pilot, n=8, with a learning-effect control group (2026). Larger study planned with design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 for one 250-person company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F5E9E8"/>
          </a:solidFill>
          <a:ln w="9525">
            <a:solidFill>
              <a:srgbClr val="F5E9E8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240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$1.5M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at just 5% of payroll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995928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416552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599432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$90K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690872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KungFlow — 0.3% of payroll, all 250 seats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818120" y="2651760"/>
            <a:ext cx="512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6B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238744" y="1874520"/>
            <a:ext cx="3474720" cy="2011680"/>
          </a:xfrm>
          <a:prstGeom prst="roundRect">
            <a:avLst>
              <a:gd name="adj" fmla="val 4091"/>
            </a:avLst>
          </a:prstGeom>
          <a:solidFill>
            <a:srgbClr val="EAF4EC"/>
          </a:solidFill>
          <a:ln w="9525">
            <a:solidFill>
              <a:srgbClr val="EAF4EC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421624" y="2148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A0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: 1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8513064" y="3063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every $1 spent — and you add no real spend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94360" y="4251960"/>
            <a:ext cx="11000232" cy="1691640"/>
          </a:xfrm>
          <a:prstGeom prst="roundRect">
            <a:avLst>
              <a:gd name="adj" fmla="val 4865"/>
            </a:avLst>
          </a:prstGeom>
          <a:solidFill>
            <a:srgbClr val="10243E"/>
          </a:solidFill>
          <a:ln w="9525">
            <a:solidFill>
              <a:srgbClr val="10243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9144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FOR EVERY SINGLE EMPLOYEE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144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hrs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9144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deep work back, daily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 → quiet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45720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interruptions blocked at the right moment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Calmer days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8229600" y="5349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stress, lower burnout risk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big problem — and an empty category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E8F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1.2B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868680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worldwide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16552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3" name="Text 10"/>
          <p:cNvSpPr/>
          <p:nvPr/>
        </p:nvSpPr>
        <p:spPr>
          <a:xfrm>
            <a:off x="4690872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90872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400K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4690872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workers in Israel — our beachhead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38744" y="178308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7" name="Text 14"/>
          <p:cNvSpPr/>
          <p:nvPr/>
        </p:nvSpPr>
        <p:spPr>
          <a:xfrm>
            <a:off x="8513064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Y1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513064" y="22128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2,500</a:t>
            </a:r>
            <a:endParaRPr lang="en-US" sz="4200" dirty="0"/>
          </a:p>
        </p:txBody>
      </p:sp>
      <p:sp>
        <p:nvSpPr>
          <p:cNvPr id="19" name="Text 16"/>
          <p:cNvSpPr/>
          <p:nvPr/>
        </p:nvSpPr>
        <p:spPr>
          <a:xfrm>
            <a:off x="8513064" y="2971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across 10 mid-market companies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3977640"/>
            <a:ext cx="11000232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8686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Acts automatically, in real time?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6868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0"/>
          <p:cNvSpPr/>
          <p:nvPr/>
        </p:nvSpPr>
        <p:spPr>
          <a:xfrm>
            <a:off x="9601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RescueTime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500176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83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after the fact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06324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3"/>
          <p:cNvSpPr/>
          <p:nvPr/>
        </p:nvSpPr>
        <p:spPr>
          <a:xfrm>
            <a:off x="315468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 for Business</a:t>
            </a:r>
            <a:endParaRPr lang="en-US" sz="13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500176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13639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workflow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525780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6"/>
          <p:cNvSpPr/>
          <p:nvPr/>
        </p:nvSpPr>
        <p:spPr>
          <a:xfrm>
            <a:off x="534924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Viva Insights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00176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33095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dashboards only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45236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0EEE7"/>
          </a:solidFill>
          <a:ln w="12700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29"/>
          <p:cNvSpPr/>
          <p:nvPr/>
        </p:nvSpPr>
        <p:spPr>
          <a:xfrm>
            <a:off x="75438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DND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500176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2551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user to act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646920" y="457200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0E8F84"/>
          </a:solidFill>
          <a:ln w="12700">
            <a:solidFill>
              <a:srgbClr val="0B6E6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2"/>
          <p:cNvSpPr/>
          <p:nvPr/>
        </p:nvSpPr>
        <p:spPr>
          <a:xfrm>
            <a:off x="973836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KungFlow</a:t>
            </a:r>
            <a:endParaRPr lang="en-US" sz="13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5001768"/>
            <a:ext cx="274320" cy="27432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720072" y="53035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D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&amp; protects on its own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SaaS that climbs the org chart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94360" y="507492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E7F1EE"/>
          </a:solidFill>
          <a:ln w="9525">
            <a:solidFill>
              <a:srgbClr val="E7F1EE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868680" y="5166360"/>
            <a:ext cx="104515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by design:  free individual → paid team → manager → org, no new sales motion.   ACV $90K  ·  LTV:CAC 11:1  ·  3-yr retention</a:t>
            </a:r>
            <a:endParaRPr lang="en-US" sz="1650" dirty="0"/>
          </a:p>
        </p:txBody>
      </p:sp>
      <p:sp>
        <p:nvSpPr>
          <p:cNvPr id="29" name="Rounded Rectangle 28"/>
          <p:cNvSpPr/>
          <p:nvPr/>
        </p:nvSpPr>
        <p:spPr>
          <a:xfrm>
            <a:off x="594360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 forever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For individuals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Live cognitive-load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Auto-DND · 1 device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7-day focus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For individuals · real focus protection, free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47288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03320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$20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Free, plus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Adaptive personal baseline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All apps + all devices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Unlimited history +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The power user · it learns you &amp; covers every app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216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56248" y="1810512"/>
            <a:ext cx="19751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FD8E3"/>
                </a:solidFill>
                <a:latin typeface="Trebuchet MS"/>
              </a:rPr>
              <a:t>MOST POPULAR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2084831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Trebuchet MS"/>
              </a:rPr>
              <a:t>Business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56248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Trebuchet MS"/>
              </a:rPr>
              <a:t>$30</a:t>
            </a:r>
            <a:r>
              <a:rPr sz="1200" b="0" i="0">
                <a:solidFill>
                  <a:srgbClr val="CFD8E3"/>
                </a:solidFill>
                <a:latin typeface="Calibri"/>
              </a:rPr>
              <a:t> /user/mo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6248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Everything in Team, plus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6248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Team focus analytics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Custom &amp; VIP rules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56248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Admin console + onboarding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56248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CFD8E3"/>
                </a:solidFill>
                <a:latin typeface="Calibri"/>
              </a:rPr>
              <a:t>The manager · a whole team in deep work, with visibility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53144" y="1627632"/>
            <a:ext cx="2487168" cy="327355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09176" y="1810512"/>
            <a:ext cx="1975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0243E"/>
                </a:solidFill>
                <a:latin typeface="Trebuchet MS"/>
              </a:rPr>
              <a:t>Enterprise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2340864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0B6E66"/>
                </a:solidFill>
                <a:latin typeface="Trebuchet MS"/>
              </a:rPr>
              <a:t>$45+</a:t>
            </a:r>
            <a:r>
              <a:rPr sz="1200" b="0" i="0">
                <a:solidFill>
                  <a:srgbClr val="5B6B7E"/>
                </a:solidFill>
                <a:latin typeface="Calibri"/>
              </a:rPr>
              <a:t> /user/mo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09176" y="2889504"/>
            <a:ext cx="197510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0B6E66"/>
                </a:solidFill>
                <a:latin typeface="Calibri"/>
              </a:rPr>
              <a:t>Everything in Business, plus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09176" y="321868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Org burnout-risk analytics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9176" y="358444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AI recap of missed pings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6" y="3950208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0B6E66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26354A"/>
                </a:solidFill>
                <a:latin typeface="Calibri"/>
              </a:rPr>
              <a:t>SSO/SAML · CSM + SLA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09176" y="4224528"/>
            <a:ext cx="1975104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50" b="0" i="1">
                <a:solidFill>
                  <a:srgbClr val="10243E"/>
                </a:solidFill>
                <a:latin typeface="Calibri"/>
              </a:rPr>
              <a:t>HR + IT · org-wide rollout, security &amp;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29768"/>
            <a:ext cx="146304" cy="146304"/>
          </a:xfrm>
          <a:prstGeom prst="ellipse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$770K seed — break-even in 12 months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09960" y="237744"/>
            <a:ext cx="585216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7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83464"/>
            <a:ext cx="493776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9120" y="1780199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86868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OF FUNDS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— Scale &amp; v2 development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8680" y="2752344"/>
            <a:ext cx="3108960" cy="182880"/>
          </a:xfrm>
          <a:prstGeom prst="rect">
            <a:avLst/>
          </a:prstGeom>
          <a:solidFill>
            <a:srgbClr val="0E8F8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4050792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3099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429000"/>
            <a:ext cx="981777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1923609" y="334670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7764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68680" y="4105656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5"/>
          <p:cNvSpPr/>
          <p:nvPr/>
        </p:nvSpPr>
        <p:spPr>
          <a:xfrm>
            <a:off x="1596350" y="40233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44531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(SDR from M6)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868680" y="4782312"/>
            <a:ext cx="65451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8"/>
          <p:cNvSpPr/>
          <p:nvPr/>
        </p:nvSpPr>
        <p:spPr>
          <a:xfrm>
            <a:off x="1596350" y="470001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" y="51297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68680" y="5458968"/>
            <a:ext cx="64008" cy="182880"/>
          </a:xfrm>
          <a:prstGeom prst="rect">
            <a:avLst/>
          </a:prstGeom>
          <a:solidFill>
            <a:srgbClr val="B9D8D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1"/>
          <p:cNvSpPr/>
          <p:nvPr/>
        </p:nvSpPr>
        <p:spPr>
          <a:xfrm>
            <a:off x="1005840" y="5376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4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806440" y="1783080"/>
            <a:ext cx="58064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9525">
            <a:solidFill>
              <a:srgbClr val="E5E2DA"/>
            </a:solidFill>
            <a:prstDash val="solid"/>
          </a:ln>
          <a:effectLst>
            <a:outerShdw blurRad="114300" dist="38100" dir="8100000" algn="bl" rotWithShape="0">
              <a:srgbClr val="1A2B40">
                <a:alpha val="14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Text 23"/>
          <p:cNvSpPr/>
          <p:nvPr/>
        </p:nvSpPr>
        <p:spPr>
          <a:xfrm>
            <a:off x="608076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00" dirty="0">
                <a:solidFill>
                  <a:srgbClr val="0B6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YEAR-1 MILESTONES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80760" y="2423160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5"/>
          <p:cNvSpPr/>
          <p:nvPr/>
        </p:nvSpPr>
        <p:spPr>
          <a:xfrm>
            <a:off x="6080760" y="242316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M3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design partners live, feeding real usage data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37376" y="2880360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8"/>
          <p:cNvSpPr/>
          <p:nvPr/>
        </p:nvSpPr>
        <p:spPr>
          <a:xfrm>
            <a:off x="6080760" y="3099816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29"/>
          <p:cNvSpPr/>
          <p:nvPr/>
        </p:nvSpPr>
        <p:spPr>
          <a:xfrm>
            <a:off x="6080760" y="3099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09981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company — revenue starts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437376" y="3557016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2"/>
          <p:cNvSpPr/>
          <p:nvPr/>
        </p:nvSpPr>
        <p:spPr>
          <a:xfrm>
            <a:off x="6080760" y="3776472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Text 33"/>
          <p:cNvSpPr/>
          <p:nvPr/>
        </p:nvSpPr>
        <p:spPr>
          <a:xfrm>
            <a:off x="6080760" y="377647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9440" y="3776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SDR hired, outbound machine running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437376" y="4233672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6"/>
          <p:cNvSpPr/>
          <p:nvPr/>
        </p:nvSpPr>
        <p:spPr>
          <a:xfrm>
            <a:off x="6080760" y="4453128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0243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Text 37"/>
          <p:cNvSpPr/>
          <p:nvPr/>
        </p:nvSpPr>
        <p:spPr>
          <a:xfrm>
            <a:off x="6080760" y="445312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M9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49440" y="4453128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case study with measured results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437376" y="4910328"/>
            <a:ext cx="0" cy="219456"/>
          </a:xfrm>
          <a:prstGeom prst="line">
            <a:avLst/>
          </a:prstGeom>
          <a:noFill/>
          <a:ln w="19050">
            <a:solidFill>
              <a:srgbClr val="C9C5B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0"/>
          <p:cNvSpPr/>
          <p:nvPr/>
        </p:nvSpPr>
        <p:spPr>
          <a:xfrm>
            <a:off x="6080760" y="5129784"/>
            <a:ext cx="713232" cy="457200"/>
          </a:xfrm>
          <a:prstGeom prst="roundRect">
            <a:avLst>
              <a:gd name="adj" fmla="val 12000"/>
            </a:avLst>
          </a:prstGeom>
          <a:solidFill>
            <a:srgbClr val="1FA05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4" name="Text 41"/>
          <p:cNvSpPr/>
          <p:nvPr/>
        </p:nvSpPr>
        <p:spPr>
          <a:xfrm>
            <a:off x="6080760" y="512978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9440" y="512978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companies · 2,500 users · $900K ARR · break-even</a:t>
            </a:r>
            <a:endParaRPr lang="en-US" sz="1450" dirty="0"/>
          </a:p>
        </p:txBody>
      </p:sp>
      <p:sp>
        <p:nvSpPr>
          <p:cNvPr id="46" name="Text 43"/>
          <p:cNvSpPr/>
          <p:nvPr/>
        </p:nvSpPr>
        <p:spPr>
          <a:xfrm>
            <a:off x="594360" y="6172200"/>
            <a:ext cx="11000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12 months of operations ($550K deficit) + 3-month buffer. One goal: 10 mid-market companies.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6E66"/>
                </a:solidFill>
                <a:latin typeface="Trebuchet MS"/>
              </a:rPr>
              <a:t>GTM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0243E"/>
                </a:solidFill>
                <a:latin typeface="Trebuchet MS"/>
              </a:rPr>
              <a:t>Product-led growth: free spreads, value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B6B7E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1 · ADOPT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Free, bottom-up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Individuals install the free tier and get real focus value — zero friction, no buyer needed. It spreads desk to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2 · CONVERT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Free →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Power users self-upgrade for the adaptive baseline and all their apps. Pure self-serve — no salesperson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B6E66"/>
                </a:solidFill>
                <a:latin typeface="Trebuchet MS"/>
              </a:rPr>
              <a:t>3 · 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0243E"/>
                </a:solidFill>
                <a:latin typeface="Trebuchet MS"/>
              </a:rPr>
              <a:t>Team →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26354A"/>
                </a:solidFill>
                <a:latin typeface="Calibri"/>
              </a:rPr>
              <a:t>Managers see their team already using it and buy team analytics, admin and custom rules. Light sales-assist.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20824"/>
            <a:ext cx="19751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Trebuchet MS"/>
              </a:rPr>
              <a:t>4 · STANDARDIZE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68296"/>
            <a:ext cx="19751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rebuchet MS"/>
              </a:rPr>
              <a:t>→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7510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CFD8E3"/>
                </a:solidFill>
                <a:latin typeface="Calibri"/>
              </a:rPr>
              <a:t>HR and IT roll it out org-wide — SSO, burnout analytics, dedicated CSM. Top-down lands on bottom-up demand.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0243E"/>
                </a:solidFill>
                <a:latin typeface="Trebuchet MS"/>
              </a:rPr>
              <a:t>Free does the selling.  </a:t>
            </a:r>
            <a:r>
              <a:rPr sz="1300" b="0" i="0">
                <a:solidFill>
                  <a:srgbClr val="26354A"/>
                </a:solidFill>
                <a:latin typeface="Calibri"/>
              </a:rPr>
              <a:t>The product expands itself up the org chart — low CAC, fast payback, and it compounds as every free user pulls the next one 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429768"/>
            <a:ext cx="146304" cy="146304"/>
          </a:xfrm>
          <a:prstGeom prst="rect">
            <a:avLst/>
          </a:prstGeom>
          <a:solidFill>
            <a:srgbClr val="0E8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13816" y="28346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B6E66"/>
                </a:solidFill>
                <a:latin typeface="Trebuchet M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0023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0243E"/>
                </a:solidFill>
                <a:latin typeface="Trebuchet MS"/>
              </a:rPr>
              <a:t>How we reach 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3550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B6B7E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1 · M1–3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Design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2 companies from our own network, installed free — in exchange for feedback and case-study rights.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2 · M4–6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Founder-led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We sell directly. LinkedIn outreach to VP R&amp;D and VP People at Israeli tech, 100–500 employees.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74536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B6E66"/>
                </a:solidFill>
                <a:latin typeface="Trebuchet MS"/>
              </a:rPr>
              <a:t>PHASE 3 · M6–12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0243E"/>
                </a:solidFill>
                <a:latin typeface="Trebuchet MS"/>
              </a:rPr>
              <a:t>Scale outbound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26354A"/>
                </a:solidFill>
                <a:latin typeface="Calibri"/>
              </a:rPr>
              <a:t>First SDR at M6. 40 sequences/week. Public case study at M9 with measured results.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783080"/>
            <a:ext cx="2487168" cy="3246120"/>
          </a:xfrm>
          <a:prstGeom prst="roundRect">
            <a:avLst>
              <a:gd name="adj" fmla="val 3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201168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Trebuchet MS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350008"/>
            <a:ext cx="1938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Expand outward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926080"/>
            <a:ext cx="193852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CFD8E3"/>
                </a:solidFill>
                <a:latin typeface="Calibri"/>
              </a:rPr>
              <a:t>Land &amp; expand inside each account, then US via Israeli logos with US offices, then Europe (GDPR).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349240"/>
            <a:ext cx="11000232" cy="914400"/>
          </a:xfrm>
          <a:prstGeom prst="roundRect">
            <a:avLst>
              <a:gd name="adj" fmla="val 3000"/>
            </a:avLst>
          </a:prstGeom>
          <a:solidFill>
            <a:srgbClr val="F4F2EC"/>
          </a:solidFill>
          <a:ln w="9525">
            <a:solidFill>
              <a:srgbClr val="E5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532120"/>
            <a:ext cx="10451592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0243E"/>
                </a:solidFill>
                <a:latin typeface="Trebuchet MS"/>
              </a:rPr>
              <a:t>Why Israel first:  </a:t>
            </a:r>
            <a:r>
              <a:rPr sz="1300" b="0">
                <a:solidFill>
                  <a:srgbClr val="26354A"/>
                </a:solidFill>
                <a:latin typeface="Calibri"/>
              </a:rPr>
              <a:t>warm founder network, demanding early adopters, and short sales cycles keep CAC low — and Israeli logos open doors in the 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1244" y="1161288"/>
            <a:ext cx="1426464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assets/slide01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72" y="1216152"/>
            <a:ext cx="1207008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6118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FD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give people their focus back.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KungFlow  ·  Leeor Nessing  ·  leeorn@gmail.com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3553</Words>
  <Application>Microsoft Office PowerPoint</Application>
  <PresentationFormat>מסך רחב</PresentationFormat>
  <Paragraphs>410</Paragraphs>
  <Slides>16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KungFlow — Investor Pitch</dc:title>
  <dc:subject>PptxGenJS Presentation</dc:subject>
  <dc:creator>KungFlow</dc:creator>
  <cp:lastModifiedBy>Ido Mark</cp:lastModifiedBy>
  <cp:revision>4</cp:revision>
  <dcterms:created xsi:type="dcterms:W3CDTF">2026-06-11T17:16:04Z</dcterms:created>
  <dcterms:modified xsi:type="dcterms:W3CDTF">2026-06-17T09:56:28Z</dcterms:modified>
</cp:coreProperties>
</file>
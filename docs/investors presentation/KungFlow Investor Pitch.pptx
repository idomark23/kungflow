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6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8" r:id="rId14"/>
  </p:sldIdLst>
  <p:sldSz cx="9144000" cy="5143500" type="screen16x9"/>
  <p:notesSz cx="5143500" cy="9144000"/>
  <p:embeddedFontLst>
    <p:embeddedFont>
      <p:font typeface="Inter" panose="020B0604020202020204" charset="0"/>
      <p:regular r:id="rId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430" autoAdjust="0"/>
    <p:restoredTop sz="94610"/>
  </p:normalViewPr>
  <p:slideViewPr>
    <p:cSldViewPr snapToGrid="0" snapToObjects="1">
      <p:cViewPr varScale="1">
        <p:scale>
          <a:sx n="210" d="100"/>
          <a:sy n="210" d="100"/>
        </p:scale>
        <p:origin x="32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46287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8575" cy="51435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811775" y="1656196"/>
            <a:ext cx="49530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001"/>
              </a:lnSpc>
              <a:buNone/>
            </a:pPr>
            <a:r>
              <a:rPr lang="en-US" sz="4800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KungFlow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824475" y="2468995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66"/>
              </a:lnSpc>
              <a:buNone/>
            </a:pPr>
            <a:r>
              <a:rPr lang="en-US" sz="1550" dirty="0">
                <a:solidFill>
                  <a:srgbClr val="D6DEF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Reclaim Your Focus.  Measure Your Mind.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1824475" y="2913495"/>
            <a:ext cx="38100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5"/>
              </a:lnSpc>
              <a:buNone/>
            </a:pPr>
            <a:r>
              <a:rPr lang="en-US" sz="900" dirty="0">
                <a:solidFill>
                  <a:srgbClr val="6B7891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Investor Pitch Deck  - 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0550" y="4667250"/>
            <a:ext cx="800100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76"/>
              </a:lnSpc>
              <a:buNone/>
            </a:pPr>
            <a:r>
              <a:rPr lang="en-US" sz="641" dirty="0">
                <a:solidFill>
                  <a:srgbClr val="6B7891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Ido Mark   Rotem Saraf   Eden Elkayam   Leeor Nessing</a:t>
            </a:r>
            <a:endParaRPr lang="en-US" sz="641" dirty="0"/>
          </a:p>
        </p:txBody>
      </p:sp>
      <p:pic>
        <p:nvPicPr>
          <p:cNvPr id="10" name="KungFlow Logo Large">
            <a:extLst>
              <a:ext uri="{FF2B5EF4-FFF2-40B4-BE49-F238E27FC236}">
                <a16:creationId xmlns:a16="http://schemas.microsoft.com/office/drawing/2014/main" id="{803CA41F-6E16-B110-818D-C0F963069FE9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843284" y="1712192"/>
            <a:ext cx="998975" cy="95249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8575" cy="51435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71500" y="333375"/>
            <a:ext cx="2857500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42"/>
              </a:lnSpc>
              <a:buNone/>
            </a:pPr>
            <a:r>
              <a:rPr lang="en-US" sz="1852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Team</a:t>
            </a:r>
            <a:endParaRPr lang="en-US" sz="1852" dirty="0"/>
          </a:p>
        </p:txBody>
      </p:sp>
      <p:sp>
        <p:nvSpPr>
          <p:cNvPr id="4" name="Shape 2"/>
          <p:cNvSpPr/>
          <p:nvPr/>
        </p:nvSpPr>
        <p:spPr>
          <a:xfrm>
            <a:off x="571500" y="723900"/>
            <a:ext cx="266700" cy="1905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4338" y="952500"/>
            <a:ext cx="2024062" cy="2190750"/>
          </a:xfrm>
          <a:prstGeom prst="rect">
            <a:avLst/>
          </a:prstGeom>
          <a:solidFill>
            <a:srgbClr val="1F24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233488" y="1057275"/>
            <a:ext cx="381000" cy="38100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85775" y="1552575"/>
            <a:ext cx="1881187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35"/>
              </a:lnSpc>
              <a:buNone/>
            </a:pPr>
            <a:r>
              <a:rPr lang="en-US" sz="855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Ido Mark</a:t>
            </a:r>
            <a:endParaRPr lang="en-US" sz="855" dirty="0"/>
          </a:p>
        </p:txBody>
      </p:sp>
      <p:sp>
        <p:nvSpPr>
          <p:cNvPr id="8" name="Text 6"/>
          <p:cNvSpPr/>
          <p:nvPr/>
        </p:nvSpPr>
        <p:spPr>
          <a:xfrm>
            <a:off x="485775" y="1733550"/>
            <a:ext cx="1881187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33"/>
              </a:lnSpc>
              <a:buNone/>
            </a:pPr>
            <a:r>
              <a:rPr lang="en-US" sz="606" dirty="0">
                <a:solidFill>
                  <a:srgbClr val="3B82F6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Softwere Engineer</a:t>
            </a:r>
            <a:endParaRPr lang="en-US" sz="606" dirty="0"/>
          </a:p>
        </p:txBody>
      </p:sp>
      <p:sp>
        <p:nvSpPr>
          <p:cNvPr id="9" name="Text 7"/>
          <p:cNvSpPr/>
          <p:nvPr/>
        </p:nvSpPr>
        <p:spPr>
          <a:xfrm>
            <a:off x="485775" y="1933575"/>
            <a:ext cx="188118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647"/>
              </a:lnSpc>
              <a:buNone/>
            </a:pPr>
            <a:r>
              <a:rPr lang="en-US" sz="534" dirty="0">
                <a:solidFill>
                  <a:srgbClr val="6B7891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B.Sc. Computer Science</a:t>
            </a:r>
            <a:endParaRPr lang="en-US" sz="534" dirty="0"/>
          </a:p>
        </p:txBody>
      </p:sp>
      <p:sp>
        <p:nvSpPr>
          <p:cNvPr id="10" name="Shape 8"/>
          <p:cNvSpPr/>
          <p:nvPr/>
        </p:nvSpPr>
        <p:spPr>
          <a:xfrm>
            <a:off x="2581275" y="952500"/>
            <a:ext cx="2024062" cy="2190750"/>
          </a:xfrm>
          <a:prstGeom prst="rect">
            <a:avLst/>
          </a:prstGeom>
          <a:solidFill>
            <a:srgbClr val="1F24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400425" y="1057275"/>
            <a:ext cx="381000" cy="38100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652713" y="1552575"/>
            <a:ext cx="1881187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35"/>
              </a:lnSpc>
              <a:buNone/>
            </a:pPr>
            <a:r>
              <a:rPr lang="en-US" sz="855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Rotem Saraf</a:t>
            </a:r>
            <a:endParaRPr lang="en-US" sz="855" dirty="0"/>
          </a:p>
        </p:txBody>
      </p:sp>
      <p:sp>
        <p:nvSpPr>
          <p:cNvPr id="13" name="Text 11"/>
          <p:cNvSpPr/>
          <p:nvPr/>
        </p:nvSpPr>
        <p:spPr>
          <a:xfrm>
            <a:off x="2652713" y="1733550"/>
            <a:ext cx="1881187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33"/>
              </a:lnSpc>
              <a:buNone/>
            </a:pPr>
            <a:r>
              <a:rPr lang="en-US" sz="606" dirty="0">
                <a:solidFill>
                  <a:srgbClr val="3B82F6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Softwere Engineer</a:t>
            </a:r>
            <a:endParaRPr lang="en-US" sz="606" dirty="0"/>
          </a:p>
        </p:txBody>
      </p:sp>
      <p:sp>
        <p:nvSpPr>
          <p:cNvPr id="14" name="Text 12"/>
          <p:cNvSpPr/>
          <p:nvPr/>
        </p:nvSpPr>
        <p:spPr>
          <a:xfrm>
            <a:off x="2652713" y="1933575"/>
            <a:ext cx="188118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647"/>
              </a:lnSpc>
              <a:buNone/>
            </a:pPr>
            <a:r>
              <a:rPr lang="en-US" sz="534" dirty="0">
                <a:solidFill>
                  <a:srgbClr val="6B7891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B.Sc. Computer Science</a:t>
            </a:r>
            <a:endParaRPr lang="en-US" sz="534" dirty="0"/>
          </a:p>
        </p:txBody>
      </p:sp>
      <p:sp>
        <p:nvSpPr>
          <p:cNvPr id="15" name="Shape 13"/>
          <p:cNvSpPr/>
          <p:nvPr/>
        </p:nvSpPr>
        <p:spPr>
          <a:xfrm>
            <a:off x="4748213" y="952500"/>
            <a:ext cx="2024062" cy="2190750"/>
          </a:xfrm>
          <a:prstGeom prst="rect">
            <a:avLst/>
          </a:prstGeom>
          <a:solidFill>
            <a:srgbClr val="1F24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567363" y="1057275"/>
            <a:ext cx="381000" cy="38100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19650" y="1552575"/>
            <a:ext cx="1881187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35"/>
              </a:lnSpc>
              <a:buNone/>
            </a:pPr>
            <a:r>
              <a:rPr lang="en-US" sz="855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Eden Elkayam</a:t>
            </a:r>
            <a:endParaRPr lang="en-US" sz="855" dirty="0"/>
          </a:p>
        </p:txBody>
      </p:sp>
      <p:sp>
        <p:nvSpPr>
          <p:cNvPr id="18" name="Text 16"/>
          <p:cNvSpPr/>
          <p:nvPr/>
        </p:nvSpPr>
        <p:spPr>
          <a:xfrm>
            <a:off x="4819650" y="1733550"/>
            <a:ext cx="1881187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33"/>
              </a:lnSpc>
              <a:buNone/>
            </a:pPr>
            <a:r>
              <a:rPr lang="en-US" sz="606" dirty="0">
                <a:solidFill>
                  <a:srgbClr val="3B82F6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Softwere Engineer</a:t>
            </a:r>
            <a:endParaRPr lang="en-US" sz="606" dirty="0"/>
          </a:p>
        </p:txBody>
      </p:sp>
      <p:sp>
        <p:nvSpPr>
          <p:cNvPr id="19" name="Text 17"/>
          <p:cNvSpPr/>
          <p:nvPr/>
        </p:nvSpPr>
        <p:spPr>
          <a:xfrm>
            <a:off x="4819650" y="1933575"/>
            <a:ext cx="188118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647"/>
              </a:lnSpc>
              <a:buNone/>
            </a:pPr>
            <a:r>
              <a:rPr lang="en-US" sz="534" dirty="0">
                <a:solidFill>
                  <a:srgbClr val="6B7891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B.Sc. Computer Science</a:t>
            </a:r>
            <a:endParaRPr lang="en-US" sz="534" dirty="0"/>
          </a:p>
        </p:txBody>
      </p:sp>
      <p:sp>
        <p:nvSpPr>
          <p:cNvPr id="20" name="Shape 18"/>
          <p:cNvSpPr/>
          <p:nvPr/>
        </p:nvSpPr>
        <p:spPr>
          <a:xfrm>
            <a:off x="6915150" y="952500"/>
            <a:ext cx="2024062" cy="2190750"/>
          </a:xfrm>
          <a:prstGeom prst="rect">
            <a:avLst/>
          </a:prstGeom>
          <a:solidFill>
            <a:srgbClr val="1F24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734300" y="1057275"/>
            <a:ext cx="381000" cy="38100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986588" y="1552575"/>
            <a:ext cx="1881187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35"/>
              </a:lnSpc>
              <a:buNone/>
            </a:pPr>
            <a:r>
              <a:rPr lang="en-US" sz="855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Leeor Nessing</a:t>
            </a:r>
            <a:endParaRPr lang="en-US" sz="855" dirty="0"/>
          </a:p>
        </p:txBody>
      </p:sp>
      <p:sp>
        <p:nvSpPr>
          <p:cNvPr id="23" name="Text 21"/>
          <p:cNvSpPr/>
          <p:nvPr/>
        </p:nvSpPr>
        <p:spPr>
          <a:xfrm>
            <a:off x="6986588" y="1733550"/>
            <a:ext cx="1881187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33"/>
              </a:lnSpc>
              <a:buNone/>
            </a:pPr>
            <a:r>
              <a:rPr lang="en-US" sz="606" dirty="0">
                <a:solidFill>
                  <a:srgbClr val="3B82F6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UX</a:t>
            </a:r>
            <a:endParaRPr lang="en-US" sz="606" dirty="0"/>
          </a:p>
        </p:txBody>
      </p:sp>
      <p:sp>
        <p:nvSpPr>
          <p:cNvPr id="24" name="Text 22"/>
          <p:cNvSpPr/>
          <p:nvPr/>
        </p:nvSpPr>
        <p:spPr>
          <a:xfrm>
            <a:off x="6986588" y="1933575"/>
            <a:ext cx="188118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647"/>
              </a:lnSpc>
              <a:buNone/>
            </a:pPr>
            <a:r>
              <a:rPr lang="en-US" sz="534" dirty="0">
                <a:solidFill>
                  <a:srgbClr val="6B7891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B.Sc. Psychology &amp; UX</a:t>
            </a:r>
            <a:endParaRPr lang="en-US" sz="534" dirty="0"/>
          </a:p>
        </p:txBody>
      </p:sp>
      <p:sp>
        <p:nvSpPr>
          <p:cNvPr id="25" name="Text 23"/>
          <p:cNvSpPr/>
          <p:nvPr/>
        </p:nvSpPr>
        <p:spPr>
          <a:xfrm>
            <a:off x="571500" y="4591050"/>
            <a:ext cx="8001000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33"/>
              </a:lnSpc>
              <a:buNone/>
            </a:pPr>
            <a:r>
              <a:rPr lang="en-US" sz="606" dirty="0">
                <a:solidFill>
                  <a:srgbClr val="59668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Founder insight: the team experienced severe cognitive overload from constant workplace notifications. KungFlow is built from lived experience.</a:t>
            </a:r>
            <a:endParaRPr lang="en-US" sz="606" dirty="0"/>
          </a:p>
        </p:txBody>
      </p:sp>
      <p:pic>
        <p:nvPicPr>
          <p:cNvPr id="27" name="KungFlow Logo Small 2">
            <a:extLst>
              <a:ext uri="{FF2B5EF4-FFF2-40B4-BE49-F238E27FC236}">
                <a16:creationId xmlns:a16="http://schemas.microsoft.com/office/drawing/2014/main" id="{6D91D115-D1F6-EDA6-3D8A-FB81AF715562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8648700" y="190500"/>
            <a:ext cx="292100" cy="2921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021" y="2116215"/>
            <a:ext cx="9037468" cy="263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638"/>
              </a:lnSpc>
            </a:pPr>
            <a:endParaRPr lang="en-US" sz="1354" dirty="0"/>
          </a:p>
        </p:txBody>
      </p:sp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C3B2EE5E-6AE8-F34D-0AA3-03888F81D478}"/>
              </a:ext>
            </a:extLst>
          </p:cNvPr>
          <p:cNvSpPr txBox="1"/>
          <p:nvPr/>
        </p:nvSpPr>
        <p:spPr>
          <a:xfrm>
            <a:off x="2286000" y="1968500"/>
            <a:ext cx="457200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3000" b="1" dirty="0">
                <a:solidFill>
                  <a:srgbClr val="FFFFFF"/>
                </a:solidFill>
                <a:latin typeface="Aptos" panose="020B0004020202020204" pitchFamily="34" charset="0"/>
              </a:rPr>
              <a:t>VIDEO</a:t>
            </a:r>
          </a:p>
        </p:txBody>
      </p:sp>
      <p:pic>
        <p:nvPicPr>
          <p:cNvPr id="7" name="KungFlow Logo Small 3">
            <a:extLst>
              <a:ext uri="{FF2B5EF4-FFF2-40B4-BE49-F238E27FC236}">
                <a16:creationId xmlns:a16="http://schemas.microsoft.com/office/drawing/2014/main" id="{C0E8A816-11BD-7AE2-B4BF-530F55E6AD34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8648700" y="190500"/>
            <a:ext cx="292100" cy="29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2373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מלבן 22">
            <a:extLst>
              <a:ext uri="{FF2B5EF4-FFF2-40B4-BE49-F238E27FC236}">
                <a16:creationId xmlns:a16="http://schemas.microsoft.com/office/drawing/2014/main" id="{A603C486-0425-EC60-556A-85EDD362E9F4}"/>
              </a:ext>
            </a:extLst>
          </p:cNvPr>
          <p:cNvSpPr/>
          <p:nvPr/>
        </p:nvSpPr>
        <p:spPr>
          <a:xfrm>
            <a:off x="5245100" y="1346200"/>
            <a:ext cx="3556000" cy="558800"/>
          </a:xfrm>
          <a:prstGeom prst="rect">
            <a:avLst/>
          </a:prstGeom>
          <a:solidFill>
            <a:srgbClr val="202633"/>
          </a:solidFill>
          <a:ln w="9525">
            <a:solidFill>
              <a:srgbClr val="3038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28575" cy="5143500"/>
          </a:xfrm>
          <a:prstGeom prst="rect">
            <a:avLst/>
          </a:prstGeom>
          <a:solidFill>
            <a:srgbClr val="F045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71500" y="333375"/>
            <a:ext cx="3333750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42"/>
              </a:lnSpc>
              <a:buNone/>
            </a:pPr>
            <a:r>
              <a:rPr lang="en-US" sz="1852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Problem</a:t>
            </a:r>
            <a:endParaRPr lang="en-US" sz="1852" dirty="0"/>
          </a:p>
        </p:txBody>
      </p:sp>
      <p:sp>
        <p:nvSpPr>
          <p:cNvPr id="4" name="Shape 2"/>
          <p:cNvSpPr/>
          <p:nvPr/>
        </p:nvSpPr>
        <p:spPr>
          <a:xfrm>
            <a:off x="571500" y="723900"/>
            <a:ext cx="266700" cy="19050"/>
          </a:xfrm>
          <a:prstGeom prst="rect">
            <a:avLst/>
          </a:prstGeom>
          <a:solidFill>
            <a:srgbClr val="F045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71500" y="914400"/>
            <a:ext cx="571500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1"/>
              </a:lnSpc>
              <a:buNone/>
            </a:pPr>
            <a:r>
              <a:rPr lang="en-US" sz="1300">
                <a:solidFill>
                  <a:srgbClr val="E5DAD4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Constant interruptions destroy focus and increase stress.</a:t>
            </a:r>
            <a:endParaRPr lang="en-US" sz="1300" dirty="0">
              <a:solidFill>
                <a:srgbClr val="E5DAD4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571500" y="2565400"/>
            <a:ext cx="2667000" cy="1270000"/>
          </a:xfrm>
          <a:prstGeom prst="rect">
            <a:avLst/>
          </a:prstGeom>
          <a:solidFill>
            <a:srgbClr val="1F24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" y="2717800"/>
            <a:ext cx="2428875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73"/>
              </a:lnSpc>
              <a:buNone/>
            </a:pPr>
            <a:r>
              <a:rPr lang="en-US" sz="2209" b="1" dirty="0">
                <a:solidFill>
                  <a:srgbClr val="F04545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 min</a:t>
            </a:r>
            <a:endParaRPr lang="en-US" sz="2209" dirty="0"/>
          </a:p>
        </p:txBody>
      </p:sp>
      <p:sp>
        <p:nvSpPr>
          <p:cNvPr id="8" name="Text 6"/>
          <p:cNvSpPr/>
          <p:nvPr/>
        </p:nvSpPr>
        <p:spPr>
          <a:xfrm>
            <a:off x="685800" y="3149600"/>
            <a:ext cx="2428875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62"/>
              </a:lnSpc>
              <a:buNone/>
            </a:pPr>
            <a:r>
              <a:rPr lang="en-US" sz="713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refocus after one interruption</a:t>
            </a:r>
            <a:endParaRPr lang="en-US" sz="713" dirty="0"/>
          </a:p>
        </p:txBody>
      </p:sp>
      <p:sp>
        <p:nvSpPr>
          <p:cNvPr id="9" name="Text 7"/>
          <p:cNvSpPr/>
          <p:nvPr/>
        </p:nvSpPr>
        <p:spPr>
          <a:xfrm>
            <a:off x="685800" y="3467099"/>
            <a:ext cx="2428875" cy="10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04"/>
              </a:lnSpc>
              <a:buNone/>
            </a:pPr>
            <a:r>
              <a:rPr lang="en-US" sz="499" dirty="0">
                <a:solidFill>
                  <a:srgbClr val="6B7891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UC Irvine research</a:t>
            </a:r>
            <a:endParaRPr lang="en-US" sz="499" dirty="0"/>
          </a:p>
        </p:txBody>
      </p:sp>
      <p:sp>
        <p:nvSpPr>
          <p:cNvPr id="10" name="Shape 8"/>
          <p:cNvSpPr/>
          <p:nvPr/>
        </p:nvSpPr>
        <p:spPr>
          <a:xfrm>
            <a:off x="3381375" y="2565400"/>
            <a:ext cx="2667000" cy="1270000"/>
          </a:xfrm>
          <a:prstGeom prst="rect">
            <a:avLst/>
          </a:prstGeom>
          <a:solidFill>
            <a:srgbClr val="1F24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495675" y="2717800"/>
            <a:ext cx="2428875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73"/>
              </a:lnSpc>
              <a:buNone/>
            </a:pPr>
            <a:r>
              <a:rPr lang="en-US" sz="2209" b="1" dirty="0">
                <a:solidFill>
                  <a:srgbClr val="F04545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$650B</a:t>
            </a:r>
            <a:endParaRPr lang="en-US" sz="2209" dirty="0"/>
          </a:p>
        </p:txBody>
      </p:sp>
      <p:sp>
        <p:nvSpPr>
          <p:cNvPr id="12" name="Text 10"/>
          <p:cNvSpPr/>
          <p:nvPr/>
        </p:nvSpPr>
        <p:spPr>
          <a:xfrm>
            <a:off x="3495675" y="3149600"/>
            <a:ext cx="2428875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62"/>
              </a:lnSpc>
              <a:buNone/>
            </a:pPr>
            <a:r>
              <a:rPr lang="en-US" sz="713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lost annually to workplace distraction</a:t>
            </a:r>
            <a:endParaRPr lang="en-US" sz="713" dirty="0"/>
          </a:p>
        </p:txBody>
      </p:sp>
      <p:sp>
        <p:nvSpPr>
          <p:cNvPr id="13" name="Text 11"/>
          <p:cNvSpPr/>
          <p:nvPr/>
        </p:nvSpPr>
        <p:spPr>
          <a:xfrm>
            <a:off x="3495675" y="3467099"/>
            <a:ext cx="2428875" cy="10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04"/>
              </a:lnSpc>
              <a:buNone/>
            </a:pPr>
            <a:r>
              <a:rPr lang="en-US" sz="499" dirty="0">
                <a:solidFill>
                  <a:srgbClr val="6B7891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Global productivity cost estimate</a:t>
            </a:r>
            <a:endParaRPr lang="en-US" sz="499" dirty="0"/>
          </a:p>
        </p:txBody>
      </p:sp>
      <p:sp>
        <p:nvSpPr>
          <p:cNvPr id="14" name="Shape 12"/>
          <p:cNvSpPr/>
          <p:nvPr/>
        </p:nvSpPr>
        <p:spPr>
          <a:xfrm>
            <a:off x="6191250" y="2565400"/>
            <a:ext cx="2667000" cy="1270000"/>
          </a:xfrm>
          <a:prstGeom prst="rect">
            <a:avLst/>
          </a:prstGeom>
          <a:solidFill>
            <a:srgbClr val="1F24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305550" y="2717800"/>
            <a:ext cx="2428875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73"/>
              </a:lnSpc>
              <a:buNone/>
            </a:pPr>
            <a:r>
              <a:rPr lang="en-US" sz="2209" b="1" dirty="0">
                <a:solidFill>
                  <a:srgbClr val="F04545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47%</a:t>
            </a:r>
            <a:endParaRPr lang="en-US" sz="2209" dirty="0"/>
          </a:p>
        </p:txBody>
      </p:sp>
      <p:sp>
        <p:nvSpPr>
          <p:cNvPr id="16" name="Text 14"/>
          <p:cNvSpPr/>
          <p:nvPr/>
        </p:nvSpPr>
        <p:spPr>
          <a:xfrm>
            <a:off x="6305550" y="3149600"/>
            <a:ext cx="2428875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62"/>
              </a:lnSpc>
              <a:buNone/>
            </a:pPr>
            <a:r>
              <a:rPr lang="en-US" sz="713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 workday consumed by reactive tasks</a:t>
            </a:r>
            <a:endParaRPr lang="en-US" sz="713" dirty="0"/>
          </a:p>
        </p:txBody>
      </p:sp>
      <p:sp>
        <p:nvSpPr>
          <p:cNvPr id="17" name="Text 15"/>
          <p:cNvSpPr/>
          <p:nvPr/>
        </p:nvSpPr>
        <p:spPr>
          <a:xfrm>
            <a:off x="6305550" y="3467099"/>
            <a:ext cx="2428875" cy="10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04"/>
              </a:lnSpc>
              <a:buNone/>
            </a:pPr>
            <a:r>
              <a:rPr lang="en-US" sz="499" dirty="0">
                <a:solidFill>
                  <a:srgbClr val="6B7891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Driven by constant notifications</a:t>
            </a:r>
            <a:endParaRPr lang="en-US" sz="499" dirty="0"/>
          </a:p>
        </p:txBody>
      </p:sp>
      <p:sp>
        <p:nvSpPr>
          <p:cNvPr id="22" name="Text 3">
            <a:extLst>
              <a:ext uri="{FF2B5EF4-FFF2-40B4-BE49-F238E27FC236}">
                <a16:creationId xmlns:a16="http://schemas.microsoft.com/office/drawing/2014/main" id="{22F82578-ED30-5B8C-9480-5BF32B940052}"/>
              </a:ext>
            </a:extLst>
          </p:cNvPr>
          <p:cNvSpPr/>
          <p:nvPr/>
        </p:nvSpPr>
        <p:spPr>
          <a:xfrm>
            <a:off x="638174" y="3429000"/>
            <a:ext cx="7453821" cy="4387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1"/>
              </a:lnSpc>
              <a:buNone/>
            </a:pPr>
            <a:endParaRPr lang="en-US" sz="926" dirty="0"/>
          </a:p>
        </p:txBody>
      </p:sp>
      <p:sp>
        <p:nvSpPr>
          <p:cNvPr id="18" name="אליפסה 17">
            <a:extLst>
              <a:ext uri="{FF2B5EF4-FFF2-40B4-BE49-F238E27FC236}">
                <a16:creationId xmlns:a16="http://schemas.microsoft.com/office/drawing/2014/main" id="{DDE7E8EC-A7F6-E594-E2A9-F90F2A02A520}"/>
              </a:ext>
            </a:extLst>
          </p:cNvPr>
          <p:cNvSpPr/>
          <p:nvPr/>
        </p:nvSpPr>
        <p:spPr>
          <a:xfrm>
            <a:off x="571500" y="1422400"/>
            <a:ext cx="355600" cy="355600"/>
          </a:xfrm>
          <a:prstGeom prst="ellipse">
            <a:avLst/>
          </a:prstGeom>
          <a:solidFill>
            <a:srgbClr val="3B82F6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Aptos" panose="020B0004020202020204" pitchFamily="34" charset="0"/>
              </a:rPr>
              <a:t>01</a:t>
            </a:r>
          </a:p>
        </p:txBody>
      </p:sp>
      <p:sp>
        <p:nvSpPr>
          <p:cNvPr id="19" name="מלבן 18">
            <a:extLst>
              <a:ext uri="{FF2B5EF4-FFF2-40B4-BE49-F238E27FC236}">
                <a16:creationId xmlns:a16="http://schemas.microsoft.com/office/drawing/2014/main" id="{0C793894-9293-3D87-C747-7B54A304B768}"/>
              </a:ext>
            </a:extLst>
          </p:cNvPr>
          <p:cNvSpPr/>
          <p:nvPr/>
        </p:nvSpPr>
        <p:spPr>
          <a:xfrm>
            <a:off x="1054100" y="1346200"/>
            <a:ext cx="3556000" cy="558800"/>
          </a:xfrm>
          <a:prstGeom prst="rect">
            <a:avLst/>
          </a:prstGeom>
          <a:solidFill>
            <a:srgbClr val="202633"/>
          </a:solidFill>
          <a:ln w="9525">
            <a:solidFill>
              <a:srgbClr val="3038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תיבת טקסט 19">
            <a:extLst>
              <a:ext uri="{FF2B5EF4-FFF2-40B4-BE49-F238E27FC236}">
                <a16:creationId xmlns:a16="http://schemas.microsoft.com/office/drawing/2014/main" id="{93A98B71-0E3D-66DA-B2A0-75D345D8D6A3}"/>
              </a:ext>
            </a:extLst>
          </p:cNvPr>
          <p:cNvSpPr txBox="1"/>
          <p:nvPr/>
        </p:nvSpPr>
        <p:spPr>
          <a:xfrm>
            <a:off x="1231900" y="1473200"/>
            <a:ext cx="3200400" cy="57708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50">
                <a:solidFill>
                  <a:srgbClr val="D4DAE5"/>
                </a:solidFill>
                <a:latin typeface="Aptos" panose="020B0004020202020204" pitchFamily="34" charset="0"/>
              </a:rPr>
              <a:t>Notifications and constant digital communication increase stress and reduce uninterrupted focus time.</a:t>
            </a:r>
          </a:p>
        </p:txBody>
      </p:sp>
      <p:sp>
        <p:nvSpPr>
          <p:cNvPr id="21" name="אליפסה 20">
            <a:extLst>
              <a:ext uri="{FF2B5EF4-FFF2-40B4-BE49-F238E27FC236}">
                <a16:creationId xmlns:a16="http://schemas.microsoft.com/office/drawing/2014/main" id="{BF01B9FA-505D-D20E-9B8B-78742CEFDB65}"/>
              </a:ext>
            </a:extLst>
          </p:cNvPr>
          <p:cNvSpPr/>
          <p:nvPr/>
        </p:nvSpPr>
        <p:spPr>
          <a:xfrm>
            <a:off x="4762500" y="1422400"/>
            <a:ext cx="355600" cy="355600"/>
          </a:xfrm>
          <a:prstGeom prst="ellipse">
            <a:avLst/>
          </a:prstGeom>
          <a:solidFill>
            <a:srgbClr val="3B82F6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Aptos" panose="020B0004020202020204" pitchFamily="34" charset="0"/>
              </a:rPr>
              <a:t>02</a:t>
            </a:r>
          </a:p>
        </p:txBody>
      </p:sp>
      <p:sp>
        <p:nvSpPr>
          <p:cNvPr id="24" name="תיבת טקסט 23">
            <a:extLst>
              <a:ext uri="{FF2B5EF4-FFF2-40B4-BE49-F238E27FC236}">
                <a16:creationId xmlns:a16="http://schemas.microsoft.com/office/drawing/2014/main" id="{77D90FCF-656A-CC1F-8123-F6A97ADA0FD5}"/>
              </a:ext>
            </a:extLst>
          </p:cNvPr>
          <p:cNvSpPr txBox="1"/>
          <p:nvPr/>
        </p:nvSpPr>
        <p:spPr>
          <a:xfrm>
            <a:off x="5422900" y="1473200"/>
            <a:ext cx="32004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50">
                <a:solidFill>
                  <a:srgbClr val="D4DAE5"/>
                </a:solidFill>
                <a:latin typeface="Aptos" panose="020B0004020202020204" pitchFamily="34" charset="0"/>
              </a:rPr>
              <a:t>Context switching and frequent app/tab switching increase cognitive load.</a:t>
            </a:r>
          </a:p>
        </p:txBody>
      </p:sp>
      <p:sp>
        <p:nvSpPr>
          <p:cNvPr id="25" name="תיבת טקסט 24">
            <a:extLst>
              <a:ext uri="{FF2B5EF4-FFF2-40B4-BE49-F238E27FC236}">
                <a16:creationId xmlns:a16="http://schemas.microsoft.com/office/drawing/2014/main" id="{3005063D-DA31-27EB-5A2E-96F887D48E09}"/>
              </a:ext>
            </a:extLst>
          </p:cNvPr>
          <p:cNvSpPr txBox="1"/>
          <p:nvPr/>
        </p:nvSpPr>
        <p:spPr>
          <a:xfrm>
            <a:off x="571500" y="2235200"/>
            <a:ext cx="3556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00" b="1">
                <a:solidFill>
                  <a:srgbClr val="7F8BA3"/>
                </a:solidFill>
                <a:latin typeface="Aptos" panose="020B0004020202020204" pitchFamily="34" charset="0"/>
              </a:rPr>
              <a:t>THE COST, IN NUMBERS</a:t>
            </a:r>
          </a:p>
        </p:txBody>
      </p:sp>
      <p:pic>
        <p:nvPicPr>
          <p:cNvPr id="27" name="KungFlow Logo Small 4">
            <a:extLst>
              <a:ext uri="{FF2B5EF4-FFF2-40B4-BE49-F238E27FC236}">
                <a16:creationId xmlns:a16="http://schemas.microsoft.com/office/drawing/2014/main" id="{C1A4D22D-66F5-F56D-ACD0-DEAD47A41BA5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8648700" y="190500"/>
            <a:ext cx="292100" cy="2921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8575" cy="51435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71500" y="333375"/>
            <a:ext cx="3810000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42"/>
              </a:lnSpc>
              <a:buNone/>
            </a:pPr>
            <a:r>
              <a:rPr lang="en-US" sz="1852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This Matters</a:t>
            </a:r>
            <a:endParaRPr lang="en-US" sz="1852" dirty="0"/>
          </a:p>
        </p:txBody>
      </p:sp>
      <p:sp>
        <p:nvSpPr>
          <p:cNvPr id="4" name="Shape 2"/>
          <p:cNvSpPr/>
          <p:nvPr/>
        </p:nvSpPr>
        <p:spPr>
          <a:xfrm>
            <a:off x="571500" y="723900"/>
            <a:ext cx="266700" cy="1905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71500" y="914400"/>
            <a:ext cx="666750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855" dirty="0">
                <a:solidFill>
                  <a:srgbClr val="D6DEF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Research-backed evidence for the cost of interruptions</a:t>
            </a:r>
            <a:endParaRPr lang="en-US" sz="855" dirty="0"/>
          </a:p>
        </p:txBody>
      </p:sp>
      <p:sp>
        <p:nvSpPr>
          <p:cNvPr id="6" name="Shape 4"/>
          <p:cNvSpPr/>
          <p:nvPr/>
        </p:nvSpPr>
        <p:spPr>
          <a:xfrm>
            <a:off x="571500" y="1333500"/>
            <a:ext cx="1952625" cy="2190750"/>
          </a:xfrm>
          <a:prstGeom prst="rect">
            <a:avLst/>
          </a:prstGeom>
          <a:solidFill>
            <a:srgbClr val="1F24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71500" y="1333500"/>
            <a:ext cx="1952625" cy="2857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66750" y="1457325"/>
            <a:ext cx="3810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69"/>
              </a:lnSpc>
              <a:buNone/>
            </a:pPr>
            <a:r>
              <a:rPr lang="en-US" sz="1710" b="1" dirty="0">
                <a:solidFill>
                  <a:srgbClr val="26408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710" dirty="0"/>
          </a:p>
        </p:txBody>
      </p:sp>
      <p:sp>
        <p:nvSpPr>
          <p:cNvPr id="9" name="Text 7"/>
          <p:cNvSpPr/>
          <p:nvPr/>
        </p:nvSpPr>
        <p:spPr>
          <a:xfrm>
            <a:off x="666750" y="1790700"/>
            <a:ext cx="1762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62"/>
              </a:lnSpc>
              <a:buNone/>
            </a:pPr>
            <a:r>
              <a:rPr lang="en-US" sz="713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Interruptions disrupt focus and require significant recovery time</a:t>
            </a:r>
            <a:endParaRPr lang="en-US" sz="713" dirty="0"/>
          </a:p>
        </p:txBody>
      </p:sp>
      <p:sp>
        <p:nvSpPr>
          <p:cNvPr id="10" name="Shape 8"/>
          <p:cNvSpPr/>
          <p:nvPr/>
        </p:nvSpPr>
        <p:spPr>
          <a:xfrm>
            <a:off x="666750" y="2714625"/>
            <a:ext cx="1762125" cy="4763"/>
          </a:xfrm>
          <a:prstGeom prst="rect">
            <a:avLst/>
          </a:prstGeom>
          <a:solidFill>
            <a:srgbClr val="3842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66750" y="2790825"/>
            <a:ext cx="1762125" cy="80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04"/>
              </a:lnSpc>
              <a:buNone/>
            </a:pPr>
            <a:r>
              <a:rPr lang="en-US" sz="499" dirty="0">
                <a:solidFill>
                  <a:srgbClr val="3B82F6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PMC 2023</a:t>
            </a:r>
            <a:endParaRPr lang="en-US" sz="499" dirty="0"/>
          </a:p>
        </p:txBody>
      </p:sp>
      <p:sp>
        <p:nvSpPr>
          <p:cNvPr id="12" name="Shape 10"/>
          <p:cNvSpPr/>
          <p:nvPr/>
        </p:nvSpPr>
        <p:spPr>
          <a:xfrm>
            <a:off x="2619375" y="1333500"/>
            <a:ext cx="1952625" cy="2190750"/>
          </a:xfrm>
          <a:prstGeom prst="rect">
            <a:avLst/>
          </a:prstGeom>
          <a:solidFill>
            <a:srgbClr val="1F24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619375" y="1333500"/>
            <a:ext cx="1952625" cy="2857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714625" y="1457325"/>
            <a:ext cx="3810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69"/>
              </a:lnSpc>
              <a:buNone/>
            </a:pPr>
            <a:r>
              <a:rPr lang="en-US" sz="1710" b="1" dirty="0">
                <a:solidFill>
                  <a:srgbClr val="26408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710" dirty="0"/>
          </a:p>
        </p:txBody>
      </p:sp>
      <p:sp>
        <p:nvSpPr>
          <p:cNvPr id="15" name="Text 13"/>
          <p:cNvSpPr/>
          <p:nvPr/>
        </p:nvSpPr>
        <p:spPr>
          <a:xfrm>
            <a:off x="2714625" y="1790700"/>
            <a:ext cx="17621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62"/>
              </a:lnSpc>
              <a:buNone/>
            </a:pPr>
            <a:r>
              <a:rPr lang="en-US" sz="713" b="1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Reducing interruptions improves focus and task performance</a:t>
            </a:r>
            <a:endParaRPr lang="en-US" sz="713" dirty="0"/>
          </a:p>
        </p:txBody>
      </p:sp>
      <p:sp>
        <p:nvSpPr>
          <p:cNvPr id="16" name="Shape 14"/>
          <p:cNvSpPr/>
          <p:nvPr/>
        </p:nvSpPr>
        <p:spPr>
          <a:xfrm>
            <a:off x="2714625" y="2714625"/>
            <a:ext cx="1762125" cy="4763"/>
          </a:xfrm>
          <a:prstGeom prst="rect">
            <a:avLst/>
          </a:prstGeom>
          <a:solidFill>
            <a:srgbClr val="3842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714625" y="2790825"/>
            <a:ext cx="1762125" cy="80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04"/>
              </a:lnSpc>
              <a:buNone/>
            </a:pPr>
            <a:r>
              <a:rPr lang="en-US" sz="499">
                <a:solidFill>
                  <a:srgbClr val="3B82F6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KungFlow experiment, 2026</a:t>
            </a:r>
            <a:endParaRPr lang="en-US" sz="499" dirty="0"/>
          </a:p>
        </p:txBody>
      </p:sp>
      <p:sp>
        <p:nvSpPr>
          <p:cNvPr id="18" name="Shape 16"/>
          <p:cNvSpPr/>
          <p:nvPr/>
        </p:nvSpPr>
        <p:spPr>
          <a:xfrm>
            <a:off x="4667250" y="1333500"/>
            <a:ext cx="1952625" cy="2190750"/>
          </a:xfrm>
          <a:prstGeom prst="rect">
            <a:avLst/>
          </a:prstGeom>
          <a:solidFill>
            <a:srgbClr val="1F24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667250" y="1333500"/>
            <a:ext cx="1952625" cy="2857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762500" y="1457325"/>
            <a:ext cx="3810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69"/>
              </a:lnSpc>
              <a:buNone/>
            </a:pPr>
            <a:r>
              <a:rPr lang="en-US" sz="1710" b="1" dirty="0">
                <a:solidFill>
                  <a:srgbClr val="26408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710" dirty="0"/>
          </a:p>
        </p:txBody>
      </p:sp>
      <p:sp>
        <p:nvSpPr>
          <p:cNvPr id="21" name="Text 19"/>
          <p:cNvSpPr/>
          <p:nvPr/>
        </p:nvSpPr>
        <p:spPr>
          <a:xfrm>
            <a:off x="4762500" y="1790700"/>
            <a:ext cx="1762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62"/>
              </a:lnSpc>
              <a:buNone/>
            </a:pPr>
            <a:r>
              <a:rPr lang="en-US" sz="713" b="1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Behavioral signals (mouse, typing, app switching) reliably indicate cognitive load</a:t>
            </a:r>
            <a:endParaRPr lang="en-US" sz="713" dirty="0"/>
          </a:p>
        </p:txBody>
      </p:sp>
      <p:sp>
        <p:nvSpPr>
          <p:cNvPr id="22" name="Shape 20"/>
          <p:cNvSpPr/>
          <p:nvPr/>
        </p:nvSpPr>
        <p:spPr>
          <a:xfrm>
            <a:off x="4762500" y="2714625"/>
            <a:ext cx="1762125" cy="4763"/>
          </a:xfrm>
          <a:prstGeom prst="rect">
            <a:avLst/>
          </a:prstGeom>
          <a:solidFill>
            <a:srgbClr val="3842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762500" y="2790825"/>
            <a:ext cx="1762125" cy="80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04"/>
              </a:lnSpc>
              <a:buNone/>
            </a:pPr>
            <a:r>
              <a:rPr lang="en-US" sz="499">
                <a:solidFill>
                  <a:srgbClr val="3B82F6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HCI Intl 2018 / ACM 2013 / ScienceDirect 2009</a:t>
            </a:r>
            <a:endParaRPr lang="en-US" sz="499" dirty="0"/>
          </a:p>
        </p:txBody>
      </p:sp>
      <p:sp>
        <p:nvSpPr>
          <p:cNvPr id="24" name="Shape 22"/>
          <p:cNvSpPr/>
          <p:nvPr/>
        </p:nvSpPr>
        <p:spPr>
          <a:xfrm>
            <a:off x="6715125" y="1333500"/>
            <a:ext cx="1952625" cy="2190750"/>
          </a:xfrm>
          <a:prstGeom prst="rect">
            <a:avLst/>
          </a:prstGeom>
          <a:solidFill>
            <a:srgbClr val="1F24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715125" y="1333500"/>
            <a:ext cx="1952625" cy="2857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810375" y="1457325"/>
            <a:ext cx="3810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69"/>
              </a:lnSpc>
              <a:buNone/>
            </a:pPr>
            <a:r>
              <a:rPr lang="en-US" sz="1710" b="1" dirty="0">
                <a:solidFill>
                  <a:srgbClr val="26408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710" dirty="0"/>
          </a:p>
        </p:txBody>
      </p:sp>
      <p:sp>
        <p:nvSpPr>
          <p:cNvPr id="27" name="Text 25"/>
          <p:cNvSpPr/>
          <p:nvPr/>
        </p:nvSpPr>
        <p:spPr>
          <a:xfrm>
            <a:off x="6810375" y="1790700"/>
            <a:ext cx="1762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62"/>
              </a:lnSpc>
              <a:buNone/>
            </a:pPr>
            <a:r>
              <a:rPr lang="en-US" sz="713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 switching and app-switching behavior increases cognitive load</a:t>
            </a:r>
            <a:endParaRPr lang="en-US" sz="713" dirty="0"/>
          </a:p>
        </p:txBody>
      </p:sp>
      <p:sp>
        <p:nvSpPr>
          <p:cNvPr id="28" name="Shape 26"/>
          <p:cNvSpPr/>
          <p:nvPr/>
        </p:nvSpPr>
        <p:spPr>
          <a:xfrm>
            <a:off x="6810375" y="2714625"/>
            <a:ext cx="1762125" cy="4763"/>
          </a:xfrm>
          <a:prstGeom prst="rect">
            <a:avLst/>
          </a:prstGeom>
          <a:solidFill>
            <a:srgbClr val="3842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810375" y="2790825"/>
            <a:ext cx="1762125" cy="80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04"/>
              </a:lnSpc>
              <a:buNone/>
            </a:pPr>
            <a:r>
              <a:rPr lang="en-US" sz="499" dirty="0">
                <a:solidFill>
                  <a:srgbClr val="3B82F6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ResearchGate 2010</a:t>
            </a:r>
            <a:endParaRPr lang="en-US" sz="499" dirty="0"/>
          </a:p>
        </p:txBody>
      </p:sp>
      <p:sp>
        <p:nvSpPr>
          <p:cNvPr id="30" name="Shape 28"/>
          <p:cNvSpPr/>
          <p:nvPr/>
        </p:nvSpPr>
        <p:spPr>
          <a:xfrm>
            <a:off x="571500" y="3762375"/>
            <a:ext cx="8001000" cy="809625"/>
          </a:xfrm>
          <a:prstGeom prst="rect">
            <a:avLst/>
          </a:prstGeom>
          <a:solidFill>
            <a:srgbClr val="1A24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571500" y="3762375"/>
            <a:ext cx="28575" cy="809625"/>
          </a:xfrm>
          <a:prstGeom prst="rect">
            <a:avLst/>
          </a:prstGeom>
          <a:solidFill>
            <a:srgbClr val="2EC7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14375" y="3848100"/>
            <a:ext cx="6667500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33"/>
              </a:lnSpc>
              <a:buNone/>
            </a:pPr>
            <a:r>
              <a:rPr lang="en-US" sz="606" b="1" dirty="0">
                <a:solidFill>
                  <a:srgbClr val="2EC78C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KungFlow Controlled Study (2026, n=8)</a:t>
            </a:r>
            <a:endParaRPr lang="en-US" sz="606" dirty="0"/>
          </a:p>
        </p:txBody>
      </p:sp>
      <p:sp>
        <p:nvSpPr>
          <p:cNvPr id="33" name="Text 31"/>
          <p:cNvSpPr/>
          <p:nvPr/>
        </p:nvSpPr>
        <p:spPr>
          <a:xfrm>
            <a:off x="714375" y="4010025"/>
            <a:ext cx="7239000" cy="109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19"/>
              </a:lnSpc>
              <a:buNone/>
            </a:pPr>
            <a:r>
              <a:rPr lang="en-US" sz="677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Participants scored 25% higher on cognitive performance when interruptions blocked. Critical error detection improved by 49%.</a:t>
            </a:r>
            <a:endParaRPr lang="en-US" sz="677" dirty="0"/>
          </a:p>
        </p:txBody>
      </p:sp>
      <p:pic>
        <p:nvPicPr>
          <p:cNvPr id="35" name="KungFlow Logo Small 5">
            <a:extLst>
              <a:ext uri="{FF2B5EF4-FFF2-40B4-BE49-F238E27FC236}">
                <a16:creationId xmlns:a16="http://schemas.microsoft.com/office/drawing/2014/main" id="{BA6B3E81-38B0-8630-3F9D-A4B4A290A097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8648700" y="190500"/>
            <a:ext cx="292100" cy="2921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8575" cy="51435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71500" y="333375"/>
            <a:ext cx="5638800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42"/>
              </a:lnSpc>
              <a:buNone/>
            </a:pPr>
            <a:r>
              <a:rPr lang="en-US" sz="1852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Solution - Adaptive Notification Firewall</a:t>
            </a:r>
            <a:endParaRPr lang="en-US" sz="1852" dirty="0"/>
          </a:p>
        </p:txBody>
      </p:sp>
      <p:sp>
        <p:nvSpPr>
          <p:cNvPr id="4" name="Shape 2"/>
          <p:cNvSpPr/>
          <p:nvPr/>
        </p:nvSpPr>
        <p:spPr>
          <a:xfrm>
            <a:off x="571500" y="723900"/>
            <a:ext cx="266700" cy="1905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71500" y="914400"/>
            <a:ext cx="74485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855">
                <a:solidFill>
                  <a:srgbClr val="D6DEF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KungFlow senses cognitive load continuously, then adjusts notification access before interruptions become overload.</a:t>
            </a:r>
            <a:endParaRPr lang="en-US" sz="855" dirty="0"/>
          </a:p>
        </p:txBody>
      </p:sp>
      <p:sp>
        <p:nvSpPr>
          <p:cNvPr id="7" name="Shape 5"/>
          <p:cNvSpPr/>
          <p:nvPr/>
        </p:nvSpPr>
        <p:spPr>
          <a:xfrm>
            <a:off x="828675" y="1714500"/>
            <a:ext cx="2366963" cy="2349500"/>
          </a:xfrm>
          <a:prstGeom prst="rect">
            <a:avLst/>
          </a:prstGeom>
          <a:solidFill>
            <a:srgbClr val="1F24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42963" y="1714500"/>
            <a:ext cx="28575" cy="2349500"/>
          </a:xfrm>
          <a:prstGeom prst="rect">
            <a:avLst/>
          </a:prstGeom>
          <a:solidFill>
            <a:srgbClr val="2EC7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519488" y="1714500"/>
            <a:ext cx="2366963" cy="2349500"/>
          </a:xfrm>
          <a:prstGeom prst="rect">
            <a:avLst/>
          </a:prstGeom>
          <a:solidFill>
            <a:srgbClr val="1F24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519488" y="1714500"/>
            <a:ext cx="28575" cy="2349500"/>
          </a:xfrm>
          <a:prstGeom prst="rect">
            <a:avLst/>
          </a:prstGeom>
          <a:solidFill>
            <a:srgbClr val="EDCC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210300" y="1714500"/>
            <a:ext cx="2366963" cy="2349500"/>
          </a:xfrm>
          <a:prstGeom prst="rect">
            <a:avLst/>
          </a:prstGeom>
          <a:solidFill>
            <a:srgbClr val="1F24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210300" y="1714500"/>
            <a:ext cx="28575" cy="2349500"/>
          </a:xfrm>
          <a:prstGeom prst="rect">
            <a:avLst/>
          </a:prstGeom>
          <a:solidFill>
            <a:srgbClr val="F045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אליפסה 20">
            <a:extLst>
              <a:ext uri="{FF2B5EF4-FFF2-40B4-BE49-F238E27FC236}">
                <a16:creationId xmlns:a16="http://schemas.microsoft.com/office/drawing/2014/main" id="{2583FEF4-3FE2-A782-3F39-391FC24358E0}"/>
              </a:ext>
            </a:extLst>
          </p:cNvPr>
          <p:cNvSpPr/>
          <p:nvPr/>
        </p:nvSpPr>
        <p:spPr>
          <a:xfrm>
            <a:off x="1701800" y="1943100"/>
            <a:ext cx="609600" cy="609600"/>
          </a:xfrm>
          <a:prstGeom prst="ellipse">
            <a:avLst/>
          </a:prstGeom>
          <a:solidFill>
            <a:srgbClr val="34D399">
              <a:alpha val="88000"/>
            </a:srgbClr>
          </a:solidFill>
          <a:ln w="19050">
            <a:solidFill>
              <a:srgbClr val="34D3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אליפסה 21">
            <a:extLst>
              <a:ext uri="{FF2B5EF4-FFF2-40B4-BE49-F238E27FC236}">
                <a16:creationId xmlns:a16="http://schemas.microsoft.com/office/drawing/2014/main" id="{8DCB8D1C-0977-04A0-1EE1-089A02754418}"/>
              </a:ext>
            </a:extLst>
          </p:cNvPr>
          <p:cNvSpPr/>
          <p:nvPr/>
        </p:nvSpPr>
        <p:spPr>
          <a:xfrm>
            <a:off x="1892300" y="2133600"/>
            <a:ext cx="228600" cy="228600"/>
          </a:xfrm>
          <a:prstGeom prst="ellipse">
            <a:avLst/>
          </a:prstGeom>
          <a:solidFill>
            <a:srgbClr val="34D399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תיבת טקסט 22">
            <a:extLst>
              <a:ext uri="{FF2B5EF4-FFF2-40B4-BE49-F238E27FC236}">
                <a16:creationId xmlns:a16="http://schemas.microsoft.com/office/drawing/2014/main" id="{160A34BF-22D5-4F92-1E2D-672492CAACB6}"/>
              </a:ext>
            </a:extLst>
          </p:cNvPr>
          <p:cNvSpPr txBox="1"/>
          <p:nvPr/>
        </p:nvSpPr>
        <p:spPr>
          <a:xfrm>
            <a:off x="1549400" y="2667000"/>
            <a:ext cx="9144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100" b="1">
                <a:solidFill>
                  <a:srgbClr val="34D399"/>
                </a:solidFill>
                <a:latin typeface="Aptos" panose="020B0004020202020204" pitchFamily="34" charset="0"/>
              </a:rPr>
              <a:t>GREEN</a:t>
            </a:r>
          </a:p>
        </p:txBody>
      </p:sp>
      <p:sp>
        <p:nvSpPr>
          <p:cNvPr id="24" name="אליפסה 23">
            <a:extLst>
              <a:ext uri="{FF2B5EF4-FFF2-40B4-BE49-F238E27FC236}">
                <a16:creationId xmlns:a16="http://schemas.microsoft.com/office/drawing/2014/main" id="{373ECA06-18FF-0C4D-43C8-8AE9A2E5427A}"/>
              </a:ext>
            </a:extLst>
          </p:cNvPr>
          <p:cNvSpPr/>
          <p:nvPr/>
        </p:nvSpPr>
        <p:spPr>
          <a:xfrm>
            <a:off x="4394200" y="1943100"/>
            <a:ext cx="609600" cy="609600"/>
          </a:xfrm>
          <a:prstGeom prst="ellipse">
            <a:avLst/>
          </a:prstGeom>
          <a:solidFill>
            <a:srgbClr val="FACC15">
              <a:alpha val="88000"/>
            </a:srgbClr>
          </a:solidFill>
          <a:ln w="19050">
            <a:solidFill>
              <a:srgbClr val="FACC1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אליפסה 24">
            <a:extLst>
              <a:ext uri="{FF2B5EF4-FFF2-40B4-BE49-F238E27FC236}">
                <a16:creationId xmlns:a16="http://schemas.microsoft.com/office/drawing/2014/main" id="{34FB0FE1-D549-68FB-9020-F7A957C00636}"/>
              </a:ext>
            </a:extLst>
          </p:cNvPr>
          <p:cNvSpPr/>
          <p:nvPr/>
        </p:nvSpPr>
        <p:spPr>
          <a:xfrm>
            <a:off x="4584700" y="2133600"/>
            <a:ext cx="228600" cy="228600"/>
          </a:xfrm>
          <a:prstGeom prst="ellipse">
            <a:avLst/>
          </a:prstGeom>
          <a:solidFill>
            <a:srgbClr val="FACC1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תיבת טקסט 25">
            <a:extLst>
              <a:ext uri="{FF2B5EF4-FFF2-40B4-BE49-F238E27FC236}">
                <a16:creationId xmlns:a16="http://schemas.microsoft.com/office/drawing/2014/main" id="{CC2EA3A8-FFEA-7601-AB78-F709CECD9062}"/>
              </a:ext>
            </a:extLst>
          </p:cNvPr>
          <p:cNvSpPr txBox="1"/>
          <p:nvPr/>
        </p:nvSpPr>
        <p:spPr>
          <a:xfrm>
            <a:off x="4241800" y="2667000"/>
            <a:ext cx="9144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100" b="1">
                <a:solidFill>
                  <a:srgbClr val="FACC15"/>
                </a:solidFill>
                <a:latin typeface="Aptos" panose="020B0004020202020204" pitchFamily="34" charset="0"/>
              </a:rPr>
              <a:t>YELLOW</a:t>
            </a:r>
          </a:p>
        </p:txBody>
      </p:sp>
      <p:sp>
        <p:nvSpPr>
          <p:cNvPr id="27" name="אליפסה 26">
            <a:extLst>
              <a:ext uri="{FF2B5EF4-FFF2-40B4-BE49-F238E27FC236}">
                <a16:creationId xmlns:a16="http://schemas.microsoft.com/office/drawing/2014/main" id="{A57CDCB6-55A2-04EF-41D1-6EF0D738403D}"/>
              </a:ext>
            </a:extLst>
          </p:cNvPr>
          <p:cNvSpPr/>
          <p:nvPr/>
        </p:nvSpPr>
        <p:spPr>
          <a:xfrm>
            <a:off x="7086600" y="1943100"/>
            <a:ext cx="609600" cy="609600"/>
          </a:xfrm>
          <a:prstGeom prst="ellipse">
            <a:avLst/>
          </a:prstGeom>
          <a:solidFill>
            <a:srgbClr val="FF4D4F">
              <a:alpha val="88000"/>
            </a:srgbClr>
          </a:solidFill>
          <a:ln w="19050">
            <a:solidFill>
              <a:srgbClr val="FF4D4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אליפסה 27">
            <a:extLst>
              <a:ext uri="{FF2B5EF4-FFF2-40B4-BE49-F238E27FC236}">
                <a16:creationId xmlns:a16="http://schemas.microsoft.com/office/drawing/2014/main" id="{36365A15-56E5-4610-89E0-59940214A847}"/>
              </a:ext>
            </a:extLst>
          </p:cNvPr>
          <p:cNvSpPr/>
          <p:nvPr/>
        </p:nvSpPr>
        <p:spPr>
          <a:xfrm>
            <a:off x="7277100" y="2133600"/>
            <a:ext cx="228600" cy="228600"/>
          </a:xfrm>
          <a:prstGeom prst="ellipse">
            <a:avLst/>
          </a:prstGeom>
          <a:solidFill>
            <a:srgbClr val="FF4D4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תיבת טקסט 28">
            <a:extLst>
              <a:ext uri="{FF2B5EF4-FFF2-40B4-BE49-F238E27FC236}">
                <a16:creationId xmlns:a16="http://schemas.microsoft.com/office/drawing/2014/main" id="{5EEF824D-C107-7194-B383-4C2A2D88242A}"/>
              </a:ext>
            </a:extLst>
          </p:cNvPr>
          <p:cNvSpPr txBox="1"/>
          <p:nvPr/>
        </p:nvSpPr>
        <p:spPr>
          <a:xfrm>
            <a:off x="6934200" y="2667000"/>
            <a:ext cx="9144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100" b="1">
                <a:solidFill>
                  <a:srgbClr val="FF4D4F"/>
                </a:solidFill>
                <a:latin typeface="Aptos" panose="020B0004020202020204" pitchFamily="34" charset="0"/>
              </a:rPr>
              <a:t>RED</a:t>
            </a:r>
          </a:p>
        </p:txBody>
      </p:sp>
      <p:sp>
        <p:nvSpPr>
          <p:cNvPr id="30" name="תיבת טקסט 29">
            <a:extLst>
              <a:ext uri="{FF2B5EF4-FFF2-40B4-BE49-F238E27FC236}">
                <a16:creationId xmlns:a16="http://schemas.microsoft.com/office/drawing/2014/main" id="{3DB79269-D7A0-B023-3F3E-6AC6D2A7DB31}"/>
              </a:ext>
            </a:extLst>
          </p:cNvPr>
          <p:cNvSpPr txBox="1"/>
          <p:nvPr/>
        </p:nvSpPr>
        <p:spPr>
          <a:xfrm>
            <a:off x="1066800" y="2984500"/>
            <a:ext cx="1905000" cy="53091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950">
                <a:solidFill>
                  <a:srgbClr val="E5DAD4"/>
                </a:solidFill>
                <a:latin typeface="Aptos" panose="020B0004020202020204" pitchFamily="34" charset="0"/>
              </a:rPr>
              <a:t>User is not overloaded</a:t>
            </a:r>
          </a:p>
          <a:p>
            <a:pPr algn="ctr"/>
            <a:r>
              <a:rPr lang="en-US" sz="950">
                <a:solidFill>
                  <a:srgbClr val="E5DAD4"/>
                </a:solidFill>
                <a:latin typeface="Aptos" panose="020B0004020202020204" pitchFamily="34" charset="0"/>
              </a:rPr>
              <a:t>Notifications pass through</a:t>
            </a:r>
            <a:endParaRPr lang="en-US" sz="950" dirty="0">
              <a:solidFill>
                <a:srgbClr val="E5DAD4"/>
              </a:solidFill>
              <a:latin typeface="Aptos" panose="020B0004020202020204" pitchFamily="34" charset="0"/>
            </a:endParaRPr>
          </a:p>
        </p:txBody>
      </p:sp>
      <p:sp>
        <p:nvSpPr>
          <p:cNvPr id="31" name="תיבת טקסט 30">
            <a:extLst>
              <a:ext uri="{FF2B5EF4-FFF2-40B4-BE49-F238E27FC236}">
                <a16:creationId xmlns:a16="http://schemas.microsoft.com/office/drawing/2014/main" id="{0691F2D3-ECBC-AC62-D64D-B22844BEE1F7}"/>
              </a:ext>
            </a:extLst>
          </p:cNvPr>
          <p:cNvSpPr txBox="1"/>
          <p:nvPr/>
        </p:nvSpPr>
        <p:spPr>
          <a:xfrm>
            <a:off x="3760788" y="2976146"/>
            <a:ext cx="1905000" cy="67710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950">
                <a:solidFill>
                  <a:srgbClr val="E5DAD4"/>
                </a:solidFill>
                <a:latin typeface="Aptos" panose="020B0004020202020204" pitchFamily="34" charset="0"/>
              </a:rPr>
              <a:t>System is learning/calibrating</a:t>
            </a:r>
          </a:p>
          <a:p>
            <a:pPr algn="ctr"/>
            <a:r>
              <a:rPr lang="en-US" sz="950">
                <a:solidFill>
                  <a:srgbClr val="E5DAD4"/>
                </a:solidFill>
                <a:latin typeface="Aptos" panose="020B0004020202020204" pitchFamily="34" charset="0"/>
              </a:rPr>
              <a:t>Rising load detected.</a:t>
            </a:r>
            <a:endParaRPr lang="en-US" sz="950" dirty="0">
              <a:solidFill>
                <a:srgbClr val="E5DAD4"/>
              </a:solidFill>
              <a:latin typeface="Aptos" panose="020B0004020202020204" pitchFamily="34" charset="0"/>
            </a:endParaRPr>
          </a:p>
        </p:txBody>
      </p:sp>
      <p:sp>
        <p:nvSpPr>
          <p:cNvPr id="32" name="תיבת טקסט 31">
            <a:extLst>
              <a:ext uri="{FF2B5EF4-FFF2-40B4-BE49-F238E27FC236}">
                <a16:creationId xmlns:a16="http://schemas.microsoft.com/office/drawing/2014/main" id="{479B8F8E-7AD9-0F6F-B165-50ECA748F67A}"/>
              </a:ext>
            </a:extLst>
          </p:cNvPr>
          <p:cNvSpPr txBox="1"/>
          <p:nvPr/>
        </p:nvSpPr>
        <p:spPr>
          <a:xfrm>
            <a:off x="6451600" y="2984500"/>
            <a:ext cx="1905000" cy="67710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950">
                <a:solidFill>
                  <a:srgbClr val="E5DAD4"/>
                </a:solidFill>
                <a:latin typeface="Aptos" panose="020B0004020202020204" pitchFamily="34" charset="0"/>
              </a:rPr>
              <a:t>User is overloaded</a:t>
            </a:r>
          </a:p>
          <a:p>
            <a:pPr algn="ctr"/>
            <a:r>
              <a:rPr lang="en-US" sz="950">
                <a:solidFill>
                  <a:srgbClr val="E5DAD4"/>
                </a:solidFill>
                <a:latin typeface="Aptos" panose="020B0004020202020204" pitchFamily="34" charset="0"/>
              </a:rPr>
              <a:t>smart Firewall activates protection</a:t>
            </a:r>
          </a:p>
        </p:txBody>
      </p:sp>
      <p:sp>
        <p:nvSpPr>
          <p:cNvPr id="33" name="תיבת טקסט 32">
            <a:extLst>
              <a:ext uri="{FF2B5EF4-FFF2-40B4-BE49-F238E27FC236}">
                <a16:creationId xmlns:a16="http://schemas.microsoft.com/office/drawing/2014/main" id="{B14963BB-8AC9-1D8C-7300-3B1230399ABE}"/>
              </a:ext>
            </a:extLst>
          </p:cNvPr>
          <p:cNvSpPr txBox="1"/>
          <p:nvPr/>
        </p:nvSpPr>
        <p:spPr>
          <a:xfrm>
            <a:off x="2095500" y="4343400"/>
            <a:ext cx="4953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000" b="1">
                <a:solidFill>
                  <a:srgbClr val="7F8BA3"/>
                </a:solidFill>
                <a:latin typeface="Aptos" panose="020B0004020202020204" pitchFamily="34" charset="0"/>
              </a:rPr>
              <a:t>SENSE  -&gt;  UNDERSTAND  -&gt;  PROTECT</a:t>
            </a:r>
          </a:p>
        </p:txBody>
      </p:sp>
      <p:pic>
        <p:nvPicPr>
          <p:cNvPr id="9" name="KungFlow Logo Small 6">
            <a:extLst>
              <a:ext uri="{FF2B5EF4-FFF2-40B4-BE49-F238E27FC236}">
                <a16:creationId xmlns:a16="http://schemas.microsoft.com/office/drawing/2014/main" id="{AA83867F-CF4B-0E7A-61C3-1A715C06BDAA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8648700" y="190500"/>
            <a:ext cx="292100" cy="2921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8575" cy="51435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71500" y="333375"/>
            <a:ext cx="3333750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42"/>
              </a:lnSpc>
              <a:buNone/>
            </a:pPr>
            <a:r>
              <a:rPr lang="en-US" sz="1852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it works</a:t>
            </a:r>
            <a:endParaRPr lang="en-US" sz="1852" dirty="0"/>
          </a:p>
        </p:txBody>
      </p:sp>
      <p:sp>
        <p:nvSpPr>
          <p:cNvPr id="4" name="Shape 2"/>
          <p:cNvSpPr/>
          <p:nvPr/>
        </p:nvSpPr>
        <p:spPr>
          <a:xfrm>
            <a:off x="571500" y="723900"/>
            <a:ext cx="266700" cy="1905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71500" y="914400"/>
            <a:ext cx="714375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855" dirty="0">
                <a:solidFill>
                  <a:srgbClr val="D6DEF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KungFlow monitors cognitive load in real time and filters notifications automatically — keeping teams in deep work, not firefighting mode.</a:t>
            </a:r>
            <a:endParaRPr lang="en-US" sz="855" dirty="0"/>
          </a:p>
        </p:txBody>
      </p:sp>
      <p:sp>
        <p:nvSpPr>
          <p:cNvPr id="6" name="Shape 4"/>
          <p:cNvSpPr/>
          <p:nvPr/>
        </p:nvSpPr>
        <p:spPr>
          <a:xfrm>
            <a:off x="571500" y="1504950"/>
            <a:ext cx="3176588" cy="942975"/>
          </a:xfrm>
          <a:prstGeom prst="rect">
            <a:avLst/>
          </a:prstGeom>
          <a:solidFill>
            <a:srgbClr val="1F24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71500" y="1504950"/>
            <a:ext cx="28575" cy="94297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14375" y="1619250"/>
            <a:ext cx="428625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9"/>
              </a:lnSpc>
              <a:buNone/>
            </a:pPr>
            <a:r>
              <a:rPr lang="en-US" sz="784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Cognitive Load Monitor</a:t>
            </a:r>
            <a:endParaRPr lang="en-US" sz="784" dirty="0"/>
          </a:p>
        </p:txBody>
      </p:sp>
      <p:sp>
        <p:nvSpPr>
          <p:cNvPr id="9" name="Text 7"/>
          <p:cNvSpPr/>
          <p:nvPr/>
        </p:nvSpPr>
        <p:spPr>
          <a:xfrm>
            <a:off x="714375" y="1857375"/>
            <a:ext cx="288607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76"/>
              </a:lnSpc>
              <a:buNone/>
            </a:pPr>
            <a:r>
              <a:rPr lang="en-US" sz="641" dirty="0">
                <a:solidFill>
                  <a:srgbClr val="D6DEF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Passively tracks app switching, typing rhythm, and focus windows to score mental load in real time. Zero friction — invisible to users.</a:t>
            </a:r>
            <a:endParaRPr lang="en-US" sz="641" dirty="0"/>
          </a:p>
        </p:txBody>
      </p:sp>
      <p:sp>
        <p:nvSpPr>
          <p:cNvPr id="10" name="Shape 8"/>
          <p:cNvSpPr/>
          <p:nvPr/>
        </p:nvSpPr>
        <p:spPr>
          <a:xfrm>
            <a:off x="571500" y="2543175"/>
            <a:ext cx="3176588" cy="942975"/>
          </a:xfrm>
          <a:prstGeom prst="rect">
            <a:avLst/>
          </a:prstGeom>
          <a:solidFill>
            <a:srgbClr val="1F24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71500" y="2543175"/>
            <a:ext cx="28575" cy="942975"/>
          </a:xfrm>
          <a:prstGeom prst="rect">
            <a:avLst/>
          </a:prstGeom>
          <a:solidFill>
            <a:srgbClr val="2EC7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14375" y="2657475"/>
            <a:ext cx="2562225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9"/>
              </a:lnSpc>
              <a:buNone/>
            </a:pPr>
            <a:r>
              <a:rPr lang="en-US" sz="784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 Notification Firewall</a:t>
            </a:r>
            <a:endParaRPr lang="en-US" sz="784" dirty="0"/>
          </a:p>
        </p:txBody>
      </p:sp>
      <p:sp>
        <p:nvSpPr>
          <p:cNvPr id="13" name="Text 11"/>
          <p:cNvSpPr/>
          <p:nvPr/>
        </p:nvSpPr>
        <p:spPr>
          <a:xfrm>
            <a:off x="714375" y="2895600"/>
            <a:ext cx="280987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76"/>
              </a:lnSpc>
              <a:buNone/>
            </a:pPr>
            <a:r>
              <a:rPr lang="en-US" sz="641" dirty="0">
                <a:solidFill>
                  <a:srgbClr val="D6DEF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Blocks non-urgent notifications when load is high. VIP contacts always get through. Business &amp; Enterprise tiers add custom per-contact rules.</a:t>
            </a:r>
            <a:endParaRPr lang="en-US" sz="641" dirty="0"/>
          </a:p>
        </p:txBody>
      </p:sp>
      <p:sp>
        <p:nvSpPr>
          <p:cNvPr id="14" name="Shape 12"/>
          <p:cNvSpPr/>
          <p:nvPr/>
        </p:nvSpPr>
        <p:spPr>
          <a:xfrm>
            <a:off x="571500" y="3581400"/>
            <a:ext cx="3176588" cy="942975"/>
          </a:xfrm>
          <a:prstGeom prst="rect">
            <a:avLst/>
          </a:prstGeom>
          <a:solidFill>
            <a:srgbClr val="1F24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71500" y="3581400"/>
            <a:ext cx="28575" cy="942975"/>
          </a:xfrm>
          <a:prstGeom prst="rect">
            <a:avLst/>
          </a:prstGeom>
          <a:solidFill>
            <a:srgbClr val="ED99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14375" y="3695700"/>
            <a:ext cx="428625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9"/>
              </a:lnSpc>
              <a:buNone/>
            </a:pPr>
            <a:r>
              <a:rPr lang="en-US" sz="784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Summary of Missed Notifications (future development)</a:t>
            </a:r>
            <a:endParaRPr lang="en-US" sz="784" dirty="0"/>
          </a:p>
        </p:txBody>
      </p:sp>
      <p:sp>
        <p:nvSpPr>
          <p:cNvPr id="17" name="Text 15"/>
          <p:cNvSpPr/>
          <p:nvPr/>
        </p:nvSpPr>
        <p:spPr>
          <a:xfrm>
            <a:off x="714375" y="3933825"/>
            <a:ext cx="280987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76"/>
              </a:lnSpc>
              <a:buNone/>
            </a:pPr>
            <a:r>
              <a:rPr lang="en-US" sz="641" dirty="0">
                <a:solidFill>
                  <a:srgbClr val="D6DEF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Enterprise exclusive: when the firewall was up, users receive an AI-generated digest of everything blocked — context without chaos.</a:t>
            </a:r>
            <a:endParaRPr lang="en-US" sz="641" dirty="0"/>
          </a:p>
        </p:txBody>
      </p:sp>
      <p:sp>
        <p:nvSpPr>
          <p:cNvPr id="18" name="Text 16"/>
          <p:cNvSpPr/>
          <p:nvPr/>
        </p:nvSpPr>
        <p:spPr>
          <a:xfrm>
            <a:off x="4676775" y="1219200"/>
            <a:ext cx="28575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9"/>
              </a:lnSpc>
              <a:buNone/>
            </a:pPr>
            <a:r>
              <a:rPr lang="en-US" sz="784" b="1" dirty="0">
                <a:solidFill>
                  <a:srgbClr val="3B82F6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We Detect Cognitive Overload</a:t>
            </a:r>
            <a:endParaRPr lang="en-US" sz="784" dirty="0"/>
          </a:p>
        </p:txBody>
      </p:sp>
      <p:sp>
        <p:nvSpPr>
          <p:cNvPr id="19" name="Text 17"/>
          <p:cNvSpPr/>
          <p:nvPr/>
        </p:nvSpPr>
        <p:spPr>
          <a:xfrm>
            <a:off x="666750" y="1243013"/>
            <a:ext cx="28575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9"/>
              </a:lnSpc>
              <a:buNone/>
            </a:pPr>
            <a:r>
              <a:rPr lang="en-US" sz="784" b="1" dirty="0">
                <a:solidFill>
                  <a:srgbClr val="3B82F6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We Do</a:t>
            </a:r>
            <a:endParaRPr lang="en-US" sz="784" dirty="0"/>
          </a:p>
        </p:txBody>
      </p:sp>
      <p:sp>
        <p:nvSpPr>
          <p:cNvPr id="20" name="Shape 18"/>
          <p:cNvSpPr/>
          <p:nvPr/>
        </p:nvSpPr>
        <p:spPr>
          <a:xfrm>
            <a:off x="4691063" y="1504950"/>
            <a:ext cx="3810000" cy="762000"/>
          </a:xfrm>
          <a:prstGeom prst="rect">
            <a:avLst/>
          </a:prstGeom>
          <a:solidFill>
            <a:srgbClr val="1F24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676775" y="1504950"/>
            <a:ext cx="28575" cy="7620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19650" y="1562100"/>
            <a:ext cx="34290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62"/>
              </a:lnSpc>
              <a:buNone/>
            </a:pPr>
            <a:r>
              <a:rPr lang="en-US" sz="713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Mouse Movement</a:t>
            </a:r>
            <a:endParaRPr lang="en-US" sz="713" dirty="0"/>
          </a:p>
        </p:txBody>
      </p:sp>
      <p:sp>
        <p:nvSpPr>
          <p:cNvPr id="23" name="Text 21"/>
          <p:cNvSpPr/>
          <p:nvPr/>
        </p:nvSpPr>
        <p:spPr>
          <a:xfrm>
            <a:off x="4819650" y="1743075"/>
            <a:ext cx="3429000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33"/>
              </a:lnSpc>
              <a:buNone/>
            </a:pPr>
            <a:r>
              <a:rPr lang="en-US" sz="606" dirty="0">
                <a:solidFill>
                  <a:srgbClr val="D6DEF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Speed, acceleration, and micro-pauses reveal stress and concentration levels in real time.</a:t>
            </a:r>
            <a:endParaRPr lang="en-US" sz="606" dirty="0"/>
          </a:p>
        </p:txBody>
      </p:sp>
      <p:sp>
        <p:nvSpPr>
          <p:cNvPr id="24" name="Shape 22"/>
          <p:cNvSpPr/>
          <p:nvPr/>
        </p:nvSpPr>
        <p:spPr>
          <a:xfrm>
            <a:off x="4676775" y="2543175"/>
            <a:ext cx="3810000" cy="762000"/>
          </a:xfrm>
          <a:prstGeom prst="rect">
            <a:avLst/>
          </a:prstGeom>
          <a:solidFill>
            <a:srgbClr val="1F24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662488" y="2543175"/>
            <a:ext cx="28575" cy="7620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19650" y="2643188"/>
            <a:ext cx="34290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62"/>
              </a:lnSpc>
              <a:buNone/>
            </a:pPr>
            <a:r>
              <a:rPr lang="en-US" sz="713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Typing Behavior</a:t>
            </a:r>
            <a:endParaRPr lang="en-US" sz="713" dirty="0"/>
          </a:p>
        </p:txBody>
      </p:sp>
      <p:sp>
        <p:nvSpPr>
          <p:cNvPr id="27" name="Text 25"/>
          <p:cNvSpPr/>
          <p:nvPr/>
        </p:nvSpPr>
        <p:spPr>
          <a:xfrm>
            <a:off x="4819650" y="2824163"/>
            <a:ext cx="3429000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33"/>
              </a:lnSpc>
              <a:buNone/>
            </a:pPr>
            <a:r>
              <a:rPr lang="en-US" sz="606" dirty="0">
                <a:solidFill>
                  <a:srgbClr val="D6DEF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Keystroke dynamics, backspace frequency, and error rates indicate cognitive effort.</a:t>
            </a:r>
            <a:endParaRPr lang="en-US" sz="606" dirty="0"/>
          </a:p>
        </p:txBody>
      </p:sp>
      <p:sp>
        <p:nvSpPr>
          <p:cNvPr id="28" name="Shape 26"/>
          <p:cNvSpPr/>
          <p:nvPr/>
        </p:nvSpPr>
        <p:spPr>
          <a:xfrm>
            <a:off x="4676775" y="3581400"/>
            <a:ext cx="3810000" cy="762000"/>
          </a:xfrm>
          <a:prstGeom prst="rect">
            <a:avLst/>
          </a:prstGeom>
          <a:solidFill>
            <a:srgbClr val="1F24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648200" y="3581400"/>
            <a:ext cx="28575" cy="7620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819650" y="3686175"/>
            <a:ext cx="34290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62"/>
              </a:lnSpc>
              <a:buNone/>
            </a:pPr>
            <a:r>
              <a:rPr lang="en-US" sz="713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 Switching</a:t>
            </a:r>
            <a:endParaRPr lang="en-US" sz="713" dirty="0"/>
          </a:p>
        </p:txBody>
      </p:sp>
      <p:sp>
        <p:nvSpPr>
          <p:cNvPr id="31" name="Text 29"/>
          <p:cNvSpPr/>
          <p:nvPr/>
        </p:nvSpPr>
        <p:spPr>
          <a:xfrm>
            <a:off x="4819650" y="3867150"/>
            <a:ext cx="3429000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33"/>
              </a:lnSpc>
              <a:buNone/>
            </a:pPr>
            <a:r>
              <a:rPr lang="en-US" sz="606" dirty="0">
                <a:solidFill>
                  <a:srgbClr val="D6DEF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Frequency and pattern of switching between applications signals rising distraction.</a:t>
            </a:r>
            <a:endParaRPr lang="en-US" sz="606" dirty="0"/>
          </a:p>
        </p:txBody>
      </p:sp>
      <p:pic>
        <p:nvPicPr>
          <p:cNvPr id="33" name="KungFlow Logo Small 7">
            <a:extLst>
              <a:ext uri="{FF2B5EF4-FFF2-40B4-BE49-F238E27FC236}">
                <a16:creationId xmlns:a16="http://schemas.microsoft.com/office/drawing/2014/main" id="{CF623194-2602-22F2-F827-284C3E78E0ED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8648700" y="190500"/>
            <a:ext cx="292100" cy="2921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021" y="2116215"/>
            <a:ext cx="9037468" cy="263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638"/>
              </a:lnSpc>
            </a:pPr>
            <a:endParaRPr lang="en-US" sz="1354" dirty="0"/>
          </a:p>
        </p:txBody>
      </p:sp>
      <p:sp>
        <p:nvSpPr>
          <p:cNvPr id="9" name="תיבת טקסט 8">
            <a:extLst>
              <a:ext uri="{FF2B5EF4-FFF2-40B4-BE49-F238E27FC236}">
                <a16:creationId xmlns:a16="http://schemas.microsoft.com/office/drawing/2014/main" id="{279A6D0A-935F-E57E-6572-CB38389DF186}"/>
              </a:ext>
            </a:extLst>
          </p:cNvPr>
          <p:cNvSpPr txBox="1"/>
          <p:nvPr/>
        </p:nvSpPr>
        <p:spPr>
          <a:xfrm>
            <a:off x="2286000" y="2390492"/>
            <a:ext cx="4572000" cy="3636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2242"/>
              </a:lnSpc>
              <a:buNone/>
            </a:pPr>
            <a:endParaRPr lang="en-US" sz="1800" dirty="0"/>
          </a:p>
        </p:txBody>
      </p:sp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C587B982-F307-963D-9C0D-C74E2AE93874}"/>
              </a:ext>
            </a:extLst>
          </p:cNvPr>
          <p:cNvSpPr txBox="1"/>
          <p:nvPr/>
        </p:nvSpPr>
        <p:spPr>
          <a:xfrm>
            <a:off x="2032000" y="1968500"/>
            <a:ext cx="50800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2800" b="1">
                <a:solidFill>
                  <a:srgbClr val="FFFFFF"/>
                </a:solidFill>
                <a:latin typeface="Aptos" panose="020B0004020202020204" pitchFamily="34" charset="0"/>
              </a:rPr>
              <a:t>PROTOTYPE SCREENS</a:t>
            </a:r>
          </a:p>
        </p:txBody>
      </p:sp>
      <p:sp>
        <p:nvSpPr>
          <p:cNvPr id="4" name="מלבן 3">
            <a:extLst>
              <a:ext uri="{FF2B5EF4-FFF2-40B4-BE49-F238E27FC236}">
                <a16:creationId xmlns:a16="http://schemas.microsoft.com/office/drawing/2014/main" id="{2A6E4681-745D-9C0F-2AB8-24E45C89712D}"/>
              </a:ext>
            </a:extLst>
          </p:cNvPr>
          <p:cNvSpPr/>
          <p:nvPr/>
        </p:nvSpPr>
        <p:spPr>
          <a:xfrm>
            <a:off x="4191000" y="2679700"/>
            <a:ext cx="762000" cy="38100"/>
          </a:xfrm>
          <a:prstGeom prst="rect">
            <a:avLst/>
          </a:prstGeom>
          <a:solidFill>
            <a:srgbClr val="3B82F6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תיבת טקסט 4">
            <a:extLst>
              <a:ext uri="{FF2B5EF4-FFF2-40B4-BE49-F238E27FC236}">
                <a16:creationId xmlns:a16="http://schemas.microsoft.com/office/drawing/2014/main" id="{27BA2443-7EFF-9B63-D9E9-E1CF83F04FCA}"/>
              </a:ext>
            </a:extLst>
          </p:cNvPr>
          <p:cNvSpPr txBox="1"/>
          <p:nvPr/>
        </p:nvSpPr>
        <p:spPr>
          <a:xfrm>
            <a:off x="2413000" y="2946400"/>
            <a:ext cx="431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200" dirty="0">
                <a:solidFill>
                  <a:srgbClr val="D4DAE5"/>
                </a:solidFill>
                <a:latin typeface="Aptos" panose="020B0004020202020204" pitchFamily="34" charset="0"/>
              </a:rPr>
              <a:t>Live walkthrough of the working desktop application</a:t>
            </a:r>
          </a:p>
        </p:txBody>
      </p:sp>
      <p:pic>
        <p:nvPicPr>
          <p:cNvPr id="7" name="KungFlow Logo Small 8">
            <a:extLst>
              <a:ext uri="{FF2B5EF4-FFF2-40B4-BE49-F238E27FC236}">
                <a16:creationId xmlns:a16="http://schemas.microsoft.com/office/drawing/2014/main" id="{5222CA43-B75F-B341-8072-0FB6550B2DB3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8648700" y="190500"/>
            <a:ext cx="292100" cy="2921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8575" cy="51435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71500" y="333375"/>
            <a:ext cx="3333750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42"/>
              </a:lnSpc>
              <a:buNone/>
            </a:pPr>
            <a:r>
              <a:rPr lang="en-US" sz="1852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Social Impact</a:t>
            </a:r>
            <a:endParaRPr lang="en-US" sz="1852" dirty="0"/>
          </a:p>
        </p:txBody>
      </p:sp>
      <p:sp>
        <p:nvSpPr>
          <p:cNvPr id="4" name="Shape 2"/>
          <p:cNvSpPr/>
          <p:nvPr/>
        </p:nvSpPr>
        <p:spPr>
          <a:xfrm>
            <a:off x="571500" y="723900"/>
            <a:ext cx="266700" cy="1905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71500" y="914400"/>
            <a:ext cx="666750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1000" dirty="0">
                <a:solidFill>
                  <a:srgbClr val="D6DEF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KungFlow contributes to two UN Sustainable Development Goals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55700" y="1193799"/>
            <a:ext cx="11430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04"/>
              </a:lnSpc>
              <a:buNone/>
            </a:pPr>
            <a:r>
              <a:rPr lang="en-US" sz="650" b="1" dirty="0">
                <a:solidFill>
                  <a:srgbClr val="2A9E3B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SDG 3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1155700" y="1346199"/>
            <a:ext cx="2794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76"/>
              </a:lnSpc>
              <a:buNone/>
            </a:pPr>
            <a:r>
              <a:rPr lang="en-US" sz="800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Good Health and Well-Being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251450" y="1193799"/>
            <a:ext cx="11430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04"/>
              </a:lnSpc>
              <a:buNone/>
            </a:pPr>
            <a:r>
              <a:rPr lang="en-US" sz="650" b="1" dirty="0">
                <a:solidFill>
                  <a:srgbClr val="A21942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SDG 8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5251450" y="1346199"/>
            <a:ext cx="2984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76"/>
              </a:lnSpc>
              <a:buNone/>
            </a:pPr>
            <a:r>
              <a:rPr lang="en-US" sz="800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Decent Work and Economic Growth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71500" y="1628775"/>
            <a:ext cx="3905250" cy="2286000"/>
          </a:xfrm>
          <a:prstGeom prst="rect">
            <a:avLst/>
          </a:prstGeom>
          <a:solidFill>
            <a:srgbClr val="1F24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71500" y="1628775"/>
            <a:ext cx="3905250" cy="28575"/>
          </a:xfrm>
          <a:prstGeom prst="rect">
            <a:avLst/>
          </a:prstGeom>
          <a:solidFill>
            <a:srgbClr val="2A9E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66750" y="1752600"/>
            <a:ext cx="19050" cy="428625"/>
          </a:xfrm>
          <a:prstGeom prst="rect">
            <a:avLst/>
          </a:prstGeom>
          <a:solidFill>
            <a:srgbClr val="2A9E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71525" y="1752599"/>
            <a:ext cx="352425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33"/>
              </a:lnSpc>
              <a:buNone/>
            </a:pPr>
            <a:r>
              <a:rPr lang="en-US" sz="800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Reduces workplace stress and burnout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771525" y="1895475"/>
            <a:ext cx="3524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47"/>
              </a:lnSpc>
              <a:buNone/>
            </a:pPr>
            <a:r>
              <a:rPr lang="en-US" sz="640" dirty="0">
                <a:solidFill>
                  <a:srgbClr val="66708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Chronic cognitive overload from constant notifications is directly linked to stress, anxiety disorders, and burnout. KungFlow removes that pressure automatically.</a:t>
            </a:r>
            <a:endParaRPr lang="en-US" sz="640" dirty="0"/>
          </a:p>
        </p:txBody>
      </p:sp>
      <p:sp>
        <p:nvSpPr>
          <p:cNvPr id="19" name="Shape 17"/>
          <p:cNvSpPr/>
          <p:nvPr/>
        </p:nvSpPr>
        <p:spPr>
          <a:xfrm>
            <a:off x="666750" y="2400300"/>
            <a:ext cx="19050" cy="428625"/>
          </a:xfrm>
          <a:prstGeom prst="rect">
            <a:avLst/>
          </a:prstGeom>
          <a:solidFill>
            <a:srgbClr val="2A9E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71525" y="2400299"/>
            <a:ext cx="352425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33"/>
              </a:lnSpc>
              <a:buNone/>
            </a:pPr>
            <a:r>
              <a:rPr lang="en-US" sz="800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Protects mental health at work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71525" y="2543175"/>
            <a:ext cx="3524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47"/>
              </a:lnSpc>
              <a:buNone/>
            </a:pPr>
            <a:r>
              <a:rPr lang="en-US" sz="640" dirty="0">
                <a:solidFill>
                  <a:srgbClr val="66708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By monitoring load and activating the firewall before overload sets in, KungFlow gives employees breathing room during their most cognitively demanding hours.</a:t>
            </a:r>
            <a:endParaRPr lang="en-US" sz="640" dirty="0"/>
          </a:p>
        </p:txBody>
      </p:sp>
      <p:sp>
        <p:nvSpPr>
          <p:cNvPr id="22" name="Shape 20"/>
          <p:cNvSpPr/>
          <p:nvPr/>
        </p:nvSpPr>
        <p:spPr>
          <a:xfrm>
            <a:off x="666750" y="3048000"/>
            <a:ext cx="19050" cy="428625"/>
          </a:xfrm>
          <a:prstGeom prst="rect">
            <a:avLst/>
          </a:prstGeom>
          <a:solidFill>
            <a:srgbClr val="2A9E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71525" y="3047999"/>
            <a:ext cx="352425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33"/>
              </a:lnSpc>
              <a:buNone/>
            </a:pPr>
            <a:r>
              <a:rPr lang="en-US" sz="800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SDG Target 3.4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771525" y="3190875"/>
            <a:ext cx="3524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47"/>
              </a:lnSpc>
              <a:buNone/>
            </a:pPr>
            <a:r>
              <a:rPr lang="en-US" sz="640" dirty="0">
                <a:solidFill>
                  <a:srgbClr val="66708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Promote mental health and well-being, and reduce premature mortality from non-communicable diseases including stress-related conditions.</a:t>
            </a:r>
            <a:endParaRPr lang="en-US" sz="640" dirty="0"/>
          </a:p>
        </p:txBody>
      </p:sp>
      <p:sp>
        <p:nvSpPr>
          <p:cNvPr id="25" name="Shape 23"/>
          <p:cNvSpPr/>
          <p:nvPr/>
        </p:nvSpPr>
        <p:spPr>
          <a:xfrm>
            <a:off x="4667250" y="1628775"/>
            <a:ext cx="3905250" cy="2286000"/>
          </a:xfrm>
          <a:prstGeom prst="rect">
            <a:avLst/>
          </a:prstGeom>
          <a:solidFill>
            <a:srgbClr val="1F24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667250" y="1628775"/>
            <a:ext cx="3905250" cy="28575"/>
          </a:xfrm>
          <a:prstGeom prst="rect">
            <a:avLst/>
          </a:prstGeom>
          <a:solidFill>
            <a:srgbClr val="A219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762500" y="1752600"/>
            <a:ext cx="19050" cy="428625"/>
          </a:xfrm>
          <a:prstGeom prst="rect">
            <a:avLst/>
          </a:prstGeom>
          <a:solidFill>
            <a:srgbClr val="A219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867275" y="1752599"/>
            <a:ext cx="352425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33"/>
              </a:lnSpc>
              <a:buNone/>
            </a:pPr>
            <a:r>
              <a:rPr lang="en-US" sz="800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$650B in productivity lost annually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867275" y="1895475"/>
            <a:ext cx="3524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47"/>
              </a:lnSpc>
              <a:buNone/>
            </a:pPr>
            <a:r>
              <a:rPr lang="en-US" sz="640" dirty="0">
                <a:solidFill>
                  <a:srgbClr val="66708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Workplace distraction and reactive communication destroy economic output at every level. KungFlow directly recovers those hours for workers and organizations.</a:t>
            </a:r>
            <a:endParaRPr lang="en-US" sz="640" dirty="0"/>
          </a:p>
        </p:txBody>
      </p:sp>
      <p:sp>
        <p:nvSpPr>
          <p:cNvPr id="30" name="Shape 28"/>
          <p:cNvSpPr/>
          <p:nvPr/>
        </p:nvSpPr>
        <p:spPr>
          <a:xfrm>
            <a:off x="4762500" y="2400300"/>
            <a:ext cx="19050" cy="428625"/>
          </a:xfrm>
          <a:prstGeom prst="rect">
            <a:avLst/>
          </a:prstGeom>
          <a:solidFill>
            <a:srgbClr val="A219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867275" y="2400299"/>
            <a:ext cx="352425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33"/>
              </a:lnSpc>
              <a:buNone/>
            </a:pPr>
            <a:r>
              <a:rPr lang="en-US" sz="800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Creates better working conditions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867275" y="2543175"/>
            <a:ext cx="3524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47"/>
              </a:lnSpc>
              <a:buNone/>
            </a:pPr>
            <a:r>
              <a:rPr lang="en-US" sz="640" dirty="0">
                <a:solidFill>
                  <a:srgbClr val="66708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Workers protected from constant interruptions do higher-quality work, make fewer errors, and experience greater job satisfaction and autonomy.</a:t>
            </a:r>
            <a:endParaRPr lang="en-US" sz="640" dirty="0"/>
          </a:p>
        </p:txBody>
      </p:sp>
      <p:sp>
        <p:nvSpPr>
          <p:cNvPr id="33" name="Shape 31"/>
          <p:cNvSpPr/>
          <p:nvPr/>
        </p:nvSpPr>
        <p:spPr>
          <a:xfrm>
            <a:off x="4762500" y="3048000"/>
            <a:ext cx="19050" cy="428625"/>
          </a:xfrm>
          <a:prstGeom prst="rect">
            <a:avLst/>
          </a:prstGeom>
          <a:solidFill>
            <a:srgbClr val="A219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867275" y="3047999"/>
            <a:ext cx="352425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33"/>
              </a:lnSpc>
              <a:buNone/>
            </a:pPr>
            <a:r>
              <a:rPr lang="en-US" sz="800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SDG Targets 8.2 + 8.8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867275" y="3190875"/>
            <a:ext cx="3524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47"/>
              </a:lnSpc>
              <a:buNone/>
            </a:pPr>
            <a:r>
              <a:rPr lang="en-US" sz="640" dirty="0">
                <a:solidFill>
                  <a:srgbClr val="66708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Achieve higher productivity through innovation (8.2) and promote safe, secure working environments for all workers (8.8).</a:t>
            </a:r>
            <a:endParaRPr lang="en-US" sz="640" dirty="0"/>
          </a:p>
        </p:txBody>
      </p:sp>
      <p:sp>
        <p:nvSpPr>
          <p:cNvPr id="36" name="Shape 34"/>
          <p:cNvSpPr/>
          <p:nvPr/>
        </p:nvSpPr>
        <p:spPr>
          <a:xfrm>
            <a:off x="571500" y="4143375"/>
            <a:ext cx="8001000" cy="476250"/>
          </a:xfrm>
          <a:prstGeom prst="rect">
            <a:avLst/>
          </a:prstGeom>
          <a:solidFill>
            <a:srgbClr val="141A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571500" y="4143375"/>
            <a:ext cx="4000500" cy="9525"/>
          </a:xfrm>
          <a:prstGeom prst="rect">
            <a:avLst/>
          </a:prstGeom>
          <a:solidFill>
            <a:srgbClr val="2A9E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4572000" y="4143375"/>
            <a:ext cx="4000500" cy="9525"/>
          </a:xfrm>
          <a:prstGeom prst="rect">
            <a:avLst/>
          </a:prstGeom>
          <a:solidFill>
            <a:srgbClr val="A219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71500" y="4295775"/>
            <a:ext cx="80010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62"/>
              </a:lnSpc>
              <a:buNone/>
            </a:pPr>
            <a:r>
              <a:rPr lang="en-US" sz="850" b="1" dirty="0">
                <a:solidFill>
                  <a:srgbClr val="D6DEF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KungFlow is not just a productivity tool -- it is infrastructure for healthier, more humane workplaces.</a:t>
            </a:r>
            <a:endParaRPr lang="en-US" sz="850" dirty="0"/>
          </a:p>
        </p:txBody>
      </p:sp>
      <p:pic>
        <p:nvPicPr>
          <p:cNvPr id="41" name="KungFlow Logo Small 9">
            <a:extLst>
              <a:ext uri="{FF2B5EF4-FFF2-40B4-BE49-F238E27FC236}">
                <a16:creationId xmlns:a16="http://schemas.microsoft.com/office/drawing/2014/main" id="{26457795-2C1F-2A0B-ABD2-2F097806E8DC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8648700" y="190500"/>
            <a:ext cx="292100" cy="292100"/>
          </a:xfrm>
          <a:prstGeom prst="rect">
            <a:avLst/>
          </a:prstGeom>
        </p:spPr>
      </p:pic>
      <p:pic>
        <p:nvPicPr>
          <p:cNvPr id="42" name="Official SDG 3">
            <a:extLst>
              <a:ext uri="{FF2B5EF4-FFF2-40B4-BE49-F238E27FC236}">
                <a16:creationId xmlns:a16="http://schemas.microsoft.com/office/drawing/2014/main" id="{20851400-9F4A-DCDF-A787-0D4014543EAE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104900"/>
            <a:ext cx="482600" cy="482600"/>
          </a:xfrm>
          <a:prstGeom prst="rect">
            <a:avLst/>
          </a:prstGeom>
        </p:spPr>
      </p:pic>
      <p:pic>
        <p:nvPicPr>
          <p:cNvPr id="44" name="Official SDG 8">
            <a:extLst>
              <a:ext uri="{FF2B5EF4-FFF2-40B4-BE49-F238E27FC236}">
                <a16:creationId xmlns:a16="http://schemas.microsoft.com/office/drawing/2014/main" id="{B7EE321C-2070-887C-47E3-ECF929CD6BD6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4667250" y="1104900"/>
            <a:ext cx="482600" cy="482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247650"/>
            <a:ext cx="38100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69"/>
              </a:lnSpc>
              <a:buNone/>
            </a:pPr>
            <a:r>
              <a:rPr lang="en-US" sz="1710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 Opportunity</a:t>
            </a:r>
            <a:endParaRPr lang="en-US" sz="1710" dirty="0"/>
          </a:p>
        </p:txBody>
      </p:sp>
      <p:sp>
        <p:nvSpPr>
          <p:cNvPr id="3" name="Shape 1"/>
          <p:cNvSpPr/>
          <p:nvPr/>
        </p:nvSpPr>
        <p:spPr>
          <a:xfrm>
            <a:off x="571500" y="581025"/>
            <a:ext cx="266700" cy="1905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85750" y="800100"/>
            <a:ext cx="3905250" cy="3905250"/>
          </a:xfrm>
          <a:prstGeom prst="ellipse">
            <a:avLst/>
          </a:prstGeom>
          <a:solidFill>
            <a:srgbClr val="3B82F6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09625" y="1381125"/>
            <a:ext cx="2857500" cy="2857500"/>
          </a:xfrm>
          <a:prstGeom prst="ellipse">
            <a:avLst/>
          </a:prstGeom>
          <a:solidFill>
            <a:srgbClr val="3B82F6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428750" y="2000250"/>
            <a:ext cx="1619250" cy="1619250"/>
          </a:xfrm>
          <a:prstGeom prst="ellipse">
            <a:avLst/>
          </a:prstGeom>
          <a:solidFill>
            <a:srgbClr val="3B82F6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38150" y="1343025"/>
            <a:ext cx="7620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62"/>
              </a:lnSpc>
              <a:buNone/>
            </a:pPr>
            <a:r>
              <a:rPr lang="en-US" sz="713" b="1" dirty="0">
                <a:solidFill>
                  <a:srgbClr val="3B82F6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TAM</a:t>
            </a:r>
            <a:endParaRPr lang="en-US" sz="713" dirty="0"/>
          </a:p>
        </p:txBody>
      </p:sp>
      <p:sp>
        <p:nvSpPr>
          <p:cNvPr id="8" name="Text 6"/>
          <p:cNvSpPr/>
          <p:nvPr/>
        </p:nvSpPr>
        <p:spPr>
          <a:xfrm>
            <a:off x="438150" y="1466850"/>
            <a:ext cx="13335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90"/>
              </a:lnSpc>
              <a:buNone/>
            </a:pPr>
            <a:r>
              <a:rPr lang="en-US" sz="57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$46B</a:t>
            </a:r>
            <a:endParaRPr lang="en-US" sz="570" dirty="0"/>
          </a:p>
          <a:p>
            <a:pPr marL="0" indent="0" algn="l">
              <a:lnSpc>
                <a:spcPts val="690"/>
              </a:lnSpc>
              <a:buNone/>
            </a:pPr>
            <a:r>
              <a:rPr lang="en-US" sz="57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Global productivity software market</a:t>
            </a:r>
            <a:endParaRPr lang="en-US" sz="570" dirty="0"/>
          </a:p>
        </p:txBody>
      </p:sp>
      <p:sp>
        <p:nvSpPr>
          <p:cNvPr id="9" name="Text 7"/>
          <p:cNvSpPr/>
          <p:nvPr/>
        </p:nvSpPr>
        <p:spPr>
          <a:xfrm>
            <a:off x="928688" y="1943100"/>
            <a:ext cx="7620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62"/>
              </a:lnSpc>
              <a:buNone/>
            </a:pPr>
            <a:r>
              <a:rPr lang="en-US" sz="713" b="1" dirty="0">
                <a:solidFill>
                  <a:srgbClr val="3B82F6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</a:t>
            </a:r>
            <a:endParaRPr lang="en-US" sz="713" dirty="0"/>
          </a:p>
        </p:txBody>
      </p:sp>
      <p:sp>
        <p:nvSpPr>
          <p:cNvPr id="10" name="Text 8"/>
          <p:cNvSpPr/>
          <p:nvPr/>
        </p:nvSpPr>
        <p:spPr>
          <a:xfrm>
            <a:off x="928688" y="2066925"/>
            <a:ext cx="13335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90"/>
              </a:lnSpc>
              <a:buNone/>
            </a:pPr>
            <a:r>
              <a:rPr lang="en-US" sz="57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$4.2B</a:t>
            </a:r>
            <a:endParaRPr lang="en-US" sz="570" dirty="0"/>
          </a:p>
          <a:p>
            <a:pPr marL="0" indent="0" algn="l">
              <a:lnSpc>
                <a:spcPts val="690"/>
              </a:lnSpc>
              <a:buNone/>
            </a:pPr>
            <a:r>
              <a:rPr lang="en-US" sz="57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B2B focus &amp; workflow tools</a:t>
            </a:r>
            <a:endParaRPr lang="en-US" sz="570" dirty="0"/>
          </a:p>
        </p:txBody>
      </p:sp>
      <p:sp>
        <p:nvSpPr>
          <p:cNvPr id="11" name="Text 9"/>
          <p:cNvSpPr/>
          <p:nvPr/>
        </p:nvSpPr>
        <p:spPr>
          <a:xfrm>
            <a:off x="1733550" y="2609850"/>
            <a:ext cx="95250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76"/>
              </a:lnSpc>
              <a:buNone/>
            </a:pPr>
            <a:r>
              <a:rPr lang="en-US" sz="641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SOM</a:t>
            </a:r>
            <a:endParaRPr lang="en-US" sz="641" dirty="0"/>
          </a:p>
        </p:txBody>
      </p:sp>
      <p:sp>
        <p:nvSpPr>
          <p:cNvPr id="12" name="Text 10"/>
          <p:cNvSpPr/>
          <p:nvPr/>
        </p:nvSpPr>
        <p:spPr>
          <a:xfrm>
            <a:off x="1733550" y="2724150"/>
            <a:ext cx="952500" cy="80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604"/>
              </a:lnSpc>
              <a:buNone/>
            </a:pPr>
            <a:r>
              <a:rPr lang="en-US" sz="499" b="1" dirty="0">
                <a:solidFill>
                  <a:srgbClr val="3B82F6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$84M</a:t>
            </a:r>
            <a:endParaRPr lang="en-US" sz="499" dirty="0"/>
          </a:p>
        </p:txBody>
      </p:sp>
      <p:sp>
        <p:nvSpPr>
          <p:cNvPr id="13" name="Shape 11"/>
          <p:cNvSpPr/>
          <p:nvPr/>
        </p:nvSpPr>
        <p:spPr>
          <a:xfrm>
            <a:off x="4762500" y="704850"/>
            <a:ext cx="4191000" cy="3333750"/>
          </a:xfrm>
          <a:prstGeom prst="rect">
            <a:avLst/>
          </a:prstGeom>
          <a:solidFill>
            <a:srgbClr val="E8EB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76800" y="800100"/>
            <a:ext cx="333375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76"/>
              </a:lnSpc>
              <a:buNone/>
            </a:pPr>
            <a:r>
              <a:rPr lang="en-US" sz="641" b="1" dirty="0">
                <a:solidFill>
                  <a:srgbClr val="1A1F2B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Competitive Landscape</a:t>
            </a:r>
            <a:endParaRPr lang="en-US" sz="641" dirty="0"/>
          </a:p>
        </p:txBody>
      </p:sp>
      <p:sp>
        <p:nvSpPr>
          <p:cNvPr id="15" name="Shape 13"/>
          <p:cNvSpPr/>
          <p:nvPr/>
        </p:nvSpPr>
        <p:spPr>
          <a:xfrm>
            <a:off x="4876800" y="962025"/>
            <a:ext cx="3981450" cy="9525"/>
          </a:xfrm>
          <a:prstGeom prst="rect">
            <a:avLst/>
          </a:prstGeom>
          <a:solidFill>
            <a:srgbClr val="C7CC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924550" y="1038225"/>
            <a:ext cx="7905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60"/>
              </a:lnSpc>
              <a:buNone/>
            </a:pPr>
            <a:r>
              <a:rPr lang="en-US" sz="463" b="1" dirty="0">
                <a:solidFill>
                  <a:srgbClr val="616B85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Cognitive</a:t>
            </a:r>
            <a:endParaRPr lang="en-US" sz="463" dirty="0"/>
          </a:p>
          <a:p>
            <a:pPr marL="0" indent="0" algn="ctr">
              <a:lnSpc>
                <a:spcPts val="560"/>
              </a:lnSpc>
              <a:buNone/>
            </a:pPr>
            <a:r>
              <a:rPr lang="en-US" sz="463" b="1" dirty="0">
                <a:solidFill>
                  <a:srgbClr val="616B85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Monitor</a:t>
            </a:r>
            <a:endParaRPr lang="en-US" sz="463" dirty="0"/>
          </a:p>
        </p:txBody>
      </p:sp>
      <p:sp>
        <p:nvSpPr>
          <p:cNvPr id="17" name="Text 15"/>
          <p:cNvSpPr/>
          <p:nvPr/>
        </p:nvSpPr>
        <p:spPr>
          <a:xfrm>
            <a:off x="6715125" y="1038225"/>
            <a:ext cx="7905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60"/>
              </a:lnSpc>
              <a:buNone/>
            </a:pPr>
            <a:r>
              <a:rPr lang="en-US" sz="463" b="1" dirty="0">
                <a:solidFill>
                  <a:srgbClr val="616B85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Notif.</a:t>
            </a:r>
            <a:endParaRPr lang="en-US" sz="463" dirty="0"/>
          </a:p>
          <a:p>
            <a:pPr marL="0" indent="0" algn="ctr">
              <a:lnSpc>
                <a:spcPts val="560"/>
              </a:lnSpc>
              <a:buNone/>
            </a:pPr>
            <a:r>
              <a:rPr lang="en-US" sz="463" b="1" dirty="0">
                <a:solidFill>
                  <a:srgbClr val="616B85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Firewall</a:t>
            </a:r>
            <a:endParaRPr lang="en-US" sz="463" dirty="0"/>
          </a:p>
        </p:txBody>
      </p:sp>
      <p:sp>
        <p:nvSpPr>
          <p:cNvPr id="18" name="Text 16"/>
          <p:cNvSpPr/>
          <p:nvPr/>
        </p:nvSpPr>
        <p:spPr>
          <a:xfrm>
            <a:off x="7505700" y="1038225"/>
            <a:ext cx="7905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60"/>
              </a:lnSpc>
              <a:buNone/>
            </a:pPr>
            <a:r>
              <a:rPr lang="en-US" sz="463" b="1" dirty="0">
                <a:solidFill>
                  <a:srgbClr val="616B85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</a:t>
            </a:r>
            <a:endParaRPr lang="en-US" sz="463" dirty="0"/>
          </a:p>
          <a:p>
            <a:pPr marL="0" indent="0" algn="ctr">
              <a:lnSpc>
                <a:spcPts val="560"/>
              </a:lnSpc>
              <a:buNone/>
            </a:pPr>
            <a:r>
              <a:rPr lang="en-US" sz="463" b="1" dirty="0">
                <a:solidFill>
                  <a:srgbClr val="616B85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Analytics</a:t>
            </a:r>
            <a:endParaRPr lang="en-US" sz="463" dirty="0"/>
          </a:p>
        </p:txBody>
      </p:sp>
      <p:sp>
        <p:nvSpPr>
          <p:cNvPr id="19" name="Text 17"/>
          <p:cNvSpPr/>
          <p:nvPr/>
        </p:nvSpPr>
        <p:spPr>
          <a:xfrm>
            <a:off x="8296275" y="1038225"/>
            <a:ext cx="790575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60"/>
              </a:lnSpc>
              <a:buNone/>
            </a:pPr>
            <a:r>
              <a:rPr lang="en-US" sz="463" b="1" dirty="0">
                <a:solidFill>
                  <a:srgbClr val="616B85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On-premise</a:t>
            </a:r>
            <a:endParaRPr lang="en-US" sz="463" dirty="0"/>
          </a:p>
        </p:txBody>
      </p:sp>
      <p:sp>
        <p:nvSpPr>
          <p:cNvPr id="20" name="Text 18"/>
          <p:cNvSpPr/>
          <p:nvPr/>
        </p:nvSpPr>
        <p:spPr>
          <a:xfrm>
            <a:off x="4895850" y="1628775"/>
            <a:ext cx="1000125" cy="90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90"/>
              </a:lnSpc>
              <a:buNone/>
            </a:pPr>
            <a:r>
              <a:rPr lang="en-US" sz="570" b="1" dirty="0">
                <a:solidFill>
                  <a:srgbClr val="3B82F6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KungFlow</a:t>
            </a:r>
            <a:endParaRPr lang="en-US" sz="570" dirty="0"/>
          </a:p>
        </p:txBody>
      </p:sp>
      <p:sp>
        <p:nvSpPr>
          <p:cNvPr id="21" name="Text 19"/>
          <p:cNvSpPr/>
          <p:nvPr/>
        </p:nvSpPr>
        <p:spPr>
          <a:xfrm>
            <a:off x="5924550" y="1628775"/>
            <a:ext cx="79057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647"/>
              </a:lnSpc>
              <a:buNone/>
            </a:pPr>
            <a:r>
              <a:rPr lang="en-US" sz="534" b="1" dirty="0">
                <a:solidFill>
                  <a:srgbClr val="3B82F6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Yes</a:t>
            </a:r>
            <a:endParaRPr lang="en-US" sz="534" dirty="0"/>
          </a:p>
        </p:txBody>
      </p:sp>
      <p:sp>
        <p:nvSpPr>
          <p:cNvPr id="22" name="Text 20"/>
          <p:cNvSpPr/>
          <p:nvPr/>
        </p:nvSpPr>
        <p:spPr>
          <a:xfrm>
            <a:off x="6715125" y="1628775"/>
            <a:ext cx="79057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647"/>
              </a:lnSpc>
              <a:buNone/>
            </a:pPr>
            <a:r>
              <a:rPr lang="en-US" sz="534" b="1" dirty="0">
                <a:solidFill>
                  <a:srgbClr val="3B82F6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Yes</a:t>
            </a:r>
            <a:endParaRPr lang="en-US" sz="534" dirty="0"/>
          </a:p>
        </p:txBody>
      </p:sp>
      <p:sp>
        <p:nvSpPr>
          <p:cNvPr id="23" name="Text 21"/>
          <p:cNvSpPr/>
          <p:nvPr/>
        </p:nvSpPr>
        <p:spPr>
          <a:xfrm>
            <a:off x="7505700" y="1628775"/>
            <a:ext cx="79057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647"/>
              </a:lnSpc>
              <a:buNone/>
            </a:pPr>
            <a:r>
              <a:rPr lang="en-US" sz="534" b="1" dirty="0">
                <a:solidFill>
                  <a:srgbClr val="3B82F6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Yes</a:t>
            </a:r>
            <a:endParaRPr lang="en-US" sz="534" dirty="0"/>
          </a:p>
        </p:txBody>
      </p:sp>
      <p:sp>
        <p:nvSpPr>
          <p:cNvPr id="24" name="Text 22"/>
          <p:cNvSpPr/>
          <p:nvPr/>
        </p:nvSpPr>
        <p:spPr>
          <a:xfrm>
            <a:off x="8296275" y="1628775"/>
            <a:ext cx="79057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647"/>
              </a:lnSpc>
              <a:buNone/>
            </a:pPr>
            <a:r>
              <a:rPr lang="en-US" sz="534" b="1" dirty="0">
                <a:solidFill>
                  <a:srgbClr val="3B82F6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Yes</a:t>
            </a:r>
            <a:endParaRPr lang="en-US" sz="534" dirty="0"/>
          </a:p>
        </p:txBody>
      </p:sp>
      <p:sp>
        <p:nvSpPr>
          <p:cNvPr id="25" name="Shape 23"/>
          <p:cNvSpPr/>
          <p:nvPr/>
        </p:nvSpPr>
        <p:spPr>
          <a:xfrm>
            <a:off x="4876800" y="1914525"/>
            <a:ext cx="3981450" cy="457200"/>
          </a:xfrm>
          <a:prstGeom prst="rect">
            <a:avLst/>
          </a:prstGeom>
          <a:solidFill>
            <a:srgbClr val="DEE0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95850" y="2085975"/>
            <a:ext cx="1000125" cy="90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90"/>
              </a:lnSpc>
              <a:buNone/>
            </a:pPr>
            <a:r>
              <a:rPr lang="en-US" sz="570" dirty="0">
                <a:solidFill>
                  <a:srgbClr val="1A1F2B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RescueTime</a:t>
            </a:r>
            <a:endParaRPr lang="en-US" sz="570" dirty="0"/>
          </a:p>
        </p:txBody>
      </p:sp>
      <p:sp>
        <p:nvSpPr>
          <p:cNvPr id="27" name="Text 25"/>
          <p:cNvSpPr/>
          <p:nvPr/>
        </p:nvSpPr>
        <p:spPr>
          <a:xfrm>
            <a:off x="5924550" y="2085975"/>
            <a:ext cx="79057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647"/>
              </a:lnSpc>
              <a:buNone/>
            </a:pPr>
            <a:r>
              <a:rPr lang="en-US" sz="534" b="1" dirty="0">
                <a:solidFill>
                  <a:srgbClr val="B8BFD1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</a:t>
            </a:r>
            <a:endParaRPr lang="en-US" sz="534" dirty="0"/>
          </a:p>
        </p:txBody>
      </p:sp>
      <p:sp>
        <p:nvSpPr>
          <p:cNvPr id="28" name="Text 26"/>
          <p:cNvSpPr/>
          <p:nvPr/>
        </p:nvSpPr>
        <p:spPr>
          <a:xfrm>
            <a:off x="6715125" y="2085975"/>
            <a:ext cx="79057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647"/>
              </a:lnSpc>
              <a:buNone/>
            </a:pPr>
            <a:r>
              <a:rPr lang="en-US" sz="534" b="1" dirty="0">
                <a:solidFill>
                  <a:srgbClr val="B8BFD1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</a:t>
            </a:r>
            <a:endParaRPr lang="en-US" sz="534" dirty="0"/>
          </a:p>
        </p:txBody>
      </p:sp>
      <p:sp>
        <p:nvSpPr>
          <p:cNvPr id="29" name="Text 27"/>
          <p:cNvSpPr/>
          <p:nvPr/>
        </p:nvSpPr>
        <p:spPr>
          <a:xfrm>
            <a:off x="7505700" y="2085975"/>
            <a:ext cx="79057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647"/>
              </a:lnSpc>
              <a:buNone/>
            </a:pPr>
            <a:r>
              <a:rPr lang="en-US" sz="534" b="1" dirty="0">
                <a:solidFill>
                  <a:srgbClr val="B8BFD1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</a:t>
            </a:r>
            <a:endParaRPr lang="en-US" sz="534" dirty="0"/>
          </a:p>
        </p:txBody>
      </p:sp>
      <p:sp>
        <p:nvSpPr>
          <p:cNvPr id="30" name="Text 28"/>
          <p:cNvSpPr/>
          <p:nvPr/>
        </p:nvSpPr>
        <p:spPr>
          <a:xfrm>
            <a:off x="8296275" y="2085975"/>
            <a:ext cx="79057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647"/>
              </a:lnSpc>
              <a:buNone/>
            </a:pPr>
            <a:r>
              <a:rPr lang="en-US" sz="534" b="1" dirty="0">
                <a:solidFill>
                  <a:srgbClr val="B8BFD1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</a:t>
            </a:r>
            <a:endParaRPr lang="en-US" sz="534" dirty="0"/>
          </a:p>
        </p:txBody>
      </p:sp>
      <p:sp>
        <p:nvSpPr>
          <p:cNvPr id="31" name="Text 29"/>
          <p:cNvSpPr/>
          <p:nvPr/>
        </p:nvSpPr>
        <p:spPr>
          <a:xfrm>
            <a:off x="4895850" y="2543175"/>
            <a:ext cx="1000125" cy="90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90"/>
              </a:lnSpc>
              <a:buNone/>
            </a:pPr>
            <a:r>
              <a:rPr lang="en-US" sz="570" dirty="0">
                <a:solidFill>
                  <a:srgbClr val="1A1F2B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Freedom</a:t>
            </a:r>
            <a:endParaRPr lang="en-US" sz="570" dirty="0"/>
          </a:p>
        </p:txBody>
      </p:sp>
      <p:sp>
        <p:nvSpPr>
          <p:cNvPr id="32" name="Text 30"/>
          <p:cNvSpPr/>
          <p:nvPr/>
        </p:nvSpPr>
        <p:spPr>
          <a:xfrm>
            <a:off x="5924550" y="2543175"/>
            <a:ext cx="79057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647"/>
              </a:lnSpc>
              <a:buNone/>
            </a:pPr>
            <a:r>
              <a:rPr lang="en-US" sz="534" b="1" dirty="0">
                <a:solidFill>
                  <a:srgbClr val="B8BFD1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</a:t>
            </a:r>
            <a:endParaRPr lang="en-US" sz="534" dirty="0"/>
          </a:p>
        </p:txBody>
      </p:sp>
      <p:sp>
        <p:nvSpPr>
          <p:cNvPr id="33" name="Text 31"/>
          <p:cNvSpPr/>
          <p:nvPr/>
        </p:nvSpPr>
        <p:spPr>
          <a:xfrm>
            <a:off x="6715125" y="2543175"/>
            <a:ext cx="79057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647"/>
              </a:lnSpc>
              <a:buNone/>
            </a:pPr>
            <a:r>
              <a:rPr lang="en-US" sz="534" b="1" dirty="0">
                <a:solidFill>
                  <a:srgbClr val="2EC78C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Yes</a:t>
            </a:r>
            <a:endParaRPr lang="en-US" sz="534" dirty="0"/>
          </a:p>
        </p:txBody>
      </p:sp>
      <p:sp>
        <p:nvSpPr>
          <p:cNvPr id="34" name="Text 32"/>
          <p:cNvSpPr/>
          <p:nvPr/>
        </p:nvSpPr>
        <p:spPr>
          <a:xfrm>
            <a:off x="7505700" y="2543175"/>
            <a:ext cx="79057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647"/>
              </a:lnSpc>
              <a:buNone/>
            </a:pPr>
            <a:r>
              <a:rPr lang="en-US" sz="534" b="1" dirty="0">
                <a:solidFill>
                  <a:srgbClr val="B8BFD1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</a:t>
            </a:r>
            <a:endParaRPr lang="en-US" sz="534" dirty="0"/>
          </a:p>
        </p:txBody>
      </p:sp>
      <p:sp>
        <p:nvSpPr>
          <p:cNvPr id="35" name="Text 33"/>
          <p:cNvSpPr/>
          <p:nvPr/>
        </p:nvSpPr>
        <p:spPr>
          <a:xfrm>
            <a:off x="8296275" y="2543175"/>
            <a:ext cx="79057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647"/>
              </a:lnSpc>
              <a:buNone/>
            </a:pPr>
            <a:r>
              <a:rPr lang="en-US" sz="534" b="1" dirty="0">
                <a:solidFill>
                  <a:srgbClr val="B8BFD1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</a:t>
            </a:r>
            <a:endParaRPr lang="en-US" sz="534" dirty="0"/>
          </a:p>
        </p:txBody>
      </p:sp>
      <p:sp>
        <p:nvSpPr>
          <p:cNvPr id="36" name="Shape 34"/>
          <p:cNvSpPr/>
          <p:nvPr/>
        </p:nvSpPr>
        <p:spPr>
          <a:xfrm>
            <a:off x="4876800" y="2828925"/>
            <a:ext cx="3981450" cy="457200"/>
          </a:xfrm>
          <a:prstGeom prst="rect">
            <a:avLst/>
          </a:prstGeom>
          <a:solidFill>
            <a:srgbClr val="DEE0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895850" y="3000375"/>
            <a:ext cx="1000125" cy="90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90"/>
              </a:lnSpc>
              <a:buNone/>
            </a:pPr>
            <a:r>
              <a:rPr lang="en-US" sz="570" dirty="0">
                <a:solidFill>
                  <a:srgbClr val="1A1F2B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Daywise</a:t>
            </a:r>
            <a:endParaRPr lang="en-US" sz="570" dirty="0"/>
          </a:p>
        </p:txBody>
      </p:sp>
      <p:sp>
        <p:nvSpPr>
          <p:cNvPr id="38" name="Text 36"/>
          <p:cNvSpPr/>
          <p:nvPr/>
        </p:nvSpPr>
        <p:spPr>
          <a:xfrm>
            <a:off x="5924550" y="3000375"/>
            <a:ext cx="79057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647"/>
              </a:lnSpc>
              <a:buNone/>
            </a:pPr>
            <a:r>
              <a:rPr lang="en-US" sz="534" b="1" dirty="0">
                <a:solidFill>
                  <a:srgbClr val="B8BFD1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</a:t>
            </a:r>
            <a:endParaRPr lang="en-US" sz="534" dirty="0"/>
          </a:p>
        </p:txBody>
      </p:sp>
      <p:sp>
        <p:nvSpPr>
          <p:cNvPr id="39" name="Text 37"/>
          <p:cNvSpPr/>
          <p:nvPr/>
        </p:nvSpPr>
        <p:spPr>
          <a:xfrm>
            <a:off x="6715125" y="3000375"/>
            <a:ext cx="79057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647"/>
              </a:lnSpc>
              <a:buNone/>
            </a:pPr>
            <a:r>
              <a:rPr lang="en-US" sz="534" b="1" dirty="0">
                <a:solidFill>
                  <a:srgbClr val="2EC78C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Yes</a:t>
            </a:r>
            <a:endParaRPr lang="en-US" sz="534" dirty="0"/>
          </a:p>
        </p:txBody>
      </p:sp>
      <p:sp>
        <p:nvSpPr>
          <p:cNvPr id="40" name="Text 38"/>
          <p:cNvSpPr/>
          <p:nvPr/>
        </p:nvSpPr>
        <p:spPr>
          <a:xfrm>
            <a:off x="7505700" y="3000375"/>
            <a:ext cx="79057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647"/>
              </a:lnSpc>
              <a:buNone/>
            </a:pPr>
            <a:r>
              <a:rPr lang="en-US" sz="534" b="1" dirty="0">
                <a:solidFill>
                  <a:srgbClr val="B8BFD1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</a:t>
            </a:r>
            <a:endParaRPr lang="en-US" sz="534" dirty="0"/>
          </a:p>
        </p:txBody>
      </p:sp>
      <p:sp>
        <p:nvSpPr>
          <p:cNvPr id="41" name="Text 39"/>
          <p:cNvSpPr/>
          <p:nvPr/>
        </p:nvSpPr>
        <p:spPr>
          <a:xfrm>
            <a:off x="8296275" y="3000375"/>
            <a:ext cx="79057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647"/>
              </a:lnSpc>
              <a:buNone/>
            </a:pPr>
            <a:r>
              <a:rPr lang="en-US" sz="534" b="1" dirty="0">
                <a:solidFill>
                  <a:srgbClr val="B8BFD1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</a:t>
            </a:r>
            <a:endParaRPr lang="en-US" sz="534" dirty="0"/>
          </a:p>
        </p:txBody>
      </p:sp>
      <p:sp>
        <p:nvSpPr>
          <p:cNvPr id="42" name="Text 40"/>
          <p:cNvSpPr/>
          <p:nvPr/>
        </p:nvSpPr>
        <p:spPr>
          <a:xfrm>
            <a:off x="4895850" y="3457575"/>
            <a:ext cx="1000125" cy="90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90"/>
              </a:lnSpc>
              <a:buNone/>
            </a:pPr>
            <a:r>
              <a:rPr lang="en-US" sz="570" dirty="0">
                <a:solidFill>
                  <a:srgbClr val="1A1F2B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MS Viva Insights</a:t>
            </a:r>
            <a:endParaRPr lang="en-US" sz="570" dirty="0"/>
          </a:p>
        </p:txBody>
      </p:sp>
      <p:sp>
        <p:nvSpPr>
          <p:cNvPr id="43" name="Text 41"/>
          <p:cNvSpPr/>
          <p:nvPr/>
        </p:nvSpPr>
        <p:spPr>
          <a:xfrm>
            <a:off x="5924550" y="3457575"/>
            <a:ext cx="79057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647"/>
              </a:lnSpc>
              <a:buNone/>
            </a:pPr>
            <a:r>
              <a:rPr lang="en-US" sz="534" b="1" dirty="0">
                <a:solidFill>
                  <a:srgbClr val="B8BFD1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</a:t>
            </a:r>
            <a:endParaRPr lang="en-US" sz="534" dirty="0"/>
          </a:p>
        </p:txBody>
      </p:sp>
      <p:sp>
        <p:nvSpPr>
          <p:cNvPr id="44" name="Text 42"/>
          <p:cNvSpPr/>
          <p:nvPr/>
        </p:nvSpPr>
        <p:spPr>
          <a:xfrm>
            <a:off x="6715125" y="3457575"/>
            <a:ext cx="79057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647"/>
              </a:lnSpc>
              <a:buNone/>
            </a:pPr>
            <a:r>
              <a:rPr lang="en-US" sz="534" b="1" dirty="0">
                <a:solidFill>
                  <a:srgbClr val="B8BFD1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</a:t>
            </a:r>
            <a:endParaRPr lang="en-US" sz="534" dirty="0"/>
          </a:p>
        </p:txBody>
      </p:sp>
      <p:sp>
        <p:nvSpPr>
          <p:cNvPr id="45" name="Text 43"/>
          <p:cNvSpPr/>
          <p:nvPr/>
        </p:nvSpPr>
        <p:spPr>
          <a:xfrm>
            <a:off x="7505700" y="3457575"/>
            <a:ext cx="79057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647"/>
              </a:lnSpc>
              <a:buNone/>
            </a:pPr>
            <a:r>
              <a:rPr lang="en-US" sz="534" b="1" dirty="0">
                <a:solidFill>
                  <a:srgbClr val="2EC78C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Yes</a:t>
            </a:r>
            <a:endParaRPr lang="en-US" sz="534" dirty="0"/>
          </a:p>
        </p:txBody>
      </p:sp>
      <p:sp>
        <p:nvSpPr>
          <p:cNvPr id="46" name="Text 44"/>
          <p:cNvSpPr/>
          <p:nvPr/>
        </p:nvSpPr>
        <p:spPr>
          <a:xfrm>
            <a:off x="8296275" y="3457575"/>
            <a:ext cx="79057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647"/>
              </a:lnSpc>
              <a:buNone/>
            </a:pPr>
            <a:r>
              <a:rPr lang="en-US" sz="534" b="1" dirty="0">
                <a:solidFill>
                  <a:srgbClr val="B8BFD1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</a:t>
            </a:r>
            <a:endParaRPr lang="en-US" sz="534" dirty="0"/>
          </a:p>
        </p:txBody>
      </p:sp>
      <p:sp>
        <p:nvSpPr>
          <p:cNvPr id="47" name="Text 45"/>
          <p:cNvSpPr/>
          <p:nvPr/>
        </p:nvSpPr>
        <p:spPr>
          <a:xfrm>
            <a:off x="571500" y="4610100"/>
            <a:ext cx="8382000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33"/>
              </a:lnSpc>
              <a:buNone/>
            </a:pPr>
            <a:r>
              <a:rPr lang="en-US" sz="606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direct competitor combines real-time cognitive monitoring with an automated notification firewall. Market growing 13% YoY.</a:t>
            </a:r>
            <a:endParaRPr lang="en-US" sz="606" dirty="0"/>
          </a:p>
        </p:txBody>
      </p:sp>
      <p:pic>
        <p:nvPicPr>
          <p:cNvPr id="49" name="KungFlow Logo Small 10">
            <a:extLst>
              <a:ext uri="{FF2B5EF4-FFF2-40B4-BE49-F238E27FC236}">
                <a16:creationId xmlns:a16="http://schemas.microsoft.com/office/drawing/2014/main" id="{7FA2AEFF-74CC-8474-9372-4E0D280E958C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8648700" y="190500"/>
            <a:ext cx="292100" cy="2921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209550"/>
            <a:ext cx="5238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25"/>
              </a:lnSpc>
              <a:buNone/>
            </a:pPr>
            <a:r>
              <a:rPr lang="en-US" sz="1425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Model &amp; Year 1 Forecast</a:t>
            </a:r>
            <a:endParaRPr lang="en-US" sz="1425" dirty="0"/>
          </a:p>
        </p:txBody>
      </p:sp>
      <p:sp>
        <p:nvSpPr>
          <p:cNvPr id="3" name="Shape 1"/>
          <p:cNvSpPr/>
          <p:nvPr/>
        </p:nvSpPr>
        <p:spPr>
          <a:xfrm>
            <a:off x="571500" y="495300"/>
            <a:ext cx="266700" cy="1905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71500" y="619125"/>
            <a:ext cx="2667000" cy="2095500"/>
          </a:xfrm>
          <a:prstGeom prst="rect">
            <a:avLst/>
          </a:prstGeom>
          <a:solidFill>
            <a:srgbClr val="E8EB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71500" y="619125"/>
            <a:ext cx="2667000" cy="28575"/>
          </a:xfrm>
          <a:prstGeom prst="rect">
            <a:avLst/>
          </a:prstGeom>
          <a:solidFill>
            <a:srgbClr val="2EC7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66750" y="742950"/>
            <a:ext cx="24765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9"/>
              </a:lnSpc>
              <a:buNone/>
            </a:pPr>
            <a:r>
              <a:rPr lang="en-US" sz="784" b="1" dirty="0">
                <a:solidFill>
                  <a:srgbClr val="1A1F2B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Starter</a:t>
            </a:r>
            <a:endParaRPr lang="en-US" sz="784" dirty="0"/>
          </a:p>
        </p:txBody>
      </p:sp>
      <p:sp>
        <p:nvSpPr>
          <p:cNvPr id="7" name="Text 5"/>
          <p:cNvSpPr/>
          <p:nvPr/>
        </p:nvSpPr>
        <p:spPr>
          <a:xfrm>
            <a:off x="666750" y="923925"/>
            <a:ext cx="24765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7"/>
              </a:lnSpc>
              <a:buNone/>
            </a:pPr>
            <a:r>
              <a:rPr lang="en-US" sz="998" b="1" dirty="0">
                <a:solidFill>
                  <a:srgbClr val="2EC78C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$20 / user / mo</a:t>
            </a:r>
            <a:endParaRPr lang="en-US" sz="998" dirty="0"/>
          </a:p>
        </p:txBody>
      </p:sp>
      <p:sp>
        <p:nvSpPr>
          <p:cNvPr id="8" name="Text 6"/>
          <p:cNvSpPr/>
          <p:nvPr/>
        </p:nvSpPr>
        <p:spPr>
          <a:xfrm>
            <a:off x="666750" y="1171575"/>
            <a:ext cx="247650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47"/>
              </a:lnSpc>
              <a:buNone/>
            </a:pPr>
            <a:r>
              <a:rPr lang="en-US" sz="534" dirty="0">
                <a:solidFill>
                  <a:srgbClr val="616B85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 Cognitive load monitor</a:t>
            </a:r>
            <a:endParaRPr lang="en-US" sz="534" dirty="0"/>
          </a:p>
        </p:txBody>
      </p:sp>
      <p:sp>
        <p:nvSpPr>
          <p:cNvPr id="9" name="Text 7"/>
          <p:cNvSpPr/>
          <p:nvPr/>
        </p:nvSpPr>
        <p:spPr>
          <a:xfrm>
            <a:off x="666750" y="1371600"/>
            <a:ext cx="247650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47"/>
              </a:lnSpc>
              <a:buNone/>
            </a:pPr>
            <a:r>
              <a:rPr lang="en-US" sz="534" dirty="0">
                <a:solidFill>
                  <a:srgbClr val="616B85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 Basic notification muting</a:t>
            </a:r>
            <a:endParaRPr lang="en-US" sz="534" dirty="0"/>
          </a:p>
        </p:txBody>
      </p:sp>
      <p:sp>
        <p:nvSpPr>
          <p:cNvPr id="10" name="Text 8"/>
          <p:cNvSpPr/>
          <p:nvPr/>
        </p:nvSpPr>
        <p:spPr>
          <a:xfrm>
            <a:off x="666750" y="1571625"/>
            <a:ext cx="247650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47"/>
              </a:lnSpc>
              <a:buNone/>
            </a:pPr>
            <a:r>
              <a:rPr lang="en-US" sz="534" dirty="0">
                <a:solidFill>
                  <a:srgbClr val="616B85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 Personal focus dashboard</a:t>
            </a:r>
            <a:endParaRPr lang="en-US" sz="534" dirty="0"/>
          </a:p>
        </p:txBody>
      </p:sp>
      <p:sp>
        <p:nvSpPr>
          <p:cNvPr id="11" name="Text 9"/>
          <p:cNvSpPr/>
          <p:nvPr/>
        </p:nvSpPr>
        <p:spPr>
          <a:xfrm>
            <a:off x="666750" y="1771650"/>
            <a:ext cx="247650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47"/>
              </a:lnSpc>
              <a:buNone/>
            </a:pPr>
            <a:r>
              <a:rPr lang="en-US" sz="534" dirty="0">
                <a:solidFill>
                  <a:srgbClr val="616B85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 Focus streak tracking</a:t>
            </a:r>
            <a:endParaRPr lang="en-US" sz="534" dirty="0"/>
          </a:p>
        </p:txBody>
      </p:sp>
      <p:sp>
        <p:nvSpPr>
          <p:cNvPr id="12" name="Shape 10"/>
          <p:cNvSpPr/>
          <p:nvPr/>
        </p:nvSpPr>
        <p:spPr>
          <a:xfrm>
            <a:off x="3333750" y="619125"/>
            <a:ext cx="2667000" cy="2095500"/>
          </a:xfrm>
          <a:prstGeom prst="rect">
            <a:avLst/>
          </a:prstGeom>
          <a:solidFill>
            <a:srgbClr val="1A1F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333750" y="619125"/>
            <a:ext cx="2667000" cy="2857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048250" y="514350"/>
            <a:ext cx="952500" cy="13335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48250" y="542925"/>
            <a:ext cx="952500" cy="71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17"/>
              </a:lnSpc>
              <a:buNone/>
            </a:pPr>
            <a:r>
              <a:rPr lang="en-US" sz="427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Most Popular</a:t>
            </a:r>
            <a:endParaRPr lang="en-US" sz="427" dirty="0"/>
          </a:p>
        </p:txBody>
      </p:sp>
      <p:sp>
        <p:nvSpPr>
          <p:cNvPr id="16" name="Text 14"/>
          <p:cNvSpPr/>
          <p:nvPr/>
        </p:nvSpPr>
        <p:spPr>
          <a:xfrm>
            <a:off x="3429000" y="742950"/>
            <a:ext cx="24765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9"/>
              </a:lnSpc>
              <a:buNone/>
            </a:pPr>
            <a:r>
              <a:rPr lang="en-US" sz="784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</a:t>
            </a:r>
            <a:endParaRPr lang="en-US" sz="784" dirty="0"/>
          </a:p>
        </p:txBody>
      </p:sp>
      <p:sp>
        <p:nvSpPr>
          <p:cNvPr id="17" name="Text 15"/>
          <p:cNvSpPr/>
          <p:nvPr/>
        </p:nvSpPr>
        <p:spPr>
          <a:xfrm>
            <a:off x="3429000" y="923925"/>
            <a:ext cx="24765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7"/>
              </a:lnSpc>
              <a:buNone/>
            </a:pPr>
            <a:r>
              <a:rPr lang="en-US" sz="998" b="1" dirty="0">
                <a:solidFill>
                  <a:srgbClr val="3B82F6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$30 / user / mo</a:t>
            </a:r>
            <a:endParaRPr lang="en-US" sz="998" dirty="0"/>
          </a:p>
        </p:txBody>
      </p:sp>
      <p:sp>
        <p:nvSpPr>
          <p:cNvPr id="18" name="Text 16"/>
          <p:cNvSpPr/>
          <p:nvPr/>
        </p:nvSpPr>
        <p:spPr>
          <a:xfrm>
            <a:off x="3429000" y="1171575"/>
            <a:ext cx="247650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47"/>
              </a:lnSpc>
              <a:buNone/>
            </a:pPr>
            <a:r>
              <a:rPr lang="en-US" sz="534" dirty="0">
                <a:solidFill>
                  <a:srgbClr val="D6DEF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 All Starter features</a:t>
            </a:r>
            <a:endParaRPr lang="en-US" sz="534" dirty="0"/>
          </a:p>
        </p:txBody>
      </p:sp>
      <p:sp>
        <p:nvSpPr>
          <p:cNvPr id="19" name="Text 17"/>
          <p:cNvSpPr/>
          <p:nvPr/>
        </p:nvSpPr>
        <p:spPr>
          <a:xfrm>
            <a:off x="3429000" y="1371600"/>
            <a:ext cx="247650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47"/>
              </a:lnSpc>
              <a:buNone/>
            </a:pPr>
            <a:r>
              <a:rPr lang="en-US" sz="534" dirty="0">
                <a:solidFill>
                  <a:srgbClr val="D6DEF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 Smart notification firewall</a:t>
            </a:r>
            <a:endParaRPr lang="en-US" sz="534" dirty="0"/>
          </a:p>
        </p:txBody>
      </p:sp>
      <p:sp>
        <p:nvSpPr>
          <p:cNvPr id="20" name="Text 18"/>
          <p:cNvSpPr/>
          <p:nvPr/>
        </p:nvSpPr>
        <p:spPr>
          <a:xfrm>
            <a:off x="3429000" y="1571625"/>
            <a:ext cx="247650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47"/>
              </a:lnSpc>
              <a:buNone/>
            </a:pPr>
            <a:r>
              <a:rPr lang="en-US" sz="534" dirty="0">
                <a:solidFill>
                  <a:srgbClr val="D6DEF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 Custom VIP contact rules</a:t>
            </a:r>
            <a:endParaRPr lang="en-US" sz="534" dirty="0"/>
          </a:p>
        </p:txBody>
      </p:sp>
      <p:sp>
        <p:nvSpPr>
          <p:cNvPr id="21" name="Text 19"/>
          <p:cNvSpPr/>
          <p:nvPr/>
        </p:nvSpPr>
        <p:spPr>
          <a:xfrm>
            <a:off x="3429000" y="1771650"/>
            <a:ext cx="247650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47"/>
              </a:lnSpc>
              <a:buNone/>
            </a:pPr>
            <a:r>
              <a:rPr lang="en-US" sz="534" dirty="0">
                <a:solidFill>
                  <a:srgbClr val="D6DEF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 Team analytics dashboard</a:t>
            </a:r>
            <a:endParaRPr lang="en-US" sz="534" dirty="0"/>
          </a:p>
        </p:txBody>
      </p:sp>
      <p:sp>
        <p:nvSpPr>
          <p:cNvPr id="22" name="Shape 20"/>
          <p:cNvSpPr/>
          <p:nvPr/>
        </p:nvSpPr>
        <p:spPr>
          <a:xfrm>
            <a:off x="6096000" y="619125"/>
            <a:ext cx="2667000" cy="2095500"/>
          </a:xfrm>
          <a:prstGeom prst="rect">
            <a:avLst/>
          </a:prstGeom>
          <a:solidFill>
            <a:srgbClr val="E8EB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096000" y="619125"/>
            <a:ext cx="2667000" cy="28575"/>
          </a:xfrm>
          <a:prstGeom prst="rect">
            <a:avLst/>
          </a:prstGeom>
          <a:solidFill>
            <a:srgbClr val="8C59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810500" y="514350"/>
            <a:ext cx="952500" cy="133350"/>
          </a:xfrm>
          <a:prstGeom prst="rect">
            <a:avLst/>
          </a:prstGeom>
          <a:solidFill>
            <a:srgbClr val="8C59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810500" y="542925"/>
            <a:ext cx="952500" cy="71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17"/>
              </a:lnSpc>
              <a:buNone/>
            </a:pPr>
            <a:r>
              <a:rPr lang="en-US" sz="427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Max ROI</a:t>
            </a:r>
            <a:endParaRPr lang="en-US" sz="427" dirty="0"/>
          </a:p>
        </p:txBody>
      </p:sp>
      <p:sp>
        <p:nvSpPr>
          <p:cNvPr id="26" name="Text 24"/>
          <p:cNvSpPr/>
          <p:nvPr/>
        </p:nvSpPr>
        <p:spPr>
          <a:xfrm>
            <a:off x="6191250" y="742950"/>
            <a:ext cx="24765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9"/>
              </a:lnSpc>
              <a:buNone/>
            </a:pPr>
            <a:r>
              <a:rPr lang="en-US" sz="784" b="1" dirty="0">
                <a:solidFill>
                  <a:srgbClr val="1A1F2B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Enterprise</a:t>
            </a:r>
            <a:endParaRPr lang="en-US" sz="784" dirty="0"/>
          </a:p>
        </p:txBody>
      </p:sp>
      <p:sp>
        <p:nvSpPr>
          <p:cNvPr id="27" name="Text 25"/>
          <p:cNvSpPr/>
          <p:nvPr/>
        </p:nvSpPr>
        <p:spPr>
          <a:xfrm>
            <a:off x="6191250" y="923925"/>
            <a:ext cx="24765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7"/>
              </a:lnSpc>
              <a:buNone/>
            </a:pPr>
            <a:r>
              <a:rPr lang="en-US" sz="998" b="1" dirty="0">
                <a:solidFill>
                  <a:srgbClr val="8C59F2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$45+ / user / mo</a:t>
            </a:r>
            <a:endParaRPr lang="en-US" sz="998" dirty="0"/>
          </a:p>
        </p:txBody>
      </p:sp>
      <p:sp>
        <p:nvSpPr>
          <p:cNvPr id="28" name="Text 26"/>
          <p:cNvSpPr/>
          <p:nvPr/>
        </p:nvSpPr>
        <p:spPr>
          <a:xfrm>
            <a:off x="6191250" y="1171575"/>
            <a:ext cx="247650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47"/>
              </a:lnSpc>
              <a:buNone/>
            </a:pPr>
            <a:r>
              <a:rPr lang="en-US" sz="534" dirty="0">
                <a:solidFill>
                  <a:srgbClr val="616B85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 All Business features</a:t>
            </a:r>
            <a:endParaRPr lang="en-US" sz="534" dirty="0"/>
          </a:p>
        </p:txBody>
      </p:sp>
      <p:sp>
        <p:nvSpPr>
          <p:cNvPr id="29" name="Text 27"/>
          <p:cNvSpPr/>
          <p:nvPr/>
        </p:nvSpPr>
        <p:spPr>
          <a:xfrm>
            <a:off x="6191250" y="1371600"/>
            <a:ext cx="247650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47"/>
              </a:lnSpc>
              <a:buNone/>
            </a:pPr>
            <a:r>
              <a:rPr lang="en-US" sz="534" dirty="0">
                <a:solidFill>
                  <a:srgbClr val="616B85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 AI summary of blocked notifs</a:t>
            </a:r>
            <a:endParaRPr lang="en-US" sz="534" dirty="0"/>
          </a:p>
        </p:txBody>
      </p:sp>
      <p:sp>
        <p:nvSpPr>
          <p:cNvPr id="30" name="Text 28"/>
          <p:cNvSpPr/>
          <p:nvPr/>
        </p:nvSpPr>
        <p:spPr>
          <a:xfrm>
            <a:off x="6191250" y="1571625"/>
            <a:ext cx="247650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47"/>
              </a:lnSpc>
              <a:buNone/>
            </a:pPr>
            <a:r>
              <a:rPr lang="en-US" sz="534" dirty="0">
                <a:solidFill>
                  <a:srgbClr val="616B85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 SSO &amp; on-premise option</a:t>
            </a:r>
            <a:endParaRPr lang="en-US" sz="534" dirty="0"/>
          </a:p>
        </p:txBody>
      </p:sp>
      <p:sp>
        <p:nvSpPr>
          <p:cNvPr id="31" name="Text 29"/>
          <p:cNvSpPr/>
          <p:nvPr/>
        </p:nvSpPr>
        <p:spPr>
          <a:xfrm>
            <a:off x="6191250" y="1771650"/>
            <a:ext cx="247650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47"/>
              </a:lnSpc>
              <a:buNone/>
            </a:pPr>
            <a:r>
              <a:rPr lang="en-US" sz="534" dirty="0">
                <a:solidFill>
                  <a:srgbClr val="616B85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 Dedicated success manager</a:t>
            </a:r>
            <a:endParaRPr lang="en-US" sz="534" dirty="0"/>
          </a:p>
        </p:txBody>
      </p:sp>
      <p:sp>
        <p:nvSpPr>
          <p:cNvPr id="32" name="Text 30"/>
          <p:cNvSpPr/>
          <p:nvPr/>
        </p:nvSpPr>
        <p:spPr>
          <a:xfrm>
            <a:off x="571500" y="2867025"/>
            <a:ext cx="8001000" cy="80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04"/>
              </a:lnSpc>
              <a:buNone/>
            </a:pPr>
            <a:r>
              <a:rPr lang="en-US" sz="499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Year 1 MRR Ramp  (target: 10 companies x 250 seats @ NIS 90 / user / mo)</a:t>
            </a:r>
            <a:endParaRPr lang="en-US" sz="499" dirty="0"/>
          </a:p>
        </p:txBody>
      </p:sp>
      <p:sp>
        <p:nvSpPr>
          <p:cNvPr id="33" name="Shape 31"/>
          <p:cNvSpPr/>
          <p:nvPr/>
        </p:nvSpPr>
        <p:spPr>
          <a:xfrm>
            <a:off x="571500" y="3000375"/>
            <a:ext cx="8001000" cy="1143000"/>
          </a:xfrm>
          <a:prstGeom prst="rect">
            <a:avLst/>
          </a:prstGeom>
          <a:solidFill>
            <a:srgbClr val="141A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571500" y="4133850"/>
            <a:ext cx="8001000" cy="9525"/>
          </a:xfrm>
          <a:prstGeom prst="rect">
            <a:avLst/>
          </a:prstGeom>
          <a:solidFill>
            <a:srgbClr val="CCD1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595313" y="4043363"/>
            <a:ext cx="619125" cy="14288"/>
          </a:xfrm>
          <a:prstGeom prst="rect">
            <a:avLst/>
          </a:prstGeom>
          <a:solidFill>
            <a:srgbClr val="3B82F6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95313" y="4067175"/>
            <a:ext cx="619125" cy="6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74"/>
              </a:lnSpc>
              <a:buNone/>
            </a:pPr>
            <a:r>
              <a:rPr lang="en-US" sz="392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M1</a:t>
            </a:r>
            <a:endParaRPr lang="en-US" sz="392" dirty="0"/>
          </a:p>
        </p:txBody>
      </p:sp>
      <p:sp>
        <p:nvSpPr>
          <p:cNvPr id="37" name="Shape 35"/>
          <p:cNvSpPr/>
          <p:nvPr/>
        </p:nvSpPr>
        <p:spPr>
          <a:xfrm>
            <a:off x="1262063" y="4043363"/>
            <a:ext cx="619125" cy="14288"/>
          </a:xfrm>
          <a:prstGeom prst="rect">
            <a:avLst/>
          </a:prstGeom>
          <a:solidFill>
            <a:srgbClr val="3B82F6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1262063" y="4067175"/>
            <a:ext cx="619125" cy="6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74"/>
              </a:lnSpc>
              <a:buNone/>
            </a:pPr>
            <a:r>
              <a:rPr lang="en-US" sz="392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M2</a:t>
            </a:r>
            <a:endParaRPr lang="en-US" sz="392" dirty="0"/>
          </a:p>
        </p:txBody>
      </p:sp>
      <p:sp>
        <p:nvSpPr>
          <p:cNvPr id="39" name="Shape 37"/>
          <p:cNvSpPr/>
          <p:nvPr/>
        </p:nvSpPr>
        <p:spPr>
          <a:xfrm>
            <a:off x="1928813" y="3962400"/>
            <a:ext cx="619125" cy="95250"/>
          </a:xfrm>
          <a:prstGeom prst="rect">
            <a:avLst/>
          </a:prstGeom>
          <a:solidFill>
            <a:srgbClr val="3B82F6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1928813" y="4067175"/>
            <a:ext cx="619125" cy="6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74"/>
              </a:lnSpc>
              <a:buNone/>
            </a:pPr>
            <a:r>
              <a:rPr lang="en-US" sz="392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M3</a:t>
            </a:r>
            <a:endParaRPr lang="en-US" sz="392" dirty="0"/>
          </a:p>
        </p:txBody>
      </p:sp>
      <p:sp>
        <p:nvSpPr>
          <p:cNvPr id="41" name="Text 39"/>
          <p:cNvSpPr/>
          <p:nvPr/>
        </p:nvSpPr>
        <p:spPr>
          <a:xfrm>
            <a:off x="1928813" y="3881438"/>
            <a:ext cx="619125" cy="6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74"/>
              </a:lnSpc>
              <a:buNone/>
            </a:pPr>
            <a:r>
              <a:rPr lang="en-US" sz="392" b="1" dirty="0">
                <a:solidFill>
                  <a:srgbClr val="3B82F6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22.5K</a:t>
            </a:r>
            <a:endParaRPr lang="en-US" sz="392" dirty="0"/>
          </a:p>
        </p:txBody>
      </p:sp>
      <p:sp>
        <p:nvSpPr>
          <p:cNvPr id="42" name="Shape 40"/>
          <p:cNvSpPr/>
          <p:nvPr/>
        </p:nvSpPr>
        <p:spPr>
          <a:xfrm>
            <a:off x="2595563" y="3962400"/>
            <a:ext cx="619125" cy="95250"/>
          </a:xfrm>
          <a:prstGeom prst="rect">
            <a:avLst/>
          </a:prstGeom>
          <a:solidFill>
            <a:srgbClr val="3B82F6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2595563" y="4067175"/>
            <a:ext cx="619125" cy="6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74"/>
              </a:lnSpc>
              <a:buNone/>
            </a:pPr>
            <a:r>
              <a:rPr lang="en-US" sz="392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M4</a:t>
            </a:r>
            <a:endParaRPr lang="en-US" sz="392" dirty="0"/>
          </a:p>
        </p:txBody>
      </p:sp>
      <p:sp>
        <p:nvSpPr>
          <p:cNvPr id="44" name="Text 42"/>
          <p:cNvSpPr/>
          <p:nvPr/>
        </p:nvSpPr>
        <p:spPr>
          <a:xfrm>
            <a:off x="2595563" y="3881438"/>
            <a:ext cx="619125" cy="6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74"/>
              </a:lnSpc>
              <a:buNone/>
            </a:pPr>
            <a:r>
              <a:rPr lang="en-US" sz="392" b="1" dirty="0">
                <a:solidFill>
                  <a:srgbClr val="3B82F6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22.5K</a:t>
            </a:r>
            <a:endParaRPr lang="en-US" sz="392" dirty="0"/>
          </a:p>
        </p:txBody>
      </p:sp>
      <p:sp>
        <p:nvSpPr>
          <p:cNvPr id="45" name="Shape 43"/>
          <p:cNvSpPr/>
          <p:nvPr/>
        </p:nvSpPr>
        <p:spPr>
          <a:xfrm>
            <a:off x="3262313" y="3862387"/>
            <a:ext cx="619125" cy="195263"/>
          </a:xfrm>
          <a:prstGeom prst="rect">
            <a:avLst/>
          </a:prstGeom>
          <a:solidFill>
            <a:srgbClr val="3B82F6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3262313" y="4067175"/>
            <a:ext cx="619125" cy="6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74"/>
              </a:lnSpc>
              <a:buNone/>
            </a:pPr>
            <a:r>
              <a:rPr lang="en-US" sz="392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M5</a:t>
            </a:r>
            <a:endParaRPr lang="en-US" sz="392" dirty="0"/>
          </a:p>
        </p:txBody>
      </p:sp>
      <p:sp>
        <p:nvSpPr>
          <p:cNvPr id="47" name="Text 45"/>
          <p:cNvSpPr/>
          <p:nvPr/>
        </p:nvSpPr>
        <p:spPr>
          <a:xfrm>
            <a:off x="3262313" y="3781425"/>
            <a:ext cx="619125" cy="6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74"/>
              </a:lnSpc>
              <a:buNone/>
            </a:pPr>
            <a:r>
              <a:rPr lang="en-US" sz="392" b="1" dirty="0">
                <a:solidFill>
                  <a:srgbClr val="3B82F6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45K</a:t>
            </a:r>
            <a:endParaRPr lang="en-US" sz="392" dirty="0"/>
          </a:p>
        </p:txBody>
      </p:sp>
      <p:sp>
        <p:nvSpPr>
          <p:cNvPr id="48" name="Shape 46"/>
          <p:cNvSpPr/>
          <p:nvPr/>
        </p:nvSpPr>
        <p:spPr>
          <a:xfrm>
            <a:off x="3929063" y="3862387"/>
            <a:ext cx="619125" cy="195263"/>
          </a:xfrm>
          <a:prstGeom prst="rect">
            <a:avLst/>
          </a:prstGeom>
          <a:solidFill>
            <a:srgbClr val="3B82F6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3929063" y="4067175"/>
            <a:ext cx="619125" cy="6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74"/>
              </a:lnSpc>
              <a:buNone/>
            </a:pPr>
            <a:r>
              <a:rPr lang="en-US" sz="392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M6</a:t>
            </a:r>
            <a:endParaRPr lang="en-US" sz="392" dirty="0"/>
          </a:p>
        </p:txBody>
      </p:sp>
      <p:sp>
        <p:nvSpPr>
          <p:cNvPr id="50" name="Text 48"/>
          <p:cNvSpPr/>
          <p:nvPr/>
        </p:nvSpPr>
        <p:spPr>
          <a:xfrm>
            <a:off x="3929063" y="3781425"/>
            <a:ext cx="619125" cy="6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74"/>
              </a:lnSpc>
              <a:buNone/>
            </a:pPr>
            <a:r>
              <a:rPr lang="en-US" sz="392" b="1" dirty="0">
                <a:solidFill>
                  <a:srgbClr val="3B82F6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45K</a:t>
            </a:r>
            <a:endParaRPr lang="en-US" sz="392" dirty="0"/>
          </a:p>
        </p:txBody>
      </p:sp>
      <p:sp>
        <p:nvSpPr>
          <p:cNvPr id="51" name="Shape 49"/>
          <p:cNvSpPr/>
          <p:nvPr/>
        </p:nvSpPr>
        <p:spPr>
          <a:xfrm>
            <a:off x="4595813" y="3767138"/>
            <a:ext cx="619125" cy="290513"/>
          </a:xfrm>
          <a:prstGeom prst="rect">
            <a:avLst/>
          </a:prstGeom>
          <a:solidFill>
            <a:srgbClr val="3B82F6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4595813" y="4067175"/>
            <a:ext cx="619125" cy="6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74"/>
              </a:lnSpc>
              <a:buNone/>
            </a:pPr>
            <a:r>
              <a:rPr lang="en-US" sz="392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M7</a:t>
            </a:r>
            <a:endParaRPr lang="en-US" sz="392" dirty="0"/>
          </a:p>
        </p:txBody>
      </p:sp>
      <p:sp>
        <p:nvSpPr>
          <p:cNvPr id="53" name="Text 51"/>
          <p:cNvSpPr/>
          <p:nvPr/>
        </p:nvSpPr>
        <p:spPr>
          <a:xfrm>
            <a:off x="4595813" y="3686175"/>
            <a:ext cx="619125" cy="6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74"/>
              </a:lnSpc>
              <a:buNone/>
            </a:pPr>
            <a:r>
              <a:rPr lang="en-US" sz="392" b="1" dirty="0">
                <a:solidFill>
                  <a:srgbClr val="3B82F6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67.5K</a:t>
            </a:r>
            <a:endParaRPr lang="en-US" sz="392" dirty="0"/>
          </a:p>
        </p:txBody>
      </p:sp>
      <p:sp>
        <p:nvSpPr>
          <p:cNvPr id="54" name="Shape 52"/>
          <p:cNvSpPr/>
          <p:nvPr/>
        </p:nvSpPr>
        <p:spPr>
          <a:xfrm>
            <a:off x="5262563" y="3667125"/>
            <a:ext cx="619125" cy="390525"/>
          </a:xfrm>
          <a:prstGeom prst="rect">
            <a:avLst/>
          </a:prstGeom>
          <a:solidFill>
            <a:srgbClr val="3B82F6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5262563" y="4067175"/>
            <a:ext cx="619125" cy="6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74"/>
              </a:lnSpc>
              <a:buNone/>
            </a:pPr>
            <a:r>
              <a:rPr lang="en-US" sz="392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M8</a:t>
            </a:r>
            <a:endParaRPr lang="en-US" sz="392" dirty="0"/>
          </a:p>
        </p:txBody>
      </p:sp>
      <p:sp>
        <p:nvSpPr>
          <p:cNvPr id="56" name="Text 54"/>
          <p:cNvSpPr/>
          <p:nvPr/>
        </p:nvSpPr>
        <p:spPr>
          <a:xfrm>
            <a:off x="5262563" y="3586163"/>
            <a:ext cx="619125" cy="6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74"/>
              </a:lnSpc>
              <a:buNone/>
            </a:pPr>
            <a:r>
              <a:rPr lang="en-US" sz="392" b="1" dirty="0">
                <a:solidFill>
                  <a:srgbClr val="3B82F6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90K</a:t>
            </a:r>
            <a:endParaRPr lang="en-US" sz="392" dirty="0"/>
          </a:p>
        </p:txBody>
      </p:sp>
      <p:sp>
        <p:nvSpPr>
          <p:cNvPr id="57" name="Shape 55"/>
          <p:cNvSpPr/>
          <p:nvPr/>
        </p:nvSpPr>
        <p:spPr>
          <a:xfrm>
            <a:off x="5929313" y="3571875"/>
            <a:ext cx="619125" cy="485775"/>
          </a:xfrm>
          <a:prstGeom prst="rect">
            <a:avLst/>
          </a:prstGeom>
          <a:solidFill>
            <a:srgbClr val="3B82F6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5929313" y="4067175"/>
            <a:ext cx="619125" cy="6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74"/>
              </a:lnSpc>
              <a:buNone/>
            </a:pPr>
            <a:r>
              <a:rPr lang="en-US" sz="392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M9</a:t>
            </a:r>
            <a:endParaRPr lang="en-US" sz="392" dirty="0"/>
          </a:p>
        </p:txBody>
      </p:sp>
      <p:sp>
        <p:nvSpPr>
          <p:cNvPr id="59" name="Text 57"/>
          <p:cNvSpPr/>
          <p:nvPr/>
        </p:nvSpPr>
        <p:spPr>
          <a:xfrm>
            <a:off x="5929313" y="3490913"/>
            <a:ext cx="619125" cy="6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74"/>
              </a:lnSpc>
              <a:buNone/>
            </a:pPr>
            <a:r>
              <a:rPr lang="en-US" sz="392" b="1" dirty="0">
                <a:solidFill>
                  <a:srgbClr val="3B82F6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112.5K</a:t>
            </a:r>
            <a:endParaRPr lang="en-US" sz="392" dirty="0"/>
          </a:p>
        </p:txBody>
      </p:sp>
      <p:sp>
        <p:nvSpPr>
          <p:cNvPr id="60" name="Shape 58"/>
          <p:cNvSpPr/>
          <p:nvPr/>
        </p:nvSpPr>
        <p:spPr>
          <a:xfrm>
            <a:off x="6596063" y="3376613"/>
            <a:ext cx="619125" cy="681038"/>
          </a:xfrm>
          <a:prstGeom prst="rect">
            <a:avLst/>
          </a:prstGeom>
          <a:solidFill>
            <a:srgbClr val="3B82F6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6596063" y="4067175"/>
            <a:ext cx="619125" cy="6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74"/>
              </a:lnSpc>
              <a:buNone/>
            </a:pPr>
            <a:r>
              <a:rPr lang="en-US" sz="392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M10</a:t>
            </a:r>
            <a:endParaRPr lang="en-US" sz="392" dirty="0"/>
          </a:p>
        </p:txBody>
      </p:sp>
      <p:sp>
        <p:nvSpPr>
          <p:cNvPr id="62" name="Text 60"/>
          <p:cNvSpPr/>
          <p:nvPr/>
        </p:nvSpPr>
        <p:spPr>
          <a:xfrm>
            <a:off x="6596063" y="3295650"/>
            <a:ext cx="619125" cy="6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74"/>
              </a:lnSpc>
              <a:buNone/>
            </a:pPr>
            <a:r>
              <a:rPr lang="en-US" sz="392" b="1" dirty="0">
                <a:solidFill>
                  <a:srgbClr val="3B82F6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157.5K</a:t>
            </a:r>
            <a:endParaRPr lang="en-US" sz="392" dirty="0"/>
          </a:p>
        </p:txBody>
      </p:sp>
      <p:sp>
        <p:nvSpPr>
          <p:cNvPr id="63" name="Shape 61"/>
          <p:cNvSpPr/>
          <p:nvPr/>
        </p:nvSpPr>
        <p:spPr>
          <a:xfrm>
            <a:off x="7262813" y="3181350"/>
            <a:ext cx="619125" cy="876300"/>
          </a:xfrm>
          <a:prstGeom prst="rect">
            <a:avLst/>
          </a:prstGeom>
          <a:solidFill>
            <a:srgbClr val="3B82F6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7262813" y="4067175"/>
            <a:ext cx="619125" cy="6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74"/>
              </a:lnSpc>
              <a:buNone/>
            </a:pPr>
            <a:r>
              <a:rPr lang="en-US" sz="392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M11</a:t>
            </a:r>
            <a:endParaRPr lang="en-US" sz="392" dirty="0"/>
          </a:p>
        </p:txBody>
      </p:sp>
      <p:sp>
        <p:nvSpPr>
          <p:cNvPr id="65" name="Text 63"/>
          <p:cNvSpPr/>
          <p:nvPr/>
        </p:nvSpPr>
        <p:spPr>
          <a:xfrm>
            <a:off x="7262813" y="3100388"/>
            <a:ext cx="619125" cy="6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74"/>
              </a:lnSpc>
              <a:buNone/>
            </a:pPr>
            <a:r>
              <a:rPr lang="en-US" sz="392" b="1" dirty="0">
                <a:solidFill>
                  <a:srgbClr val="3B82F6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202.5K</a:t>
            </a:r>
            <a:endParaRPr lang="en-US" sz="392" dirty="0"/>
          </a:p>
        </p:txBody>
      </p:sp>
      <p:sp>
        <p:nvSpPr>
          <p:cNvPr id="66" name="Shape 64"/>
          <p:cNvSpPr/>
          <p:nvPr/>
        </p:nvSpPr>
        <p:spPr>
          <a:xfrm>
            <a:off x="7929563" y="3086100"/>
            <a:ext cx="619125" cy="971550"/>
          </a:xfrm>
          <a:prstGeom prst="rect">
            <a:avLst/>
          </a:prstGeom>
          <a:solidFill>
            <a:srgbClr val="2EC7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7929563" y="4067175"/>
            <a:ext cx="619125" cy="6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74"/>
              </a:lnSpc>
              <a:buNone/>
            </a:pPr>
            <a:r>
              <a:rPr lang="en-US" sz="392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M12</a:t>
            </a:r>
            <a:endParaRPr lang="en-US" sz="392" dirty="0"/>
          </a:p>
        </p:txBody>
      </p:sp>
      <p:sp>
        <p:nvSpPr>
          <p:cNvPr id="68" name="Text 66"/>
          <p:cNvSpPr/>
          <p:nvPr/>
        </p:nvSpPr>
        <p:spPr>
          <a:xfrm>
            <a:off x="7929563" y="3005138"/>
            <a:ext cx="619125" cy="6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74"/>
              </a:lnSpc>
              <a:buNone/>
            </a:pPr>
            <a:r>
              <a:rPr lang="en-US" sz="392" b="1" dirty="0">
                <a:solidFill>
                  <a:srgbClr val="2EC78C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225K</a:t>
            </a:r>
            <a:endParaRPr lang="en-US" sz="392" dirty="0"/>
          </a:p>
        </p:txBody>
      </p:sp>
      <p:sp>
        <p:nvSpPr>
          <p:cNvPr id="69" name="Text 67"/>
          <p:cNvSpPr/>
          <p:nvPr/>
        </p:nvSpPr>
        <p:spPr>
          <a:xfrm>
            <a:off x="571500" y="4219575"/>
            <a:ext cx="800100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47"/>
              </a:lnSpc>
              <a:buNone/>
            </a:pPr>
            <a:r>
              <a:rPr lang="en-US" sz="534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Break-even: Month 12   |   MRR target: NIS 225,000   |   LTV:CAC = 11.2:1   |   Seed ask: NIS 2.3M</a:t>
            </a:r>
            <a:endParaRPr lang="en-US" sz="534" dirty="0"/>
          </a:p>
        </p:txBody>
      </p:sp>
      <p:pic>
        <p:nvPicPr>
          <p:cNvPr id="71" name="KungFlow Logo Small 11">
            <a:extLst>
              <a:ext uri="{FF2B5EF4-FFF2-40B4-BE49-F238E27FC236}">
                <a16:creationId xmlns:a16="http://schemas.microsoft.com/office/drawing/2014/main" id="{F6B38469-75A7-0B99-4926-D4D96A5AEC60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8648700" y="190500"/>
            <a:ext cx="292100" cy="2921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8575" cy="51435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71500" y="285750"/>
            <a:ext cx="4762500" cy="290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6"/>
              </a:lnSpc>
              <a:buNone/>
            </a:pPr>
            <a:r>
              <a:rPr lang="en-US" sz="1781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Roadmap &amp; Funding Ask</a:t>
            </a:r>
            <a:endParaRPr lang="en-US" sz="1781" dirty="0"/>
          </a:p>
        </p:txBody>
      </p:sp>
      <p:sp>
        <p:nvSpPr>
          <p:cNvPr id="4" name="Shape 2"/>
          <p:cNvSpPr/>
          <p:nvPr/>
        </p:nvSpPr>
        <p:spPr>
          <a:xfrm>
            <a:off x="571500" y="666750"/>
            <a:ext cx="266700" cy="1905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71538" y="1504950"/>
            <a:ext cx="7400925" cy="19050"/>
          </a:xfrm>
          <a:prstGeom prst="rect">
            <a:avLst/>
          </a:prstGeom>
          <a:solidFill>
            <a:srgbClr val="333D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343025" y="1428750"/>
            <a:ext cx="171450" cy="17145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71500" y="1743075"/>
            <a:ext cx="1914525" cy="1428750"/>
          </a:xfrm>
          <a:prstGeom prst="rect">
            <a:avLst/>
          </a:prstGeom>
          <a:solidFill>
            <a:srgbClr val="1F24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7700" y="1819275"/>
            <a:ext cx="1762125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60"/>
              </a:lnSpc>
              <a:buNone/>
            </a:pPr>
            <a:r>
              <a:rPr lang="en-US" sz="463" b="1" dirty="0">
                <a:solidFill>
                  <a:srgbClr val="3B82F6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Q1 </a:t>
            </a:r>
            <a:r>
              <a:rPr lang="he-IL" sz="463" b="1" dirty="0">
                <a:solidFill>
                  <a:srgbClr val="3B82F6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2027</a:t>
            </a:r>
            <a:endParaRPr lang="en-US" sz="463" dirty="0"/>
          </a:p>
        </p:txBody>
      </p:sp>
      <p:sp>
        <p:nvSpPr>
          <p:cNvPr id="9" name="Text 7"/>
          <p:cNvSpPr/>
          <p:nvPr/>
        </p:nvSpPr>
        <p:spPr>
          <a:xfrm>
            <a:off x="647700" y="1905000"/>
            <a:ext cx="1762125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60"/>
              </a:lnSpc>
              <a:buNone/>
            </a:pPr>
            <a:r>
              <a:rPr lang="en-US" sz="463" dirty="0">
                <a:solidFill>
                  <a:srgbClr val="6B7891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Months 1-3</a:t>
            </a:r>
            <a:endParaRPr lang="en-US" sz="463" dirty="0"/>
          </a:p>
        </p:txBody>
      </p:sp>
      <p:sp>
        <p:nvSpPr>
          <p:cNvPr id="10" name="Text 8"/>
          <p:cNvSpPr/>
          <p:nvPr/>
        </p:nvSpPr>
        <p:spPr>
          <a:xfrm>
            <a:off x="647700" y="2038350"/>
            <a:ext cx="176212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62"/>
              </a:lnSpc>
              <a:buNone/>
            </a:pPr>
            <a:r>
              <a:rPr lang="en-US" sz="713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Seed &amp; Setup</a:t>
            </a:r>
            <a:endParaRPr lang="en-US" sz="713" dirty="0"/>
          </a:p>
        </p:txBody>
      </p:sp>
      <p:sp>
        <p:nvSpPr>
          <p:cNvPr id="11" name="Text 9"/>
          <p:cNvSpPr/>
          <p:nvPr/>
        </p:nvSpPr>
        <p:spPr>
          <a:xfrm>
            <a:off x="647700" y="2238375"/>
            <a:ext cx="176212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47"/>
              </a:lnSpc>
              <a:buNone/>
            </a:pPr>
            <a:r>
              <a:rPr lang="en-US" sz="534" dirty="0">
                <a:solidFill>
                  <a:srgbClr val="D6DEF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 Close NIS 2.3M seed round</a:t>
            </a:r>
            <a:endParaRPr lang="en-US" sz="534" dirty="0"/>
          </a:p>
        </p:txBody>
      </p:sp>
      <p:sp>
        <p:nvSpPr>
          <p:cNvPr id="12" name="Text 10"/>
          <p:cNvSpPr/>
          <p:nvPr/>
        </p:nvSpPr>
        <p:spPr>
          <a:xfrm>
            <a:off x="647700" y="2447925"/>
            <a:ext cx="176212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47"/>
              </a:lnSpc>
              <a:buNone/>
            </a:pPr>
            <a:r>
              <a:rPr lang="en-US" sz="534" dirty="0">
                <a:solidFill>
                  <a:srgbClr val="D6DEF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 Hire 2 senior engineers</a:t>
            </a:r>
            <a:endParaRPr lang="en-US" sz="534" dirty="0"/>
          </a:p>
        </p:txBody>
      </p:sp>
      <p:sp>
        <p:nvSpPr>
          <p:cNvPr id="13" name="Text 11"/>
          <p:cNvSpPr/>
          <p:nvPr/>
        </p:nvSpPr>
        <p:spPr>
          <a:xfrm>
            <a:off x="647700" y="2657475"/>
            <a:ext cx="176212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47"/>
              </a:lnSpc>
              <a:buNone/>
            </a:pPr>
            <a:r>
              <a:rPr lang="en-US" sz="534" dirty="0">
                <a:solidFill>
                  <a:srgbClr val="D6DEF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 CI/CD &amp; staging environment</a:t>
            </a:r>
            <a:endParaRPr lang="en-US" sz="534" dirty="0"/>
          </a:p>
        </p:txBody>
      </p:sp>
      <p:sp>
        <p:nvSpPr>
          <p:cNvPr id="14" name="Shape 12"/>
          <p:cNvSpPr/>
          <p:nvPr/>
        </p:nvSpPr>
        <p:spPr>
          <a:xfrm>
            <a:off x="3371850" y="1428750"/>
            <a:ext cx="171450" cy="17145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600325" y="1743075"/>
            <a:ext cx="1914525" cy="1428750"/>
          </a:xfrm>
          <a:prstGeom prst="rect">
            <a:avLst/>
          </a:prstGeom>
          <a:solidFill>
            <a:srgbClr val="1F24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676525" y="1819275"/>
            <a:ext cx="1762125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60"/>
              </a:lnSpc>
              <a:buNone/>
            </a:pPr>
            <a:r>
              <a:rPr lang="en-US" sz="463" b="1" dirty="0">
                <a:solidFill>
                  <a:srgbClr val="3B82F6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Q2 </a:t>
            </a:r>
            <a:r>
              <a:rPr lang="he-IL" sz="463" b="1" dirty="0">
                <a:solidFill>
                  <a:srgbClr val="3B82F6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2027</a:t>
            </a:r>
            <a:endParaRPr lang="en-US" sz="463" dirty="0"/>
          </a:p>
        </p:txBody>
      </p:sp>
      <p:sp>
        <p:nvSpPr>
          <p:cNvPr id="17" name="Text 15"/>
          <p:cNvSpPr/>
          <p:nvPr/>
        </p:nvSpPr>
        <p:spPr>
          <a:xfrm>
            <a:off x="2676525" y="1905000"/>
            <a:ext cx="1762125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60"/>
              </a:lnSpc>
              <a:buNone/>
            </a:pPr>
            <a:r>
              <a:rPr lang="en-US" sz="463" dirty="0">
                <a:solidFill>
                  <a:srgbClr val="6B7891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Months 4-6</a:t>
            </a:r>
            <a:endParaRPr lang="en-US" sz="463" dirty="0"/>
          </a:p>
        </p:txBody>
      </p:sp>
      <p:sp>
        <p:nvSpPr>
          <p:cNvPr id="18" name="Text 16"/>
          <p:cNvSpPr/>
          <p:nvPr/>
        </p:nvSpPr>
        <p:spPr>
          <a:xfrm>
            <a:off x="2676525" y="2038350"/>
            <a:ext cx="176212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62"/>
              </a:lnSpc>
              <a:buNone/>
            </a:pPr>
            <a:r>
              <a:rPr lang="en-US" sz="713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Beta Launch</a:t>
            </a:r>
            <a:endParaRPr lang="en-US" sz="713" dirty="0"/>
          </a:p>
        </p:txBody>
      </p:sp>
      <p:sp>
        <p:nvSpPr>
          <p:cNvPr id="19" name="Text 17"/>
          <p:cNvSpPr/>
          <p:nvPr/>
        </p:nvSpPr>
        <p:spPr>
          <a:xfrm>
            <a:off x="2676525" y="2238375"/>
            <a:ext cx="176212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47"/>
              </a:lnSpc>
              <a:buNone/>
            </a:pPr>
            <a:r>
              <a:rPr lang="en-US" sz="534" dirty="0">
                <a:solidFill>
                  <a:srgbClr val="D6DEF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+ 5 pilot companies in Israel</a:t>
            </a:r>
            <a:endParaRPr lang="en-US" sz="534" dirty="0"/>
          </a:p>
        </p:txBody>
      </p:sp>
      <p:sp>
        <p:nvSpPr>
          <p:cNvPr id="20" name="Text 18"/>
          <p:cNvSpPr/>
          <p:nvPr/>
        </p:nvSpPr>
        <p:spPr>
          <a:xfrm>
            <a:off x="2676525" y="2447925"/>
            <a:ext cx="176212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47"/>
              </a:lnSpc>
              <a:buNone/>
            </a:pPr>
            <a:r>
              <a:rPr lang="en-US" sz="534" dirty="0">
                <a:solidFill>
                  <a:srgbClr val="D6DEF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 Weekly feedback iterations</a:t>
            </a:r>
            <a:endParaRPr lang="en-US" sz="534" dirty="0"/>
          </a:p>
        </p:txBody>
      </p:sp>
      <p:sp>
        <p:nvSpPr>
          <p:cNvPr id="21" name="Text 19"/>
          <p:cNvSpPr/>
          <p:nvPr/>
        </p:nvSpPr>
        <p:spPr>
          <a:xfrm>
            <a:off x="2676525" y="2657475"/>
            <a:ext cx="176212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47"/>
              </a:lnSpc>
              <a:buNone/>
            </a:pPr>
            <a:r>
              <a:rPr lang="en-US" sz="534" dirty="0">
                <a:solidFill>
                  <a:srgbClr val="D6DEF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 Firewall custom rules v1</a:t>
            </a:r>
            <a:endParaRPr lang="en-US" sz="534" dirty="0"/>
          </a:p>
        </p:txBody>
      </p:sp>
      <p:sp>
        <p:nvSpPr>
          <p:cNvPr id="22" name="Shape 20"/>
          <p:cNvSpPr/>
          <p:nvPr/>
        </p:nvSpPr>
        <p:spPr>
          <a:xfrm>
            <a:off x="5400675" y="1428750"/>
            <a:ext cx="171450" cy="171450"/>
          </a:xfrm>
          <a:prstGeom prst="ellipse">
            <a:avLst/>
          </a:prstGeom>
          <a:solidFill>
            <a:srgbClr val="ED99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629150" y="1743075"/>
            <a:ext cx="1914525" cy="1428750"/>
          </a:xfrm>
          <a:prstGeom prst="rect">
            <a:avLst/>
          </a:prstGeom>
          <a:solidFill>
            <a:srgbClr val="1F24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705350" y="1819275"/>
            <a:ext cx="1762125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60"/>
              </a:lnSpc>
              <a:buNone/>
            </a:pPr>
            <a:r>
              <a:rPr lang="en-US" sz="463" b="1" dirty="0">
                <a:solidFill>
                  <a:srgbClr val="ED9921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Q3 </a:t>
            </a:r>
            <a:r>
              <a:rPr lang="he-IL" sz="463" b="1" dirty="0">
                <a:solidFill>
                  <a:srgbClr val="ED9921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2027</a:t>
            </a:r>
            <a:endParaRPr lang="en-US" sz="463" dirty="0"/>
          </a:p>
        </p:txBody>
      </p:sp>
      <p:sp>
        <p:nvSpPr>
          <p:cNvPr id="25" name="Text 23"/>
          <p:cNvSpPr/>
          <p:nvPr/>
        </p:nvSpPr>
        <p:spPr>
          <a:xfrm>
            <a:off x="4705350" y="1905000"/>
            <a:ext cx="1762125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60"/>
              </a:lnSpc>
              <a:buNone/>
            </a:pPr>
            <a:r>
              <a:rPr lang="en-US" sz="463" dirty="0">
                <a:solidFill>
                  <a:srgbClr val="6B7891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Months 7-9</a:t>
            </a:r>
            <a:endParaRPr lang="en-US" sz="463" dirty="0"/>
          </a:p>
        </p:txBody>
      </p:sp>
      <p:sp>
        <p:nvSpPr>
          <p:cNvPr id="26" name="Text 24"/>
          <p:cNvSpPr/>
          <p:nvPr/>
        </p:nvSpPr>
        <p:spPr>
          <a:xfrm>
            <a:off x="4705350" y="2038350"/>
            <a:ext cx="176212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62"/>
              </a:lnSpc>
              <a:buNone/>
            </a:pPr>
            <a:r>
              <a:rPr lang="en-US" sz="713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 Ramp</a:t>
            </a:r>
            <a:endParaRPr lang="en-US" sz="713" dirty="0"/>
          </a:p>
        </p:txBody>
      </p:sp>
      <p:sp>
        <p:nvSpPr>
          <p:cNvPr id="27" name="Text 25"/>
          <p:cNvSpPr/>
          <p:nvPr/>
        </p:nvSpPr>
        <p:spPr>
          <a:xfrm>
            <a:off x="4705350" y="2238375"/>
            <a:ext cx="176212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47"/>
              </a:lnSpc>
              <a:buNone/>
            </a:pPr>
            <a:r>
              <a:rPr lang="en-US" sz="534" dirty="0">
                <a:solidFill>
                  <a:srgbClr val="D6DEF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 First 3 paying customers</a:t>
            </a:r>
            <a:endParaRPr lang="en-US" sz="534" dirty="0"/>
          </a:p>
        </p:txBody>
      </p:sp>
      <p:sp>
        <p:nvSpPr>
          <p:cNvPr id="28" name="Text 26"/>
          <p:cNvSpPr/>
          <p:nvPr/>
        </p:nvSpPr>
        <p:spPr>
          <a:xfrm>
            <a:off x="4705350" y="2447925"/>
            <a:ext cx="176212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47"/>
              </a:lnSpc>
              <a:buNone/>
            </a:pPr>
            <a:r>
              <a:rPr lang="en-US" sz="534" dirty="0">
                <a:solidFill>
                  <a:srgbClr val="D6DEF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 Sales playbook locked</a:t>
            </a:r>
            <a:endParaRPr lang="en-US" sz="534" dirty="0"/>
          </a:p>
        </p:txBody>
      </p:sp>
      <p:sp>
        <p:nvSpPr>
          <p:cNvPr id="29" name="Text 27"/>
          <p:cNvSpPr/>
          <p:nvPr/>
        </p:nvSpPr>
        <p:spPr>
          <a:xfrm>
            <a:off x="4705350" y="2657475"/>
            <a:ext cx="176212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47"/>
              </a:lnSpc>
              <a:buNone/>
            </a:pPr>
            <a:r>
              <a:rPr lang="en-US" sz="534" dirty="0">
                <a:solidFill>
                  <a:srgbClr val="D6DEF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 NIS 90/user pricing live</a:t>
            </a:r>
            <a:endParaRPr lang="en-US" sz="534" dirty="0"/>
          </a:p>
        </p:txBody>
      </p:sp>
      <p:sp>
        <p:nvSpPr>
          <p:cNvPr id="30" name="Shape 28"/>
          <p:cNvSpPr/>
          <p:nvPr/>
        </p:nvSpPr>
        <p:spPr>
          <a:xfrm>
            <a:off x="7429500" y="1428750"/>
            <a:ext cx="171450" cy="171450"/>
          </a:xfrm>
          <a:prstGeom prst="ellipse">
            <a:avLst/>
          </a:prstGeom>
          <a:solidFill>
            <a:srgbClr val="2EC7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657975" y="1743075"/>
            <a:ext cx="1914525" cy="1428750"/>
          </a:xfrm>
          <a:prstGeom prst="rect">
            <a:avLst/>
          </a:prstGeom>
          <a:solidFill>
            <a:srgbClr val="1F24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734175" y="1819275"/>
            <a:ext cx="1762125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60"/>
              </a:lnSpc>
              <a:buNone/>
            </a:pPr>
            <a:r>
              <a:rPr lang="en-US" sz="463" b="1" dirty="0">
                <a:solidFill>
                  <a:srgbClr val="2EC78C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Q4 </a:t>
            </a:r>
            <a:r>
              <a:rPr lang="he-IL" sz="463" b="1" dirty="0">
                <a:solidFill>
                  <a:srgbClr val="2EC78C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2027</a:t>
            </a:r>
            <a:endParaRPr lang="en-US" sz="463" dirty="0"/>
          </a:p>
        </p:txBody>
      </p:sp>
      <p:sp>
        <p:nvSpPr>
          <p:cNvPr id="33" name="Text 31"/>
          <p:cNvSpPr/>
          <p:nvPr/>
        </p:nvSpPr>
        <p:spPr>
          <a:xfrm>
            <a:off x="6734175" y="1905000"/>
            <a:ext cx="1762125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60"/>
              </a:lnSpc>
              <a:buNone/>
            </a:pPr>
            <a:r>
              <a:rPr lang="en-US" sz="463" dirty="0">
                <a:solidFill>
                  <a:srgbClr val="6B7891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Months 10-12</a:t>
            </a:r>
            <a:endParaRPr lang="en-US" sz="463" dirty="0"/>
          </a:p>
        </p:txBody>
      </p:sp>
      <p:sp>
        <p:nvSpPr>
          <p:cNvPr id="34" name="Text 32"/>
          <p:cNvSpPr/>
          <p:nvPr/>
        </p:nvSpPr>
        <p:spPr>
          <a:xfrm>
            <a:off x="6734175" y="2038350"/>
            <a:ext cx="176212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62"/>
              </a:lnSpc>
              <a:buNone/>
            </a:pPr>
            <a:r>
              <a:rPr lang="en-US" sz="713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Break-Even</a:t>
            </a:r>
            <a:endParaRPr lang="en-US" sz="713" dirty="0"/>
          </a:p>
        </p:txBody>
      </p:sp>
      <p:sp>
        <p:nvSpPr>
          <p:cNvPr id="35" name="Text 33"/>
          <p:cNvSpPr/>
          <p:nvPr/>
        </p:nvSpPr>
        <p:spPr>
          <a:xfrm>
            <a:off x="6734175" y="2238375"/>
            <a:ext cx="176212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47"/>
              </a:lnSpc>
              <a:buNone/>
            </a:pPr>
            <a:r>
              <a:rPr lang="en-US" sz="534" dirty="0">
                <a:solidFill>
                  <a:srgbClr val="D6DEF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+ 10 companies x 250 seats</a:t>
            </a:r>
            <a:endParaRPr lang="en-US" sz="534" dirty="0"/>
          </a:p>
        </p:txBody>
      </p:sp>
      <p:sp>
        <p:nvSpPr>
          <p:cNvPr id="36" name="Text 34"/>
          <p:cNvSpPr/>
          <p:nvPr/>
        </p:nvSpPr>
        <p:spPr>
          <a:xfrm>
            <a:off x="6734175" y="2447925"/>
            <a:ext cx="176212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47"/>
              </a:lnSpc>
              <a:buNone/>
            </a:pPr>
            <a:r>
              <a:rPr lang="en-US" sz="534" dirty="0">
                <a:solidFill>
                  <a:srgbClr val="D6DEF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 NIS 225K MRR achieved</a:t>
            </a:r>
            <a:endParaRPr lang="en-US" sz="534" dirty="0"/>
          </a:p>
        </p:txBody>
      </p:sp>
      <p:sp>
        <p:nvSpPr>
          <p:cNvPr id="37" name="Text 35"/>
          <p:cNvSpPr/>
          <p:nvPr/>
        </p:nvSpPr>
        <p:spPr>
          <a:xfrm>
            <a:off x="6734175" y="2657475"/>
            <a:ext cx="176212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47"/>
              </a:lnSpc>
              <a:buNone/>
            </a:pPr>
            <a:r>
              <a:rPr lang="en-US" sz="534" dirty="0">
                <a:solidFill>
                  <a:srgbClr val="D6DEF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 Series A deck ready</a:t>
            </a:r>
            <a:endParaRPr lang="en-US" sz="534" dirty="0"/>
          </a:p>
        </p:txBody>
      </p:sp>
      <p:sp>
        <p:nvSpPr>
          <p:cNvPr id="38" name="Shape 36"/>
          <p:cNvSpPr/>
          <p:nvPr/>
        </p:nvSpPr>
        <p:spPr>
          <a:xfrm>
            <a:off x="571500" y="3429000"/>
            <a:ext cx="8001000" cy="1047750"/>
          </a:xfrm>
          <a:prstGeom prst="rect">
            <a:avLst/>
          </a:prstGeom>
          <a:solidFill>
            <a:srgbClr val="1F24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571500" y="3429000"/>
            <a:ext cx="28575" cy="1047750"/>
          </a:xfrm>
          <a:prstGeom prst="rect">
            <a:avLst/>
          </a:prstGeom>
          <a:solidFill>
            <a:srgbClr val="2EC7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714375" y="3533775"/>
            <a:ext cx="4286250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1"/>
              </a:lnSpc>
              <a:buNone/>
            </a:pPr>
            <a:r>
              <a:rPr lang="en-US" sz="926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Seed Round  --  NIS 2,300,000</a:t>
            </a:r>
            <a:endParaRPr lang="en-US" sz="926" dirty="0"/>
          </a:p>
        </p:txBody>
      </p:sp>
      <p:sp>
        <p:nvSpPr>
          <p:cNvPr id="41" name="Text 39"/>
          <p:cNvSpPr/>
          <p:nvPr/>
        </p:nvSpPr>
        <p:spPr>
          <a:xfrm>
            <a:off x="714375" y="3790950"/>
            <a:ext cx="1809750" cy="80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04"/>
              </a:lnSpc>
              <a:buNone/>
            </a:pPr>
            <a:r>
              <a:rPr lang="en-US" sz="499" dirty="0">
                <a:solidFill>
                  <a:srgbClr val="D6DEF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R&amp;D -- 2 engineers + infra</a:t>
            </a:r>
            <a:endParaRPr lang="en-US" sz="499" dirty="0"/>
          </a:p>
        </p:txBody>
      </p:sp>
      <p:sp>
        <p:nvSpPr>
          <p:cNvPr id="42" name="Text 40"/>
          <p:cNvSpPr/>
          <p:nvPr/>
        </p:nvSpPr>
        <p:spPr>
          <a:xfrm>
            <a:off x="714375" y="3943350"/>
            <a:ext cx="1809750" cy="90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90"/>
              </a:lnSpc>
              <a:buNone/>
            </a:pPr>
            <a:r>
              <a:rPr lang="en-US" sz="570" b="1" dirty="0">
                <a:solidFill>
                  <a:srgbClr val="2EC78C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NIS 1,200,000</a:t>
            </a:r>
            <a:endParaRPr lang="en-US" sz="570" dirty="0"/>
          </a:p>
        </p:txBody>
      </p:sp>
      <p:sp>
        <p:nvSpPr>
          <p:cNvPr id="43" name="Text 41"/>
          <p:cNvSpPr/>
          <p:nvPr/>
        </p:nvSpPr>
        <p:spPr>
          <a:xfrm>
            <a:off x="2619375" y="3790950"/>
            <a:ext cx="1809750" cy="80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04"/>
              </a:lnSpc>
              <a:buNone/>
            </a:pPr>
            <a:r>
              <a:rPr lang="en-US" sz="499" dirty="0">
                <a:solidFill>
                  <a:srgbClr val="D6DEF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Sales &amp; Marketing</a:t>
            </a:r>
            <a:endParaRPr lang="en-US" sz="499" dirty="0"/>
          </a:p>
        </p:txBody>
      </p:sp>
      <p:sp>
        <p:nvSpPr>
          <p:cNvPr id="44" name="Text 42"/>
          <p:cNvSpPr/>
          <p:nvPr/>
        </p:nvSpPr>
        <p:spPr>
          <a:xfrm>
            <a:off x="2619375" y="3943350"/>
            <a:ext cx="1809750" cy="90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90"/>
              </a:lnSpc>
              <a:buNone/>
            </a:pPr>
            <a:r>
              <a:rPr lang="en-US" sz="570" b="1" dirty="0">
                <a:solidFill>
                  <a:srgbClr val="2EC78C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NIS 600,000</a:t>
            </a:r>
            <a:endParaRPr lang="en-US" sz="570" dirty="0"/>
          </a:p>
        </p:txBody>
      </p:sp>
      <p:sp>
        <p:nvSpPr>
          <p:cNvPr id="45" name="Text 43"/>
          <p:cNvSpPr/>
          <p:nvPr/>
        </p:nvSpPr>
        <p:spPr>
          <a:xfrm>
            <a:off x="4524375" y="3790950"/>
            <a:ext cx="1809750" cy="80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04"/>
              </a:lnSpc>
              <a:buNone/>
            </a:pPr>
            <a:r>
              <a:rPr lang="en-US" sz="499" dirty="0">
                <a:solidFill>
                  <a:srgbClr val="D6DEF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Operations &amp; legal</a:t>
            </a:r>
            <a:endParaRPr lang="en-US" sz="499" dirty="0"/>
          </a:p>
        </p:txBody>
      </p:sp>
      <p:sp>
        <p:nvSpPr>
          <p:cNvPr id="46" name="Text 44"/>
          <p:cNvSpPr/>
          <p:nvPr/>
        </p:nvSpPr>
        <p:spPr>
          <a:xfrm>
            <a:off x="4524375" y="3943350"/>
            <a:ext cx="1809750" cy="90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90"/>
              </a:lnSpc>
              <a:buNone/>
            </a:pPr>
            <a:r>
              <a:rPr lang="en-US" sz="570" b="1" dirty="0">
                <a:solidFill>
                  <a:srgbClr val="2EC78C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NIS 300,000</a:t>
            </a:r>
            <a:endParaRPr lang="en-US" sz="570" dirty="0"/>
          </a:p>
        </p:txBody>
      </p:sp>
      <p:sp>
        <p:nvSpPr>
          <p:cNvPr id="47" name="Text 45"/>
          <p:cNvSpPr/>
          <p:nvPr/>
        </p:nvSpPr>
        <p:spPr>
          <a:xfrm>
            <a:off x="6429375" y="3790950"/>
            <a:ext cx="1809750" cy="80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04"/>
              </a:lnSpc>
              <a:buNone/>
            </a:pPr>
            <a:r>
              <a:rPr lang="en-US" sz="499" dirty="0">
                <a:solidFill>
                  <a:srgbClr val="D6DEF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Buffer -- 6-month runway</a:t>
            </a:r>
            <a:endParaRPr lang="en-US" sz="499" dirty="0"/>
          </a:p>
        </p:txBody>
      </p:sp>
      <p:sp>
        <p:nvSpPr>
          <p:cNvPr id="48" name="Text 46"/>
          <p:cNvSpPr/>
          <p:nvPr/>
        </p:nvSpPr>
        <p:spPr>
          <a:xfrm>
            <a:off x="6429375" y="3943350"/>
            <a:ext cx="1809750" cy="90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90"/>
              </a:lnSpc>
              <a:buNone/>
            </a:pPr>
            <a:r>
              <a:rPr lang="en-US" sz="570" b="1" dirty="0">
                <a:solidFill>
                  <a:srgbClr val="2EC78C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NIS 200,000</a:t>
            </a:r>
            <a:endParaRPr lang="en-US" sz="570" dirty="0"/>
          </a:p>
        </p:txBody>
      </p:sp>
      <p:sp>
        <p:nvSpPr>
          <p:cNvPr id="49" name="Text 47"/>
          <p:cNvSpPr/>
          <p:nvPr/>
        </p:nvSpPr>
        <p:spPr>
          <a:xfrm>
            <a:off x="714375" y="4191000"/>
            <a:ext cx="7620000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33"/>
              </a:lnSpc>
              <a:buNone/>
            </a:pPr>
            <a:r>
              <a:rPr lang="en-US" sz="606" dirty="0">
                <a:solidFill>
                  <a:srgbClr val="6B7891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18-month runway to break-even. Target: 10x ARR growth by Year 2. Exit path: strategic acquisition or Series A at NIS 25M+ valuation.</a:t>
            </a:r>
            <a:endParaRPr lang="en-US" sz="606" dirty="0"/>
          </a:p>
        </p:txBody>
      </p:sp>
      <p:pic>
        <p:nvPicPr>
          <p:cNvPr id="51" name="KungFlow Logo Small 12">
            <a:extLst>
              <a:ext uri="{FF2B5EF4-FFF2-40B4-BE49-F238E27FC236}">
                <a16:creationId xmlns:a16="http://schemas.microsoft.com/office/drawing/2014/main" id="{617E053B-07A2-E17D-18D0-9C8478D16B70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8648700" y="190500"/>
            <a:ext cx="292100" cy="2921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021" y="2116215"/>
            <a:ext cx="9037468" cy="263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638"/>
              </a:lnSpc>
            </a:pPr>
            <a:endParaRPr lang="en-US" sz="1354" dirty="0"/>
          </a:p>
        </p:txBody>
      </p:sp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C3B2EE5E-6AE8-F34D-0AA3-03888F81D478}"/>
              </a:ext>
            </a:extLst>
          </p:cNvPr>
          <p:cNvSpPr txBox="1"/>
          <p:nvPr/>
        </p:nvSpPr>
        <p:spPr>
          <a:xfrm>
            <a:off x="2286000" y="1714500"/>
            <a:ext cx="4572000" cy="635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3200" b="1">
                <a:solidFill>
                  <a:srgbClr val="FFFFFF"/>
                </a:solidFill>
                <a:latin typeface="Aptos" panose="020B0004020202020204" pitchFamily="34" charset="0"/>
              </a:rPr>
              <a:t>THANK YOU</a:t>
            </a:r>
            <a:endParaRPr lang="en-US" sz="3200" b="1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pic>
        <p:nvPicPr>
          <p:cNvPr id="7" name="KungFlow Logo Small 3">
            <a:extLst>
              <a:ext uri="{FF2B5EF4-FFF2-40B4-BE49-F238E27FC236}">
                <a16:creationId xmlns:a16="http://schemas.microsoft.com/office/drawing/2014/main" id="{C0E8A816-11BD-7AE2-B4BF-530F55E6AD34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8648700" y="190500"/>
            <a:ext cx="292100" cy="292100"/>
          </a:xfrm>
          <a:prstGeom prst="rect">
            <a:avLst/>
          </a:prstGeom>
        </p:spPr>
      </p:pic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8C5718E6-3A93-23A0-5428-55798A85335D}"/>
              </a:ext>
            </a:extLst>
          </p:cNvPr>
          <p:cNvSpPr txBox="1"/>
          <p:nvPr/>
        </p:nvSpPr>
        <p:spPr>
          <a:xfrm>
            <a:off x="2286000" y="2603500"/>
            <a:ext cx="4572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>
                <a:solidFill>
                  <a:srgbClr val="D2DAE8"/>
                </a:solidFill>
                <a:latin typeface="Aptos" panose="020B0004020202020204" pitchFamily="34" charset="0"/>
              </a:rPr>
              <a:t>Questions?</a:t>
            </a:r>
          </a:p>
        </p:txBody>
      </p:sp>
      <p:sp>
        <p:nvSpPr>
          <p:cNvPr id="5" name="תיבת טקסט 4">
            <a:extLst>
              <a:ext uri="{FF2B5EF4-FFF2-40B4-BE49-F238E27FC236}">
                <a16:creationId xmlns:a16="http://schemas.microsoft.com/office/drawing/2014/main" id="{C2DB47A3-B05A-2EA1-7762-4965CADF7AB3}"/>
              </a:ext>
            </a:extLst>
          </p:cNvPr>
          <p:cNvSpPr txBox="1"/>
          <p:nvPr/>
        </p:nvSpPr>
        <p:spPr>
          <a:xfrm>
            <a:off x="2032000" y="3200400"/>
            <a:ext cx="508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900">
                <a:solidFill>
                  <a:srgbClr val="8091AE"/>
                </a:solidFill>
                <a:latin typeface="Aptos" panose="020B0004020202020204" pitchFamily="34" charset="0"/>
              </a:rPr>
              <a:t>KungFlow  |  Reclaim Your Focus. Measure Your Mind.</a:t>
            </a:r>
          </a:p>
        </p:txBody>
      </p:sp>
    </p:spTree>
    <p:extLst>
      <p:ext uri="{BB962C8B-B14F-4D97-AF65-F5344CB8AC3E}">
        <p14:creationId xmlns:p14="http://schemas.microsoft.com/office/powerpoint/2010/main" val="9837618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1086</Words>
  <Application>Microsoft Office PowerPoint</Application>
  <PresentationFormat>‫הצגה על המסך (16:9)</PresentationFormat>
  <Paragraphs>239</Paragraphs>
  <Slides>13</Slides>
  <Notes>13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13</vt:i4>
      </vt:variant>
    </vt:vector>
  </HeadingPairs>
  <TitlesOfParts>
    <vt:vector size="17" baseType="lpstr">
      <vt:lpstr>Arial</vt:lpstr>
      <vt:lpstr>Inter</vt:lpstr>
      <vt:lpstr>Aptos</vt:lpstr>
      <vt:lpstr>Office Theme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Ido Mark</cp:lastModifiedBy>
  <cp:revision>14</cp:revision>
  <dcterms:created xsi:type="dcterms:W3CDTF">2026-06-09T10:39:43Z</dcterms:created>
  <dcterms:modified xsi:type="dcterms:W3CDTF">2026-06-10T10:24:56Z</dcterms:modified>
</cp:coreProperties>
</file>
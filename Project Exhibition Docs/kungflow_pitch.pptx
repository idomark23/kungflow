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>
              <a:srgbClr val="20A354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D8403A"/>
              </a:solidFill>
            </c:spPr>
            <c:extLst>
              <c:ext xmlns:c16="http://schemas.microsoft.com/office/drawing/2014/chart" uri="{C3380CC4-5D6E-409C-BE32-E72D297353CC}">
                <c16:uniqueId val="{00000001-681F-4C3F-A6A5-C229913B0C98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10243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With interruptions</c:v>
              </c:pt>
              <c:pt idx="1">
                <c:v>Without interruptions</c:v>
              </c:pt>
            </c:strLit>
          </c:cat>
          <c:val>
            <c:numLit>
              <c:formatCode>0.0</c:formatCode>
              <c:ptCount val="2"/>
              <c:pt idx="0">
                <c:v>4.5999999999999996</c:v>
              </c:pt>
              <c:pt idx="1">
                <c:v>12.2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81F-4C3F-A6A5-C229913B0C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9C9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0243E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9525">
              <a:solidFill>
                <a:srgbClr val="E8E3DA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C9C9C9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B6B7E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Current opening slide from KungFlow Pitch.pptx.</a:t>
            </a:r>
          </a:p>
          <a:p>
            <a:pPr algn="r">
              <a:buNone/>
            </a:pPr>
            <a:r>
              <a:t>    - Current team: Ido Mark, Rotem Saraf, Eden Elkayam.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Interruption frequency and focus-recovery facts from KungFlow Pitch.pptx / KungFlow Investor Pitch.pptx.</a:t>
            </a:r>
          </a:p>
          <a:p>
            <a:pPr algn="r">
              <a:buNone/>
            </a:pPr>
            <a:r>
              <a:t>    - Human-impact stress statements from current deck and older investor deck.</a:t>
            </a:r>
          </a:p>
          <a:p>
            <a:pPr algn="r">
              <a:buNone/>
            </a:pPr>
            <a:r>
              <a:t>    - Two-sided audience framing supplied in the user's final deck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Sense / Understand / Protect flow from KungFlow Pitch.pptx.</a:t>
            </a:r>
          </a:p>
          <a:p>
            <a:pPr algn="r">
              <a:buNone/>
            </a:pPr>
            <a:r>
              <a:t>    - Global/selective firewall mode from current implemented desktop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Current product-state concept and screenshots from KungFlow Pitch.pptx.</a:t>
            </a:r>
          </a:p>
          <a:p>
            <a:pPr algn="r">
              <a:buNone/>
            </a:pPr>
            <a:r>
              <a:t>    - This slide intentionally transitions into the live demo instead of creating a separate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Validation figures copied from KungFlow Investor Pitch.pptx validation slide.</a:t>
            </a:r>
          </a:p>
          <a:p>
            <a:pPr algn="r">
              <a:buNone/>
            </a:pPr>
            <a:r>
              <a:t>    - Research framing summarized from the Git project README Research And Validation section.</a:t>
            </a:r>
          </a:p>
          <a:p>
            <a:pPr algn="r">
              <a:buNone/>
            </a:pPr>
            <a:r>
              <a:t>    - Framed as research support plus initial controlled validation of the interruption/focus hypothesis, not a validation of the detection algorithm or company-wide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Privacy boundaries and metadata categories from KungFlow Pitch.pptx and current implemented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TAM/SAM/SOM, competitors and differentiation from KungFlow Pitch.pptx / KungFlow Investor Pitch.pptx.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r>
              <a:t>Source audit:</a:t>
            </a:r>
          </a:p>
          <a:p>
            <a:pPr algn="r">
              <a:buNone/>
            </a:pPr>
            <a:r>
              <a:t>    - Business next steps from current GO-TO-MARKET and GTM slides.</a:t>
            </a:r>
          </a:p>
          <a:p>
            <a:pPr algn="r">
              <a:buNone/>
            </a:pPr>
            <a:r>
              <a:t>    - Technology/product next steps limited to scale &amp; v2 development and larger validation with design partners from the investor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audit:</a:t>
            </a:r>
          </a:p>
          <a:p>
            <a:r>
              <a:t>    - Signal categories and scoring concept from KungFlow Pitch.pptx.</a:t>
            </a:r>
          </a:p>
          <a:p>
            <a:r>
              <a:t>    - Research framing summarized from the Git project README Research And Validation section.</a:t>
            </a:r>
          </a:p>
          <a:p>
            <a:r>
              <a:t>    - Does not claim the literature validates the complete product or scoring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audit:</a:t>
            </a:r>
          </a:p>
          <a:p>
            <a:r>
              <a:t>    - Agent, server, SQL database, metrics/baseline and protection-decision loop from KungFlow Pitch.pptx.</a:t>
            </a:r>
          </a:p>
          <a:p>
            <a:r>
              <a:t>    - Docker, Google Cloud Run and Google Cloud SQL from KungFlow_Project_Poster.pptx.</a:t>
            </a:r>
          </a:p>
          <a:p>
            <a:r>
              <a:t>Technology logo sources:</a:t>
            </a:r>
          </a:p>
          <a:p>
            <a:r>
              <a:t>- Simple Icons: .NET, Node.js, Express, Docker, Google Cloud, Git.</a:t>
            </a:r>
          </a:p>
          <a:p>
            <a:r>
              <a:t>- Devicon: C#, Windows, Microsoft SQL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audit:</a:t>
            </a:r>
          </a:p>
          <a:p>
            <a:r>
              <a:t>    - Privacy-by-metadata decision from Trust and How We Do It slides.</a:t>
            </a:r>
          </a:p>
          <a:p>
            <a:r>
              <a:t>    - Personal/adaptive baseline from How We Do It and Solution slides.</a:t>
            </a:r>
          </a:p>
          <a:p>
            <a:r>
              <a:t>    - Client-server-database loop from Architecture slide and project poster.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 added per request. Contact: Ido Mark, idoomark23@gmail.com.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png"/><Relationship Id="rId15" Type="http://schemas.openxmlformats.org/officeDocument/2006/relationships/image" Target="../media/image30.svg"/><Relationship Id="rId10" Type="http://schemas.openxmlformats.org/officeDocument/2006/relationships/image" Target="../media/image25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A7B7E9-0F40-4787-B481-ABBEF47F65EA}"/>
              </a:ext>
            </a:extLst>
          </p:cNvPr>
          <p:cNvSpPr>
            <a:spLocks noGrp="1"/>
          </p:cNvSpPr>
          <p:nvPr/>
        </p:nvSpPr>
        <p:spPr>
          <a:xfrm>
            <a:off x="7955280" y="1051560"/>
            <a:ext cx="3383280" cy="4754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7C7395-393B-4893-88DF-E6F26FC8AF9F}"/>
              </a:ext>
            </a:extLst>
          </p:cNvPr>
          <p:cNvSpPr>
            <a:spLocks noGrp="1"/>
          </p:cNvSpPr>
          <p:nvPr/>
        </p:nvSpPr>
        <p:spPr>
          <a:xfrm>
            <a:off x="8275320" y="1417320"/>
            <a:ext cx="566928" cy="566928"/>
          </a:xfrm>
          <a:prstGeom prst="ellipse">
            <a:avLst/>
          </a:prstGeom>
          <a:solidFill>
            <a:srgbClr val="1FA055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3715CF-AF64-41A9-9233-69EB03D4C2A0}"/>
              </a:ext>
            </a:extLst>
          </p:cNvPr>
          <p:cNvSpPr>
            <a:spLocks noGrp="1"/>
          </p:cNvSpPr>
          <p:nvPr/>
        </p:nvSpPr>
        <p:spPr>
          <a:xfrm>
            <a:off x="9006840" y="1362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7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OPEN</a:t>
            </a:r>
            <a:endParaRPr sz="1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4C0056-9A37-4623-8263-53E0A4C310CD}"/>
              </a:ext>
            </a:extLst>
          </p:cNvPr>
          <p:cNvSpPr>
            <a:spLocks noGrp="1"/>
          </p:cNvSpPr>
          <p:nvPr/>
        </p:nvSpPr>
        <p:spPr>
          <a:xfrm>
            <a:off x="9006840" y="169164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2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Light load — everything gets through</a:t>
            </a:r>
            <a:endParaRPr sz="12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AFD3AFD-FF40-47FE-8B64-61592998FD01}"/>
              </a:ext>
            </a:extLst>
          </p:cNvPr>
          <p:cNvSpPr>
            <a:spLocks noGrp="1"/>
          </p:cNvSpPr>
          <p:nvPr/>
        </p:nvSpPr>
        <p:spPr>
          <a:xfrm>
            <a:off x="8275320" y="2898648"/>
            <a:ext cx="566928" cy="566928"/>
          </a:xfrm>
          <a:prstGeom prst="ellipse">
            <a:avLst/>
          </a:prstGeom>
          <a:solidFill>
            <a:srgbClr val="D98E04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2CF7A4-AF44-43A1-8364-565329FCED6C}"/>
              </a:ext>
            </a:extLst>
          </p:cNvPr>
          <p:cNvSpPr>
            <a:spLocks noGrp="1"/>
          </p:cNvSpPr>
          <p:nvPr/>
        </p:nvSpPr>
        <p:spPr>
          <a:xfrm>
            <a:off x="9006840" y="284378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7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LEARNING</a:t>
            </a:r>
            <a:endParaRPr sz="17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481CF8-CCE5-4262-8350-579150C9B23B}"/>
              </a:ext>
            </a:extLst>
          </p:cNvPr>
          <p:cNvSpPr>
            <a:spLocks noGrp="1"/>
          </p:cNvSpPr>
          <p:nvPr/>
        </p:nvSpPr>
        <p:spPr>
          <a:xfrm>
            <a:off x="9006840" y="3172968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rtl="0">
              <a:buNone/>
            </a:pPr>
            <a:r>
              <a:rPr sz="12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Load rising — KungFlow is watching your behavioral rhythm. </a:t>
            </a:r>
            <a:endParaRPr sz="12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D415F8A-B18F-474C-A708-93CF278D28C3}"/>
              </a:ext>
            </a:extLst>
          </p:cNvPr>
          <p:cNvSpPr>
            <a:spLocks noGrp="1"/>
          </p:cNvSpPr>
          <p:nvPr/>
        </p:nvSpPr>
        <p:spPr>
          <a:xfrm>
            <a:off x="8275320" y="4379976"/>
            <a:ext cx="566928" cy="566928"/>
          </a:xfrm>
          <a:prstGeom prst="ellipse">
            <a:avLst/>
          </a:prstGeom>
          <a:solidFill>
            <a:srgbClr val="D2403B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22517A-39D5-40FA-95B2-C9B18712CF4E}"/>
              </a:ext>
            </a:extLst>
          </p:cNvPr>
          <p:cNvSpPr>
            <a:spLocks noGrp="1"/>
          </p:cNvSpPr>
          <p:nvPr/>
        </p:nvSpPr>
        <p:spPr>
          <a:xfrm>
            <a:off x="9006840" y="43251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7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PROTECTED</a:t>
            </a:r>
            <a:endParaRPr sz="17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8C0095-E825-4F9E-B699-D38BF7B3C01F}"/>
              </a:ext>
            </a:extLst>
          </p:cNvPr>
          <p:cNvSpPr>
            <a:spLocks noGrp="1"/>
          </p:cNvSpPr>
          <p:nvPr/>
        </p:nvSpPr>
        <p:spPr>
          <a:xfrm>
            <a:off x="9006840" y="4654296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2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Overload — interruptions quietly blocked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276E2BE-7236-4538-A490-A0F4AECE9F6F}"/>
              </a:ext>
            </a:extLst>
          </p:cNvPr>
          <p:cNvSpPr>
            <a:spLocks noGrp="1"/>
          </p:cNvSpPr>
          <p:nvPr/>
        </p:nvSpPr>
        <p:spPr>
          <a:xfrm>
            <a:off x="521208" y="841248"/>
            <a:ext cx="1106424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960120" cy="91440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0ADC8432-4EEB-48B0-8547-D6B4B8EF6B84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6858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66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KungFlow</a:t>
            </a:r>
            <a:endParaRPr sz="66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D89F3AF-D9B2-4645-A734-2B30A80D7394}"/>
              </a:ext>
            </a:extLst>
          </p:cNvPr>
          <p:cNvSpPr>
            <a:spLocks noGrp="1"/>
          </p:cNvSpPr>
          <p:nvPr/>
        </p:nvSpPr>
        <p:spPr>
          <a:xfrm>
            <a:off x="594360" y="2971800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rtl="0">
              <a:buNone/>
            </a:pPr>
            <a:r>
              <a:rPr sz="2700" b="1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Protect your focus</a:t>
            </a:r>
            <a:endParaRPr sz="27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B9140AF-E05D-4CCA-891F-60256A6026D1}"/>
              </a:ext>
            </a:extLst>
          </p:cNvPr>
          <p:cNvSpPr>
            <a:spLocks noGrp="1"/>
          </p:cNvSpPr>
          <p:nvPr/>
        </p:nvSpPr>
        <p:spPr>
          <a:xfrm>
            <a:off x="594360" y="361188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8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KungFlow senses cognitive overload in real time and quietly blocks</a:t>
            </a:r>
            <a:endParaRPr sz="1800"/>
          </a:p>
          <a:p>
            <a:pPr marL="0" indent="0" algn="ctr" rtl="0">
              <a:buNone/>
            </a:pPr>
            <a:r>
              <a:rPr sz="18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interruptions — automatically. Healthier minds, deeper work.</a:t>
            </a:r>
            <a:endParaRPr sz="18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259D1F9-2CA3-48DA-BF0A-55EF379BA82E}"/>
              </a:ext>
            </a:extLst>
          </p:cNvPr>
          <p:cNvSpPr>
            <a:spLocks noGrp="1"/>
          </p:cNvSpPr>
          <p:nvPr/>
        </p:nvSpPr>
        <p:spPr>
          <a:xfrm>
            <a:off x="594360" y="4983480"/>
            <a:ext cx="6400800" cy="0"/>
          </a:xfrm>
          <a:prstGeom prst="line">
            <a:avLst/>
          </a:prstGeom>
          <a:noFill/>
          <a:ln w="12700">
            <a:solidFill>
              <a:srgbClr val="D8D4C9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2C488D2-094A-4ECC-9728-F4908A6A6E3F}"/>
              </a:ext>
            </a:extLst>
          </p:cNvPr>
          <p:cNvSpPr>
            <a:spLocks noGrp="1"/>
          </p:cNvSpPr>
          <p:nvPr/>
        </p:nvSpPr>
        <p:spPr>
          <a:xfrm>
            <a:off x="359410" y="548640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 rtl="0">
              <a:buNone/>
            </a:pPr>
            <a:r>
              <a:rPr sz="14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Ido Mark  ·  Rotem Saraf  ·  Eden Elkayam</a:t>
            </a:r>
            <a:r>
              <a:rPr sz="1400">
                <a:solidFill>
                  <a:srgbClr val="5B6B7E"/>
                </a:solidFill>
              </a:rPr>
              <a:t> ·  2026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4014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F01E13-E30B-4B9F-BBA6-BD9FD196D7C0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</p:spPr>
        <p:txBody>
          <a:bodyPr rtlCol="0"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CC2F28-EE90-4D29-AD54-0F8F3410C936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THE PROBLEM &amp; TARGET AUDIENCE</a:t>
            </a:r>
            <a:endParaRPr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0A86DD-87B6-4E40-97D5-AEB7FA718207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3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Digital interruptions repeatedly break focus</a:t>
            </a:r>
            <a:endParaRPr sz="3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382F72-E317-43F0-B6EA-9112D25B3F68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0">
              <a:buNone/>
            </a:pPr>
            <a:r>
              <a:rPr sz="12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B4DCCF-3415-4A36-AF80-2D331573187B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4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38AAC971-4AD8-4F0B-A5AD-822D6EA00933}"/>
              </a:ext>
            </a:extLst>
          </p:cNvPr>
          <p:cNvSpPr>
            <a:spLocks noGrp="1"/>
          </p:cNvSpPr>
          <p:nvPr/>
        </p:nvSpPr>
        <p:spPr>
          <a:xfrm>
            <a:off x="59436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B9F8480-923B-4F63-9698-C564E4DB77A3}"/>
              </a:ext>
            </a:extLst>
          </p:cNvPr>
          <p:cNvSpPr>
            <a:spLocks noGrp="1"/>
          </p:cNvSpPr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7F1EE"/>
          </a:solidFill>
        </p:spPr>
        <p:txBody>
          <a:bodyPr rtlCol="0"/>
          <a:lstStyle/>
          <a:p>
            <a:endParaRPr/>
          </a:p>
        </p:txBody>
      </p:sp>
      <p:pic>
        <p:nvPicPr>
          <p:cNvPr id="4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29184" cy="32918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B64BCCDE-3F4E-47EA-85B7-17743B82ACBD}"/>
              </a:ext>
            </a:extLst>
          </p:cNvPr>
          <p:cNvSpPr>
            <a:spLocks noGrp="1"/>
          </p:cNvSpPr>
          <p:nvPr/>
        </p:nvSpPr>
        <p:spPr>
          <a:xfrm>
            <a:off x="850392" y="2788920"/>
            <a:ext cx="30083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4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56</a:t>
            </a:r>
            <a:endParaRPr sz="48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6584C1F-228C-4D8F-9563-5C8697F4CC02}"/>
              </a:ext>
            </a:extLst>
          </p:cNvPr>
          <p:cNvSpPr>
            <a:spLocks noGrp="1"/>
          </p:cNvSpPr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650" b="1">
                <a:solidFill>
                  <a:srgbClr val="26354A"/>
                </a:solidFill>
                <a:latin typeface="Trebuchet MS"/>
                <a:ea typeface="Trebuchet MS"/>
                <a:cs typeface="Trebuchet MS"/>
              </a:rPr>
              <a:t>interruptions per workday</a:t>
            </a:r>
            <a:endParaRPr sz="16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4D73BC0-6E42-43A3-9605-BE42319E3AA3}"/>
              </a:ext>
            </a:extLst>
          </p:cNvPr>
          <p:cNvSpPr>
            <a:spLocks noGrp="1"/>
          </p:cNvSpPr>
          <p:nvPr/>
        </p:nvSpPr>
        <p:spPr>
          <a:xfrm>
            <a:off x="868680" y="39319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Pings, messages and alerts — one every ~9 minutes</a:t>
            </a:r>
            <a:endParaRPr sz="13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4393E8-58C9-4720-A17F-7FA2D511DDAE}"/>
              </a:ext>
            </a:extLst>
          </p:cNvPr>
          <p:cNvSpPr>
            <a:spLocks noGrp="1"/>
          </p:cNvSpPr>
          <p:nvPr/>
        </p:nvSpPr>
        <p:spPr>
          <a:xfrm>
            <a:off x="438912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6226608-53D8-4A96-AED7-C6179DEA5EE5}"/>
              </a:ext>
            </a:extLst>
          </p:cNvPr>
          <p:cNvSpPr>
            <a:spLocks noGrp="1"/>
          </p:cNvSpPr>
          <p:nvPr/>
        </p:nvSpPr>
        <p:spPr>
          <a:xfrm>
            <a:off x="4663440" y="2103120"/>
            <a:ext cx="603504" cy="603504"/>
          </a:xfrm>
          <a:prstGeom prst="ellipse">
            <a:avLst/>
          </a:prstGeom>
          <a:solidFill>
            <a:srgbClr val="E7F1EE"/>
          </a:solidFill>
        </p:spPr>
        <p:txBody>
          <a:bodyPr rtlCol="0"/>
          <a:lstStyle/>
          <a:p>
            <a:endParaRPr/>
          </a:p>
        </p:txBody>
      </p:sp>
      <p:pic>
        <p:nvPicPr>
          <p:cNvPr id="5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B2837870-56B9-4BCE-82E7-74A6955DF8A1}"/>
              </a:ext>
            </a:extLst>
          </p:cNvPr>
          <p:cNvSpPr>
            <a:spLocks noGrp="1"/>
          </p:cNvSpPr>
          <p:nvPr/>
        </p:nvSpPr>
        <p:spPr>
          <a:xfrm>
            <a:off x="4645152" y="2788920"/>
            <a:ext cx="30083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4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23 min</a:t>
            </a:r>
            <a:endParaRPr sz="4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DA96259-CFD2-47F6-96E8-8DEA583EDA3C}"/>
              </a:ext>
            </a:extLst>
          </p:cNvPr>
          <p:cNvSpPr>
            <a:spLocks noGrp="1"/>
          </p:cNvSpPr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650" b="1">
                <a:solidFill>
                  <a:srgbClr val="26354A"/>
                </a:solidFill>
                <a:latin typeface="Trebuchet MS"/>
                <a:ea typeface="Trebuchet MS"/>
                <a:cs typeface="Trebuchet MS"/>
              </a:rPr>
              <a:t>to regain deep focus</a:t>
            </a:r>
            <a:endParaRPr sz="165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B7E5668-1F12-4373-9FAC-F828A7DC784F}"/>
              </a:ext>
            </a:extLst>
          </p:cNvPr>
          <p:cNvSpPr>
            <a:spLocks noGrp="1"/>
          </p:cNvSpPr>
          <p:nvPr/>
        </p:nvSpPr>
        <p:spPr>
          <a:xfrm>
            <a:off x="4663440" y="39319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After every single interruption (Mark, UC Irvine)</a:t>
            </a:r>
            <a:endParaRPr sz="130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57E82634-D515-411E-99E7-59DBF73A94AE}"/>
              </a:ext>
            </a:extLst>
          </p:cNvPr>
          <p:cNvSpPr>
            <a:spLocks noGrp="1"/>
          </p:cNvSpPr>
          <p:nvPr/>
        </p:nvSpPr>
        <p:spPr>
          <a:xfrm>
            <a:off x="818388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6B1557A-F987-4C8A-8FB7-ED31BF49E1FB}"/>
              </a:ext>
            </a:extLst>
          </p:cNvPr>
          <p:cNvSpPr>
            <a:spLocks noGrp="1"/>
          </p:cNvSpPr>
          <p:nvPr/>
        </p:nvSpPr>
        <p:spPr>
          <a:xfrm>
            <a:off x="8458200" y="2103120"/>
            <a:ext cx="603504" cy="603504"/>
          </a:xfrm>
          <a:prstGeom prst="ellipse">
            <a:avLst/>
          </a:prstGeom>
          <a:solidFill>
            <a:srgbClr val="E7F1EE"/>
          </a:solidFill>
        </p:spPr>
        <p:txBody>
          <a:bodyPr rtlCol="0"/>
          <a:lstStyle/>
          <a:p>
            <a:endParaRPr/>
          </a:p>
        </p:txBody>
      </p:sp>
      <p:pic>
        <p:nvPicPr>
          <p:cNvPr id="6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40280"/>
            <a:ext cx="329184" cy="329184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37713635-AAC2-46B9-81D2-87F3EF3CE252}"/>
              </a:ext>
            </a:extLst>
          </p:cNvPr>
          <p:cNvSpPr>
            <a:spLocks noGrp="1"/>
          </p:cNvSpPr>
          <p:nvPr/>
        </p:nvSpPr>
        <p:spPr>
          <a:xfrm>
            <a:off x="8439912" y="2788920"/>
            <a:ext cx="30083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3600" b="1">
                <a:solidFill>
                  <a:srgbClr val="DF3F3F"/>
                </a:solidFill>
              </a:defRPr>
            </a:pPr>
            <a:r>
              <a:rPr sz="3600" b="1">
                <a:solidFill>
                  <a:srgbClr val="DF3F3F"/>
                </a:solidFill>
                <a:latin typeface="Trebuchet MS"/>
                <a:ea typeface="Trebuchet MS"/>
                <a:cs typeface="Trebuchet MS"/>
              </a:rPr>
              <a:t>26%</a:t>
            </a:r>
            <a:endParaRPr sz="400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8EF161D-E598-46A1-B932-B5131417D6C8}"/>
              </a:ext>
            </a:extLst>
          </p:cNvPr>
          <p:cNvSpPr>
            <a:spLocks noGrp="1"/>
          </p:cNvSpPr>
          <p:nvPr/>
        </p:nvSpPr>
        <p:spPr>
          <a:xfrm>
            <a:off x="8458200" y="35661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650" b="1">
                <a:solidFill>
                  <a:srgbClr val="26354A"/>
                </a:solidFill>
                <a:latin typeface="Trebuchet MS"/>
                <a:ea typeface="Trebuchet MS"/>
                <a:cs typeface="Trebuchet MS"/>
              </a:rPr>
              <a:t>higher stress / lower job satisfaction</a:t>
            </a:r>
            <a:endParaRPr sz="165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CE50603-543C-4BF8-84F0-CB88A070B12B}"/>
              </a:ext>
            </a:extLst>
          </p:cNvPr>
          <p:cNvSpPr>
            <a:spLocks noGrp="1"/>
          </p:cNvSpPr>
          <p:nvPr/>
        </p:nvSpPr>
        <p:spPr>
          <a:xfrm>
            <a:off x="8458200" y="39319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Digital interruptions increase stress, frustration and time pressure.</a:t>
            </a:r>
            <a:endParaRPr sz="130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9256A08C-65C7-4E22-973D-F20683C486DD}"/>
              </a:ext>
            </a:extLst>
          </p:cNvPr>
          <p:cNvSpPr>
            <a:spLocks noGrp="1"/>
          </p:cNvSpPr>
          <p:nvPr/>
        </p:nvSpPr>
        <p:spPr>
          <a:xfrm>
            <a:off x="595884" y="502920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pic>
        <p:nvPicPr>
          <p:cNvPr id="65" name="תמונה 108"/>
          <p:cNvPicPr>
            <a:picLocks noChangeAspect="1"/>
          </p:cNvPicPr>
          <p:nvPr/>
        </p:nvPicPr>
        <p:blipFill>
          <a:blip r:embed="rId7"/>
          <a:srcRect t="18538" b="18538"/>
          <a:stretch>
            <a:fillRect/>
          </a:stretch>
        </p:blipFill>
        <p:spPr>
          <a:xfrm>
            <a:off x="1916316" y="2171152"/>
            <a:ext cx="2070468" cy="868680"/>
          </a:xfrm>
          <a:prstGeom prst="roundRect">
            <a:avLst>
              <a:gd name="adj" fmla="val 2424"/>
            </a:avLst>
          </a:prstGeom>
        </p:spPr>
      </p:pic>
      <p:sp>
        <p:nvSpPr>
          <p:cNvPr id="33" name="Who it affects heading">
            <a:extLst>
              <a:ext uri="{FF2B5EF4-FFF2-40B4-BE49-F238E27FC236}">
                <a16:creationId xmlns:a16="http://schemas.microsoft.com/office/drawing/2014/main" id="{8CEE18C1-4A89-4790-AC5D-CA18754F7F43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defRPr sz="825" b="1">
                <a:solidFill>
                  <a:srgbClr val="70D7CF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825" b="1" dirty="0">
                <a:solidFill>
                  <a:srgbClr val="70D7CF"/>
                </a:solidFill>
                <a:latin typeface="Trebuchet MS"/>
                <a:ea typeface="Trebuchet MS"/>
                <a:cs typeface="Trebuchet MS"/>
              </a:rPr>
              <a:t>TARGET AUDIENCE:</a:t>
            </a:r>
            <a:endParaRPr sz="825" b="1" dirty="0">
              <a:solidFill>
                <a:srgbClr val="70D7CF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34" name="Audience divider">
            <a:extLst>
              <a:ext uri="{FF2B5EF4-FFF2-40B4-BE49-F238E27FC236}">
                <a16:creationId xmlns:a16="http://schemas.microsoft.com/office/drawing/2014/main" id="{9D5930B1-C111-4367-95B1-72C7CDB49567}"/>
              </a:ext>
            </a:extLst>
          </p:cNvPr>
          <p:cNvSpPr>
            <a:spLocks noGrp="1"/>
          </p:cNvSpPr>
          <p:nvPr/>
        </p:nvSpPr>
        <p:spPr>
          <a:xfrm>
            <a:off x="5953125" y="5314950"/>
            <a:ext cx="0" cy="466725"/>
          </a:xfrm>
          <a:prstGeom prst="line">
            <a:avLst/>
          </a:prstGeom>
          <a:solidFill>
            <a:srgbClr val="FFFFFF"/>
          </a:solidFill>
          <a:ln w="9525">
            <a:solidFill>
              <a:srgbClr val="4B60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mployees audience title">
            <a:extLst>
              <a:ext uri="{FF2B5EF4-FFF2-40B4-BE49-F238E27FC236}">
                <a16:creationId xmlns:a16="http://schemas.microsoft.com/office/drawing/2014/main" id="{1B05DB1B-46AE-4FD7-B1A4-8C03E459413C}"/>
              </a:ext>
            </a:extLst>
          </p:cNvPr>
          <p:cNvSpPr>
            <a:spLocks noGrp="1"/>
          </p:cNvSpPr>
          <p:nvPr/>
        </p:nvSpPr>
        <p:spPr>
          <a:xfrm>
            <a:off x="876300" y="54102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defRPr sz="10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Employees</a:t>
            </a:r>
          </a:p>
        </p:txBody>
      </p:sp>
      <p:sp>
        <p:nvSpPr>
          <p:cNvPr id="36" name="Employees audience body">
            <a:extLst>
              <a:ext uri="{FF2B5EF4-FFF2-40B4-BE49-F238E27FC236}">
                <a16:creationId xmlns:a16="http://schemas.microsoft.com/office/drawing/2014/main" id="{5A6A4FA5-39E6-4541-A317-526C0C8567DC}"/>
              </a:ext>
            </a:extLst>
          </p:cNvPr>
          <p:cNvSpPr>
            <a:spLocks noGrp="1"/>
          </p:cNvSpPr>
          <p:nvPr/>
        </p:nvSpPr>
        <p:spPr>
          <a:xfrm>
            <a:off x="2038350" y="54197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defRPr sz="788">
                <a:solidFill>
                  <a:srgbClr val="D7E6EE"/>
                </a:solidFill>
                <a:latin typeface="Trebuchet MS"/>
                <a:ea typeface="Trebuchet MS"/>
                <a:cs typeface="Trebuchet MS"/>
              </a:defRPr>
            </a:pPr>
            <a:r>
              <a:rPr sz="788" dirty="0">
                <a:solidFill>
                  <a:srgbClr val="D7E6EE"/>
                </a:solidFill>
                <a:latin typeface="Trebuchet MS"/>
                <a:ea typeface="Trebuchet MS"/>
                <a:cs typeface="Trebuchet MS"/>
              </a:rPr>
              <a:t>Computer-based workers facing frequent digital interruptions, losing focus and experiencing higher stress.</a:t>
            </a:r>
          </a:p>
        </p:txBody>
      </p:sp>
      <p:sp>
        <p:nvSpPr>
          <p:cNvPr id="37" name="Companies audience title">
            <a:extLst>
              <a:ext uri="{FF2B5EF4-FFF2-40B4-BE49-F238E27FC236}">
                <a16:creationId xmlns:a16="http://schemas.microsoft.com/office/drawing/2014/main" id="{14272ACA-BF64-4F90-B73F-0B227C44FFB5}"/>
              </a:ext>
            </a:extLst>
          </p:cNvPr>
          <p:cNvSpPr>
            <a:spLocks noGrp="1"/>
          </p:cNvSpPr>
          <p:nvPr/>
        </p:nvSpPr>
        <p:spPr>
          <a:xfrm>
            <a:off x="6324600" y="54102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defRPr sz="10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Companies</a:t>
            </a:r>
          </a:p>
        </p:txBody>
      </p:sp>
      <p:sp>
        <p:nvSpPr>
          <p:cNvPr id="38" name="Companies audience body">
            <a:extLst>
              <a:ext uri="{FF2B5EF4-FFF2-40B4-BE49-F238E27FC236}">
                <a16:creationId xmlns:a16="http://schemas.microsoft.com/office/drawing/2014/main" id="{C703A687-CC64-49E4-BFC1-063C7BBAB86F}"/>
              </a:ext>
            </a:extLst>
          </p:cNvPr>
          <p:cNvSpPr>
            <a:spLocks noGrp="1"/>
          </p:cNvSpPr>
          <p:nvPr/>
        </p:nvSpPr>
        <p:spPr>
          <a:xfrm>
            <a:off x="7505700" y="54197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defRPr sz="788">
                <a:solidFill>
                  <a:srgbClr val="D7E6EE"/>
                </a:solidFill>
                <a:latin typeface="Trebuchet MS"/>
                <a:ea typeface="Trebuchet MS"/>
                <a:cs typeface="Trebuchet MS"/>
              </a:defRPr>
            </a:pPr>
            <a:r>
              <a:rPr sz="788" dirty="0">
                <a:solidFill>
                  <a:srgbClr val="D7E6EE"/>
                </a:solidFill>
                <a:latin typeface="Trebuchet MS"/>
                <a:ea typeface="Trebuchet MS"/>
                <a:cs typeface="Trebuchet MS"/>
              </a:rPr>
              <a:t>Organizations employing these workers lose productive time and work efficiency when focus is repeatedly disrupted.</a:t>
            </a:r>
          </a:p>
        </p:txBody>
      </p:sp>
    </p:spTree>
    <p:extLst>
      <p:ext uri="{BB962C8B-B14F-4D97-AF65-F5344CB8AC3E}">
        <p14:creationId xmlns:p14="http://schemas.microsoft.com/office/powerpoint/2010/main" val="148080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3F8719-A31D-488C-A5E0-0B8CD49B8DCD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</p:spPr>
        <p:txBody>
          <a:bodyPr rtlCol="0"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55FC63-AECC-4FA8-B186-C24D1FE1D30B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THE SOLUTION</a:t>
            </a:r>
            <a:endParaRPr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306045-A9B7-4041-A7E4-9E8E3C5AD4DF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3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KungFlow — a firewall for your focus</a:t>
            </a:r>
            <a:endParaRPr sz="3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867787-2A39-476A-81BA-BF14FAAC45B9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0">
              <a:buNone/>
            </a:pPr>
            <a:r>
              <a:rPr sz="12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6F5198-7C63-4B7F-BFB3-ABD55769B5C5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8C467EFB-7FB9-4124-9230-83B6572ACD72}"/>
              </a:ext>
            </a:extLst>
          </p:cNvPr>
          <p:cNvSpPr>
            <a:spLocks noGrp="1"/>
          </p:cNvSpPr>
          <p:nvPr/>
        </p:nvSpPr>
        <p:spPr>
          <a:xfrm>
            <a:off x="59436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84D247-38E3-4428-B261-A41E863B3AF6}"/>
              </a:ext>
            </a:extLst>
          </p:cNvPr>
          <p:cNvSpPr>
            <a:spLocks noGrp="1"/>
          </p:cNvSpPr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0E8F84"/>
          </a:solidFill>
        </p:spPr>
        <p:txBody>
          <a:bodyPr rtlCol="0"/>
          <a:lstStyle/>
          <a:p>
            <a:endParaRPr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04288"/>
            <a:ext cx="347472" cy="347472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738DA695-3EA1-42F2-9D58-D169F3A00A5F}"/>
              </a:ext>
            </a:extLst>
          </p:cNvPr>
          <p:cNvSpPr>
            <a:spLocks noGrp="1"/>
          </p:cNvSpPr>
          <p:nvPr/>
        </p:nvSpPr>
        <p:spPr>
          <a:xfrm>
            <a:off x="868680" y="29718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800" b="1" spc="100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1 · SENSE</a:t>
            </a:r>
            <a:endParaRPr sz="18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D68E012-D93B-46B6-A69D-3E6BCADEE035}"/>
              </a:ext>
            </a:extLst>
          </p:cNvPr>
          <p:cNvSpPr>
            <a:spLocks noGrp="1"/>
          </p:cNvSpPr>
          <p:nvPr/>
        </p:nvSpPr>
        <p:spPr>
          <a:xfrm>
            <a:off x="868680" y="33832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Reads behavioral rhythm only — typing speed, window switches, mouse motion. Every minute, silently.</a:t>
            </a:r>
            <a:endParaRPr sz="1400"/>
          </a:p>
        </p:txBody>
      </p:sp>
      <p:pic>
        <p:nvPicPr>
          <p:cNvPr id="4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063240"/>
            <a:ext cx="237744" cy="237744"/>
          </a:xfrm>
          <a:prstGeom prst="rect">
            <a:avLst/>
          </a:prstGeom>
        </p:spPr>
      </p:pic>
      <p:sp>
        <p:nvSpPr>
          <p:cNvPr id="14" name="Shape 9">
            <a:extLst>
              <a:ext uri="{FF2B5EF4-FFF2-40B4-BE49-F238E27FC236}">
                <a16:creationId xmlns:a16="http://schemas.microsoft.com/office/drawing/2014/main" id="{EB72F4DC-3906-41A8-92C6-95120BD35D00}"/>
              </a:ext>
            </a:extLst>
          </p:cNvPr>
          <p:cNvSpPr>
            <a:spLocks noGrp="1"/>
          </p:cNvSpPr>
          <p:nvPr/>
        </p:nvSpPr>
        <p:spPr>
          <a:xfrm>
            <a:off x="438912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3853C630-3E39-43E8-9040-66E530C8D557}"/>
              </a:ext>
            </a:extLst>
          </p:cNvPr>
          <p:cNvSpPr>
            <a:spLocks noGrp="1"/>
          </p:cNvSpPr>
          <p:nvPr/>
        </p:nvSpPr>
        <p:spPr>
          <a:xfrm>
            <a:off x="4663440" y="2148840"/>
            <a:ext cx="658368" cy="658368"/>
          </a:xfrm>
          <a:prstGeom prst="ellipse">
            <a:avLst/>
          </a:prstGeom>
          <a:solidFill>
            <a:srgbClr val="0B6E66"/>
          </a:solidFill>
        </p:spPr>
        <p:txBody>
          <a:bodyPr rtlCol="0"/>
          <a:lstStyle/>
          <a:p>
            <a:endParaRPr/>
          </a:p>
        </p:txBody>
      </p:sp>
      <p:pic>
        <p:nvPicPr>
          <p:cNvPr id="48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304288"/>
            <a:ext cx="347472" cy="347472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6A54F7A1-4AA0-4F0C-917A-AAF597748BCB}"/>
              </a:ext>
            </a:extLst>
          </p:cNvPr>
          <p:cNvSpPr>
            <a:spLocks noGrp="1"/>
          </p:cNvSpPr>
          <p:nvPr/>
        </p:nvSpPr>
        <p:spPr>
          <a:xfrm>
            <a:off x="4663440" y="29718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800" b="1" spc="100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2 · UNDERSTAND</a:t>
            </a:r>
            <a:endParaRPr sz="18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A295BDA-388A-430A-80DE-183AFDF7B22C}"/>
              </a:ext>
            </a:extLst>
          </p:cNvPr>
          <p:cNvSpPr>
            <a:spLocks noGrp="1"/>
          </p:cNvSpPr>
          <p:nvPr/>
        </p:nvSpPr>
        <p:spPr>
          <a:xfrm>
            <a:off x="4663440" y="33832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Scores cognitive load against your personal baseline. It learns what “normal” means for you.</a:t>
            </a:r>
            <a:endParaRPr sz="1400"/>
          </a:p>
        </p:txBody>
      </p:sp>
      <p:pic>
        <p:nvPicPr>
          <p:cNvPr id="51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063240"/>
            <a:ext cx="237744" cy="237744"/>
          </a:xfrm>
          <a:prstGeom prst="rect">
            <a:avLst/>
          </a:prstGeom>
        </p:spPr>
      </p:pic>
      <p:sp>
        <p:nvSpPr>
          <p:cNvPr id="20" name="Shape 13">
            <a:extLst>
              <a:ext uri="{FF2B5EF4-FFF2-40B4-BE49-F238E27FC236}">
                <a16:creationId xmlns:a16="http://schemas.microsoft.com/office/drawing/2014/main" id="{EF815B5B-F805-44F1-A6DD-3AD6B540392A}"/>
              </a:ext>
            </a:extLst>
          </p:cNvPr>
          <p:cNvSpPr>
            <a:spLocks noGrp="1"/>
          </p:cNvSpPr>
          <p:nvPr/>
        </p:nvSpPr>
        <p:spPr>
          <a:xfrm>
            <a:off x="818388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0C4B0A53-3DF9-4CF4-A4CE-00DE17CF8F14}"/>
              </a:ext>
            </a:extLst>
          </p:cNvPr>
          <p:cNvSpPr>
            <a:spLocks noGrp="1"/>
          </p:cNvSpPr>
          <p:nvPr/>
        </p:nvSpPr>
        <p:spPr>
          <a:xfrm>
            <a:off x="8458200" y="2148840"/>
            <a:ext cx="658368" cy="658368"/>
          </a:xfrm>
          <a:prstGeom prst="ellipse">
            <a:avLst/>
          </a:prstGeom>
          <a:solidFill>
            <a:srgbClr val="10243E"/>
          </a:solidFill>
        </p:spPr>
        <p:txBody>
          <a:bodyPr rtlCol="0"/>
          <a:lstStyle/>
          <a:p>
            <a:endParaRPr/>
          </a:p>
        </p:txBody>
      </p:sp>
      <p:pic>
        <p:nvPicPr>
          <p:cNvPr id="54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2304288"/>
            <a:ext cx="347472" cy="347472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B155D222-7EBC-4D5B-85C8-84C3622B0F9B}"/>
              </a:ext>
            </a:extLst>
          </p:cNvPr>
          <p:cNvSpPr>
            <a:spLocks noGrp="1"/>
          </p:cNvSpPr>
          <p:nvPr/>
        </p:nvSpPr>
        <p:spPr>
          <a:xfrm>
            <a:off x="8458200" y="29718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800" b="1" spc="100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3 · PROTECT</a:t>
            </a:r>
            <a:endParaRPr sz="18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AC34090F-16DA-433D-A8B0-713174A9C270}"/>
              </a:ext>
            </a:extLst>
          </p:cNvPr>
          <p:cNvSpPr>
            <a:spLocks noGrp="1"/>
          </p:cNvSpPr>
          <p:nvPr/>
        </p:nvSpPr>
        <p:spPr>
          <a:xfrm>
            <a:off x="8458200" y="33832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Load exceeds baseline? The firewall activates in the user's chosen mode: global or selective. Load drops? Protection turns off.</a:t>
            </a:r>
            <a:endParaRPr sz="140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80051B88-273C-4984-92D5-763480CF18F6}"/>
              </a:ext>
            </a:extLst>
          </p:cNvPr>
          <p:cNvSpPr>
            <a:spLocks noGrp="1"/>
          </p:cNvSpPr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4D9B6BF3-2BF3-4B07-9326-202D6E3FCE35}"/>
              </a:ext>
            </a:extLst>
          </p:cNvPr>
          <p:cNvSpPr>
            <a:spLocks noGrp="1"/>
          </p:cNvSpPr>
          <p:nvPr/>
        </p:nvSpPr>
        <p:spPr>
          <a:xfrm>
            <a:off x="868680" y="4937760"/>
            <a:ext cx="1045159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sz="1800" b="1">
                <a:solidFill>
                  <a:srgbClr val="0B6E66"/>
                </a:solidFill>
                <a:latin typeface="Calibri"/>
                <a:ea typeface="Calibri"/>
                <a:cs typeface="Calibri"/>
              </a:rPr>
              <a:t>No buttons. No willpower. No new habits. The employee just works — KungFlow guards the door.</a:t>
            </a:r>
            <a:endParaRPr sz="1800"/>
          </a:p>
        </p:txBody>
      </p:sp>
      <p:pic>
        <p:nvPicPr>
          <p:cNvPr id="59" name="תמונה 36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058401" y="1992643"/>
            <a:ext cx="1444752" cy="963168"/>
          </a:xfrm>
          <a:prstGeom prst="roundRect">
            <a:avLst>
              <a:gd name="adj" fmla="val 3478"/>
            </a:avLst>
          </a:prstGeom>
        </p:spPr>
      </p:pic>
    </p:spTree>
    <p:extLst>
      <p:ext uri="{BB962C8B-B14F-4D97-AF65-F5344CB8AC3E}">
        <p14:creationId xmlns:p14="http://schemas.microsoft.com/office/powerpoint/2010/main" val="152175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>
            <a:extLst>
              <a:ext uri="{FF2B5EF4-FFF2-40B4-BE49-F238E27FC236}">
                <a16:creationId xmlns:a16="http://schemas.microsoft.com/office/drawing/2014/main" id="{607674F9-28E0-4860-8453-DD8CDD1F8ED4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34C187A-1002-4FD2-BBFB-3648AA401BBE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THE PRODUCT</a:t>
            </a:r>
            <a:endParaRPr sz="14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163FBCF-2C8B-4BA8-A228-0AD0F6897048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30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The product — live demo transition</a:t>
            </a:r>
            <a:endParaRPr sz="300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4AFBB4E8-E80F-48E2-A0B4-3931C0F02018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0">
              <a:buNone/>
            </a:pPr>
            <a:r>
              <a:rPr sz="1600" b="1">
                <a:solidFill>
                  <a:srgbClr val="7A8A9C"/>
                </a:solidFill>
                <a:latin typeface="Trebuchet MS"/>
                <a:ea typeface="Trebuchet MS"/>
                <a:cs typeface="Trebuchet MS"/>
              </a:rPr>
              <a:t>4</a:t>
            </a:r>
            <a:endParaRPr sz="1600"/>
          </a:p>
        </p:txBody>
      </p:sp>
      <p:sp>
        <p:nvSpPr>
          <p:cNvPr id="6" name="Logo card">
            <a:extLst>
              <a:ext uri="{FF2B5EF4-FFF2-40B4-BE49-F238E27FC236}">
                <a16:creationId xmlns:a16="http://schemas.microsoft.com/office/drawing/2014/main" id="{10A433C0-5221-4611-99B4-FCE2FA519D97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30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Open state card">
            <a:extLst>
              <a:ext uri="{FF2B5EF4-FFF2-40B4-BE49-F238E27FC236}">
                <a16:creationId xmlns:a16="http://schemas.microsoft.com/office/drawing/2014/main" id="{5CD5318D-5230-4970-9DFE-F7D24E23F323}"/>
              </a:ext>
            </a:extLst>
          </p:cNvPr>
          <p:cNvSpPr>
            <a:spLocks noGrp="1"/>
          </p:cNvSpPr>
          <p:nvPr/>
        </p:nvSpPr>
        <p:spPr>
          <a:xfrm>
            <a:off x="594360" y="1666875"/>
            <a:ext cx="3333750" cy="3714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32" name="Open stat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1876425"/>
            <a:ext cx="2990850" cy="2466975"/>
          </a:xfrm>
          <a:prstGeom prst="rect">
            <a:avLst/>
          </a:prstGeom>
          <a:ln w="12700">
            <a:solidFill>
              <a:srgbClr val="E0E7E6"/>
            </a:solidFill>
          </a:ln>
        </p:spPr>
      </p:pic>
      <p:sp>
        <p:nvSpPr>
          <p:cNvPr id="10" name="Open state caption">
            <a:extLst>
              <a:ext uri="{FF2B5EF4-FFF2-40B4-BE49-F238E27FC236}">
                <a16:creationId xmlns:a16="http://schemas.microsoft.com/office/drawing/2014/main" id="{87CAC0FC-9480-4ACB-A426-CE3FA14C426C}"/>
              </a:ext>
            </a:extLst>
          </p:cNvPr>
          <p:cNvSpPr>
            <a:spLocks noGrp="1"/>
          </p:cNvSpPr>
          <p:nvPr/>
        </p:nvSpPr>
        <p:spPr>
          <a:xfrm>
            <a:off x="803910" y="4543425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8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Open state</a:t>
            </a:r>
            <a:endParaRPr sz="1800"/>
          </a:p>
        </p:txBody>
      </p:sp>
      <p:sp>
        <p:nvSpPr>
          <p:cNvPr id="11" name="Open state body">
            <a:extLst>
              <a:ext uri="{FF2B5EF4-FFF2-40B4-BE49-F238E27FC236}">
                <a16:creationId xmlns:a16="http://schemas.microsoft.com/office/drawing/2014/main" id="{21385CD2-605E-42C6-9F0D-D3E80CB44CF5}"/>
              </a:ext>
            </a:extLst>
          </p:cNvPr>
          <p:cNvSpPr>
            <a:spLocks noGrp="1"/>
          </p:cNvSpPr>
          <p:nvPr/>
        </p:nvSpPr>
        <p:spPr>
          <a:xfrm>
            <a:off x="842010" y="4876800"/>
            <a:ext cx="28384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2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Low cognitive load: notifications can pass through.</a:t>
            </a:r>
            <a:endParaRPr sz="1200"/>
          </a:p>
        </p:txBody>
      </p:sp>
      <p:sp>
        <p:nvSpPr>
          <p:cNvPr id="12" name="Calibrating card">
            <a:extLst>
              <a:ext uri="{FF2B5EF4-FFF2-40B4-BE49-F238E27FC236}">
                <a16:creationId xmlns:a16="http://schemas.microsoft.com/office/drawing/2014/main" id="{FB1EBF5C-324E-4EF8-96E9-45FE318BA503}"/>
              </a:ext>
            </a:extLst>
          </p:cNvPr>
          <p:cNvSpPr>
            <a:spLocks noGrp="1"/>
          </p:cNvSpPr>
          <p:nvPr/>
        </p:nvSpPr>
        <p:spPr>
          <a:xfrm>
            <a:off x="4380548" y="1666875"/>
            <a:ext cx="3333750" cy="3714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36" name="Calibrating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998" y="1876425"/>
            <a:ext cx="2990850" cy="2466975"/>
          </a:xfrm>
          <a:prstGeom prst="rect">
            <a:avLst/>
          </a:prstGeom>
          <a:ln w="12700">
            <a:solidFill>
              <a:srgbClr val="E0E7E6"/>
            </a:solidFill>
          </a:ln>
        </p:spPr>
      </p:pic>
      <p:sp>
        <p:nvSpPr>
          <p:cNvPr id="14" name="Calibrating caption">
            <a:extLst>
              <a:ext uri="{FF2B5EF4-FFF2-40B4-BE49-F238E27FC236}">
                <a16:creationId xmlns:a16="http://schemas.microsoft.com/office/drawing/2014/main" id="{45734F86-2A5C-4C76-8B98-4146EB9147C9}"/>
              </a:ext>
            </a:extLst>
          </p:cNvPr>
          <p:cNvSpPr>
            <a:spLocks noGrp="1"/>
          </p:cNvSpPr>
          <p:nvPr/>
        </p:nvSpPr>
        <p:spPr>
          <a:xfrm>
            <a:off x="4590098" y="4543425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8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Calibrating</a:t>
            </a:r>
            <a:endParaRPr sz="1800"/>
          </a:p>
        </p:txBody>
      </p:sp>
      <p:sp>
        <p:nvSpPr>
          <p:cNvPr id="15" name="Calibrating body">
            <a:extLst>
              <a:ext uri="{FF2B5EF4-FFF2-40B4-BE49-F238E27FC236}">
                <a16:creationId xmlns:a16="http://schemas.microsoft.com/office/drawing/2014/main" id="{E5A39CE8-95EF-46C2-883D-D89B2ADFD1B7}"/>
              </a:ext>
            </a:extLst>
          </p:cNvPr>
          <p:cNvSpPr>
            <a:spLocks noGrp="1"/>
          </p:cNvSpPr>
          <p:nvPr/>
        </p:nvSpPr>
        <p:spPr>
          <a:xfrm>
            <a:off x="4628198" y="4876800"/>
            <a:ext cx="28384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2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KungFlow is learning the user baseline before full automation.</a:t>
            </a:r>
            <a:endParaRPr sz="1200"/>
          </a:p>
        </p:txBody>
      </p:sp>
      <p:sp>
        <p:nvSpPr>
          <p:cNvPr id="16" name="Firewall active card">
            <a:extLst>
              <a:ext uri="{FF2B5EF4-FFF2-40B4-BE49-F238E27FC236}">
                <a16:creationId xmlns:a16="http://schemas.microsoft.com/office/drawing/2014/main" id="{F05582BD-BF53-4EE3-B96D-4488B2E0B3A6}"/>
              </a:ext>
            </a:extLst>
          </p:cNvPr>
          <p:cNvSpPr>
            <a:spLocks noGrp="1"/>
          </p:cNvSpPr>
          <p:nvPr/>
        </p:nvSpPr>
        <p:spPr>
          <a:xfrm>
            <a:off x="8166735" y="1666875"/>
            <a:ext cx="3333750" cy="3714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40" name="Firewall active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185" y="1876425"/>
            <a:ext cx="2990850" cy="2466975"/>
          </a:xfrm>
          <a:prstGeom prst="rect">
            <a:avLst/>
          </a:prstGeom>
          <a:ln w="12700">
            <a:solidFill>
              <a:srgbClr val="E0E7E6"/>
            </a:solidFill>
          </a:ln>
        </p:spPr>
      </p:pic>
      <p:sp>
        <p:nvSpPr>
          <p:cNvPr id="18" name="Firewall active caption">
            <a:extLst>
              <a:ext uri="{FF2B5EF4-FFF2-40B4-BE49-F238E27FC236}">
                <a16:creationId xmlns:a16="http://schemas.microsoft.com/office/drawing/2014/main" id="{A57CFD48-604D-42BF-9AC1-EC572CFE4274}"/>
              </a:ext>
            </a:extLst>
          </p:cNvPr>
          <p:cNvSpPr>
            <a:spLocks noGrp="1"/>
          </p:cNvSpPr>
          <p:nvPr/>
        </p:nvSpPr>
        <p:spPr>
          <a:xfrm>
            <a:off x="8376285" y="4543425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8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Firewall active</a:t>
            </a:r>
            <a:endParaRPr sz="1800"/>
          </a:p>
        </p:txBody>
      </p:sp>
      <p:sp>
        <p:nvSpPr>
          <p:cNvPr id="19" name="Firewall active body">
            <a:extLst>
              <a:ext uri="{FF2B5EF4-FFF2-40B4-BE49-F238E27FC236}">
                <a16:creationId xmlns:a16="http://schemas.microsoft.com/office/drawing/2014/main" id="{8792D45C-8C64-4F87-ADF3-F51ADE32BEA6}"/>
              </a:ext>
            </a:extLst>
          </p:cNvPr>
          <p:cNvSpPr>
            <a:spLocks noGrp="1"/>
          </p:cNvSpPr>
          <p:nvPr/>
        </p:nvSpPr>
        <p:spPr>
          <a:xfrm>
            <a:off x="8414385" y="4876800"/>
            <a:ext cx="28384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2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High load detected: the notification firewall protects focus.</a:t>
            </a:r>
            <a:endParaRPr sz="1200"/>
          </a:p>
        </p:txBody>
      </p:sp>
      <p:sp>
        <p:nvSpPr>
          <p:cNvPr id="20" name="Product note">
            <a:extLst>
              <a:ext uri="{FF2B5EF4-FFF2-40B4-BE49-F238E27FC236}">
                <a16:creationId xmlns:a16="http://schemas.microsoft.com/office/drawing/2014/main" id="{C43D0556-1903-43EC-BAC6-8A2029DF0834}"/>
              </a:ext>
            </a:extLst>
          </p:cNvPr>
          <p:cNvSpPr>
            <a:spLocks noGrp="1"/>
          </p:cNvSpPr>
          <p:nvPr/>
        </p:nvSpPr>
        <p:spPr>
          <a:xfrm>
            <a:off x="595884" y="5876925"/>
            <a:ext cx="11000232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7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These states are what the team will demonstrate live: open, calibrating, and firewall activation.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29062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F01E13-E30B-4B9F-BBA6-BD9FD196D7C0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</p:spPr>
        <p:txBody>
          <a:bodyPr rtlCol="0"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CC2F28-EE90-4D29-AD54-0F8F3410C936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VALIDATION</a:t>
            </a:r>
            <a:endParaRPr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0A86DD-87B6-4E40-97D5-AEB7FA718207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3000">
                <a:solidFill>
                  <a:srgbClr val="10243E"/>
                </a:solidFill>
              </a:defRPr>
            </a:pPr>
            <a:r>
              <a:rPr sz="30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Research-backed foundation + our controlled validation</a:t>
            </a:r>
            <a:endParaRPr sz="3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382F72-E317-43F0-B6EA-9112D25B3F68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0">
              <a:buNone/>
            </a:pPr>
            <a:r>
              <a:rPr sz="12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5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B4DCCF-3415-4A36-AF80-2D331573187B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38AAC971-4AD8-4F0B-A5AD-822D6EA00933}"/>
              </a:ext>
            </a:extLst>
          </p:cNvPr>
          <p:cNvSpPr>
            <a:spLocks noGrp="1"/>
          </p:cNvSpPr>
          <p:nvPr/>
        </p:nvSpPr>
        <p:spPr>
          <a:xfrm>
            <a:off x="59436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B9F8480-923B-4F63-9698-C564E4DB77A3}"/>
              </a:ext>
            </a:extLst>
          </p:cNvPr>
          <p:cNvSpPr>
            <a:spLocks noGrp="1"/>
          </p:cNvSpPr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7F1EE"/>
          </a:solidFill>
        </p:spPr>
        <p:txBody>
          <a:bodyPr rtlCol="0"/>
          <a:lstStyle/>
          <a:p>
            <a:endParaRPr/>
          </a:p>
        </p:txBody>
      </p:sp>
      <p:pic>
        <p:nvPicPr>
          <p:cNvPr id="5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29184" cy="32918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B64BCCDE-3F4E-47EA-85B7-17743B82ACBD}"/>
              </a:ext>
            </a:extLst>
          </p:cNvPr>
          <p:cNvSpPr>
            <a:spLocks noGrp="1"/>
          </p:cNvSpPr>
          <p:nvPr/>
        </p:nvSpPr>
        <p:spPr>
          <a:xfrm>
            <a:off x="850392" y="2788920"/>
            <a:ext cx="30083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3600" b="1">
                <a:solidFill>
                  <a:srgbClr val="0F8F86"/>
                </a:solidFill>
              </a:defRPr>
            </a:pPr>
            <a:r>
              <a:rPr sz="3600" b="1">
                <a:solidFill>
                  <a:srgbClr val="0F8F86"/>
                </a:solidFill>
                <a:latin typeface="Trebuchet MS"/>
                <a:ea typeface="Trebuchet MS"/>
                <a:cs typeface="Trebuchet MS"/>
              </a:rPr>
              <a:t>+165%</a:t>
            </a:r>
            <a:endParaRPr sz="48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6584C1F-228C-4D8F-9563-5C8697F4CC02}"/>
              </a:ext>
            </a:extLst>
          </p:cNvPr>
          <p:cNvSpPr>
            <a:spLocks noGrp="1"/>
          </p:cNvSpPr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650" b="1">
                <a:solidFill>
                  <a:srgbClr val="26354A"/>
                </a:solidFill>
                <a:latin typeface="Trebuchet MS"/>
                <a:ea typeface="Trebuchet MS"/>
                <a:cs typeface="Trebuchet MS"/>
              </a:rPr>
              <a:t>better task scores</a:t>
            </a:r>
            <a:endParaRPr sz="16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4D73BC0-6E42-43A3-9605-BE42319E3AA3}"/>
              </a:ext>
            </a:extLst>
          </p:cNvPr>
          <p:cNvSpPr>
            <a:spLocks noGrp="1"/>
          </p:cNvSpPr>
          <p:nvPr/>
        </p:nvSpPr>
        <p:spPr>
          <a:xfrm>
            <a:off x="868680" y="39319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once interruptions were removed</a:t>
            </a:r>
            <a:endParaRPr sz="13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D4393E8-58C9-4720-A17F-7FA2D511DDAE}"/>
              </a:ext>
            </a:extLst>
          </p:cNvPr>
          <p:cNvSpPr>
            <a:spLocks noGrp="1"/>
          </p:cNvSpPr>
          <p:nvPr/>
        </p:nvSpPr>
        <p:spPr>
          <a:xfrm>
            <a:off x="438912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6226608-53D8-4A96-AED7-C6179DEA5EE5}"/>
              </a:ext>
            </a:extLst>
          </p:cNvPr>
          <p:cNvSpPr>
            <a:spLocks noGrp="1"/>
          </p:cNvSpPr>
          <p:nvPr/>
        </p:nvSpPr>
        <p:spPr>
          <a:xfrm>
            <a:off x="4663440" y="2103120"/>
            <a:ext cx="603504" cy="603504"/>
          </a:xfrm>
          <a:prstGeom prst="ellipse">
            <a:avLst/>
          </a:prstGeom>
          <a:solidFill>
            <a:srgbClr val="E7F1EE"/>
          </a:solidFill>
        </p:spPr>
        <p:txBody>
          <a:bodyPr rtlCol="0"/>
          <a:lstStyle/>
          <a:p>
            <a:endParaRPr/>
          </a:p>
        </p:txBody>
      </p:sp>
      <p:pic>
        <p:nvPicPr>
          <p:cNvPr id="6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B2837870-56B9-4BCE-82E7-74A6955DF8A1}"/>
              </a:ext>
            </a:extLst>
          </p:cNvPr>
          <p:cNvSpPr>
            <a:spLocks noGrp="1"/>
          </p:cNvSpPr>
          <p:nvPr/>
        </p:nvSpPr>
        <p:spPr>
          <a:xfrm>
            <a:off x="4645152" y="2788920"/>
            <a:ext cx="30083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  <a:latin typeface="Trebuchet MS"/>
                <a:ea typeface="Trebuchet MS"/>
                <a:cs typeface="Trebuchet MS"/>
              </a:rPr>
              <a:t>49%</a:t>
            </a:r>
            <a:endParaRPr sz="4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DA96259-CFD2-47F6-96E8-8DEA583EDA3C}"/>
              </a:ext>
            </a:extLst>
          </p:cNvPr>
          <p:cNvSpPr>
            <a:spLocks noGrp="1"/>
          </p:cNvSpPr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650" b="1">
                <a:solidFill>
                  <a:srgbClr val="26354A"/>
                </a:solidFill>
                <a:latin typeface="Trebuchet MS"/>
                <a:ea typeface="Trebuchet MS"/>
                <a:cs typeface="Trebuchet MS"/>
              </a:rPr>
              <a:t>fewer errors missed</a:t>
            </a:r>
            <a:endParaRPr sz="165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B7E5668-1F12-4373-9FAC-F828A7DC784F}"/>
              </a:ext>
            </a:extLst>
          </p:cNvPr>
          <p:cNvSpPr>
            <a:spLocks noGrp="1"/>
          </p:cNvSpPr>
          <p:nvPr/>
        </p:nvSpPr>
        <p:spPr>
          <a:xfrm>
            <a:off x="4663440" y="39319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in the same 10-minute window</a:t>
            </a:r>
            <a:endParaRPr sz="1300"/>
          </a:p>
        </p:txBody>
      </p:sp>
      <p:sp>
        <p:nvSpPr>
          <p:cNvPr id="31" name="Task accuracy chart card">
            <a:extLst>
              <a:ext uri="{FF2B5EF4-FFF2-40B4-BE49-F238E27FC236}">
                <a16:creationId xmlns:a16="http://schemas.microsoft.com/office/drawing/2014/main" id="{DC66AA9D-B1CE-40B2-9602-A498A1E83322}"/>
              </a:ext>
            </a:extLst>
          </p:cNvPr>
          <p:cNvSpPr>
            <a:spLocks noGrp="1"/>
          </p:cNvSpPr>
          <p:nvPr/>
        </p:nvSpPr>
        <p:spPr>
          <a:xfrm>
            <a:off x="8191500" y="1828800"/>
            <a:ext cx="3400425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tlCol="0"/>
          <a:lstStyle/>
          <a:p>
            <a:endParaRPr/>
          </a:p>
        </p:txBody>
      </p:sp>
      <p:sp>
        <p:nvSpPr>
          <p:cNvPr id="32" name="Task accuracy chart title">
            <a:extLst>
              <a:ext uri="{FF2B5EF4-FFF2-40B4-BE49-F238E27FC236}">
                <a16:creationId xmlns:a16="http://schemas.microsoft.com/office/drawing/2014/main" id="{AFE68759-7F7B-4A23-B3BB-2CE102062949}"/>
              </a:ext>
            </a:extLst>
          </p:cNvPr>
          <p:cNvSpPr>
            <a:spLocks noGrp="1"/>
          </p:cNvSpPr>
          <p:nvPr/>
        </p:nvSpPr>
        <p:spPr>
          <a:xfrm>
            <a:off x="8458200" y="2000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12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Task accuracy — score out of 20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="8448675" y="2381250"/>
          <a:ext cx="2933700" cy="204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7" name="Research foundation panel">
            <a:extLst>
              <a:ext uri="{FF2B5EF4-FFF2-40B4-BE49-F238E27FC236}">
                <a16:creationId xmlns:a16="http://schemas.microsoft.com/office/drawing/2014/main" id="{E6F6100D-A4C0-4532-9904-53A211243083}"/>
              </a:ext>
            </a:extLst>
          </p:cNvPr>
          <p:cNvSpPr>
            <a:spLocks noGrp="1"/>
          </p:cNvSpPr>
          <p:nvPr/>
        </p:nvSpPr>
        <p:spPr>
          <a:xfrm>
            <a:off x="594360" y="4953000"/>
            <a:ext cx="7239000" cy="1123950"/>
          </a:xfrm>
          <a:prstGeom prst="roundRect">
            <a:avLst>
              <a:gd name="adj" fmla="val 6780"/>
            </a:avLst>
          </a:prstGeom>
          <a:solidFill>
            <a:srgbClr val="E7F1EE"/>
          </a:solidFill>
          <a:ln w="9525">
            <a:solidFill>
              <a:srgbClr val="CBE6E0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38" name="Research foundation heading">
            <a:extLst>
              <a:ext uri="{FF2B5EF4-FFF2-40B4-BE49-F238E27FC236}">
                <a16:creationId xmlns:a16="http://schemas.microsoft.com/office/drawing/2014/main" id="{6ED48655-A103-455B-A227-1508B9126DE8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buNone/>
              <a:defRPr sz="825" b="1">
                <a:solidFill>
                  <a:srgbClr val="0F8F86"/>
                </a:solidFill>
                <a:latin typeface="Trebuchet MS"/>
                <a:ea typeface="Trebuchet MS"/>
                <a:cs typeface="Trebuchet MS"/>
              </a:defRPr>
            </a:pPr>
            <a:r>
              <a:rPr sz="825" b="1">
                <a:solidFill>
                  <a:srgbClr val="0F8F86"/>
                </a:solidFill>
                <a:latin typeface="Trebuchet MS"/>
                <a:ea typeface="Trebuchet MS"/>
                <a:cs typeface="Trebuchet MS"/>
              </a:rPr>
              <a:t>RESEARCH-BACKED FOUNDATION</a:t>
            </a:r>
          </a:p>
        </p:txBody>
      </p:sp>
      <p:sp>
        <p:nvSpPr>
          <p:cNvPr id="39" name="Research foundation bullets">
            <a:extLst>
              <a:ext uri="{FF2B5EF4-FFF2-40B4-BE49-F238E27FC236}">
                <a16:creationId xmlns:a16="http://schemas.microsoft.com/office/drawing/2014/main" id="{6BB888A5-D099-495D-AB56-E0B2BC266273}"/>
              </a:ext>
            </a:extLst>
          </p:cNvPr>
          <p:cNvSpPr>
            <a:spLocks noGrp="1"/>
          </p:cNvSpPr>
          <p:nvPr/>
        </p:nvSpPr>
        <p:spPr>
          <a:xfrm>
            <a:off x="857250" y="5314950"/>
            <a:ext cx="668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buNone/>
              <a:defRPr sz="825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825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• Digital interruptions and context switching are associated with cognitive overload, stress, and reduced focus.</a:t>
            </a:r>
          </a:p>
          <a:p>
            <a:pPr algn="l" rtl="0">
              <a:buNone/>
              <a:defRPr sz="825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825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• Mouse, typing, and switching behavior can provide indicators related to cognitive load.</a:t>
            </a:r>
          </a:p>
          <a:p>
            <a:pPr algn="l" rtl="0">
              <a:buNone/>
              <a:defRPr sz="825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825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• Reducing interruptions can improve focus and task performance.</a:t>
            </a:r>
          </a:p>
        </p:txBody>
      </p:sp>
      <p:sp>
        <p:nvSpPr>
          <p:cNvPr id="40" name="Research foundation README note">
            <a:extLst>
              <a:ext uri="{FF2B5EF4-FFF2-40B4-BE49-F238E27FC236}">
                <a16:creationId xmlns:a16="http://schemas.microsoft.com/office/drawing/2014/main" id="{BF2F5588-646D-4CCA-BCBD-4DB6ED71F443}"/>
              </a:ext>
            </a:extLst>
          </p:cNvPr>
          <p:cNvSpPr>
            <a:spLocks noGrp="1"/>
          </p:cNvSpPr>
          <p:nvPr/>
        </p:nvSpPr>
        <p:spPr>
          <a:xfrm>
            <a:off x="857250" y="58388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buNone/>
              <a:defRPr sz="660" i="1">
                <a:solidFill>
                  <a:srgbClr val="5B6B7E"/>
                </a:solidFill>
                <a:latin typeface="Trebuchet MS"/>
                <a:ea typeface="Trebuchet MS"/>
                <a:cs typeface="Trebuchet MS"/>
              </a:defRPr>
            </a:pPr>
            <a:r>
              <a:rPr sz="660" i="1">
                <a:solidFill>
                  <a:srgbClr val="5B6B7E"/>
                </a:solidFill>
                <a:latin typeface="Trebuchet MS"/>
                <a:ea typeface="Trebuchet MS"/>
                <a:cs typeface="Trebuchet MS"/>
              </a:rPr>
              <a:t>Full research references are available in the project README on GitHub.</a:t>
            </a:r>
          </a:p>
        </p:txBody>
      </p:sp>
      <p:sp>
        <p:nvSpPr>
          <p:cNvPr id="41" name="Controlled pilot panel">
            <a:extLst>
              <a:ext uri="{FF2B5EF4-FFF2-40B4-BE49-F238E27FC236}">
                <a16:creationId xmlns:a16="http://schemas.microsoft.com/office/drawing/2014/main" id="{55D654B3-0C8A-4D72-90E2-CDF1F4E30BC4}"/>
              </a:ext>
            </a:extLst>
          </p:cNvPr>
          <p:cNvSpPr>
            <a:spLocks noGrp="1"/>
          </p:cNvSpPr>
          <p:nvPr/>
        </p:nvSpPr>
        <p:spPr>
          <a:xfrm>
            <a:off x="8058150" y="4953000"/>
            <a:ext cx="3533775" cy="1123950"/>
          </a:xfrm>
          <a:prstGeom prst="roundRect">
            <a:avLst>
              <a:gd name="adj" fmla="val 678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tlCol="0"/>
          <a:lstStyle/>
          <a:p>
            <a:endParaRPr/>
          </a:p>
        </p:txBody>
      </p:sp>
      <p:sp>
        <p:nvSpPr>
          <p:cNvPr id="42" name="Controlled pilot heading">
            <a:extLst>
              <a:ext uri="{FF2B5EF4-FFF2-40B4-BE49-F238E27FC236}">
                <a16:creationId xmlns:a16="http://schemas.microsoft.com/office/drawing/2014/main" id="{36D9E8A2-CF11-4859-8BFA-726451A3024B}"/>
              </a:ext>
            </a:extLst>
          </p:cNvPr>
          <p:cNvSpPr>
            <a:spLocks noGrp="1"/>
          </p:cNvSpPr>
          <p:nvPr/>
        </p:nvSpPr>
        <p:spPr>
          <a:xfrm>
            <a:off x="8343900" y="51435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buNone/>
              <a:defRPr sz="8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8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OUR CONTROLLED PILOT</a:t>
            </a:r>
          </a:p>
        </p:txBody>
      </p:sp>
      <p:sp>
        <p:nvSpPr>
          <p:cNvPr id="43" name="Controlled pilot note">
            <a:extLst>
              <a:ext uri="{FF2B5EF4-FFF2-40B4-BE49-F238E27FC236}">
                <a16:creationId xmlns:a16="http://schemas.microsoft.com/office/drawing/2014/main" id="{D6D0331A-3802-4E3C-9478-A7A773544CB5}"/>
              </a:ext>
            </a:extLst>
          </p:cNvPr>
          <p:cNvSpPr>
            <a:spLocks noGrp="1"/>
          </p:cNvSpPr>
          <p:nvPr/>
        </p:nvSpPr>
        <p:spPr>
          <a:xfrm>
            <a:off x="8343900" y="5429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buNone/>
              <a:defRPr sz="938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938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Controlled pilot, n=8, with a learning-effect control group. Larger study planned with design partners.</a:t>
            </a:r>
          </a:p>
        </p:txBody>
      </p:sp>
    </p:spTree>
    <p:extLst>
      <p:ext uri="{BB962C8B-B14F-4D97-AF65-F5344CB8AC3E}">
        <p14:creationId xmlns:p14="http://schemas.microsoft.com/office/powerpoint/2010/main" val="148080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64F2D-B95A-4B36-A808-BCC5D7669761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</p:spPr>
        <p:txBody>
          <a:bodyPr rtlCol="0"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27EAC4-F473-45E9-AF82-901752CA6BB5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TRUST BY DESIGN</a:t>
            </a:r>
            <a:endParaRPr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27D915-DABA-462C-98FF-7BF2A7E3CD1B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 rtl="0">
              <a:buNone/>
            </a:pPr>
            <a:r>
              <a:rPr sz="3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Behavioral metadata, not surveillance</a:t>
            </a:r>
            <a:endParaRPr sz="3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D5AD05-C98C-40EE-AB4F-08D0C4F4DCD0}"/>
              </a:ext>
            </a:extLst>
          </p:cNvPr>
          <p:cNvSpPr>
            <a:spLocks noGrp="1"/>
          </p:cNvSpPr>
          <p:nvPr/>
        </p:nvSpPr>
        <p:spPr>
          <a:xfrm>
            <a:off x="11322812" y="631571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0">
              <a:buNone/>
            </a:pPr>
            <a:r>
              <a:rPr sz="12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6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E62B12-D8C9-4CF2-867D-1E37E87FF293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941298C7-841E-41B2-ABA1-F7F920815438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5577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4E5E70A-090A-4CBA-B91E-52D8969EF0F9}"/>
              </a:ext>
            </a:extLst>
          </p:cNvPr>
          <p:cNvSpPr>
            <a:spLocks noGrp="1"/>
          </p:cNvSpPr>
          <p:nvPr/>
        </p:nvSpPr>
        <p:spPr>
          <a:xfrm>
            <a:off x="868680" y="19659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50" b="1" spc="200">
                <a:solidFill>
                  <a:srgbClr val="D2403B"/>
                </a:solidFill>
                <a:latin typeface="Trebuchet MS"/>
                <a:ea typeface="Trebuchet MS"/>
                <a:cs typeface="Trebuchet MS"/>
              </a:rPr>
              <a:t>KUNGFLOW NEVER SEES</a:t>
            </a:r>
            <a:endParaRPr sz="1350"/>
          </a:p>
        </p:txBody>
      </p:sp>
      <p:pic>
        <p:nvPicPr>
          <p:cNvPr id="45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377440"/>
            <a:ext cx="219456" cy="21945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0609E074-E2DC-491E-A1C9-B659918644AF}"/>
              </a:ext>
            </a:extLst>
          </p:cNvPr>
          <p:cNvSpPr>
            <a:spLocks noGrp="1"/>
          </p:cNvSpPr>
          <p:nvPr/>
        </p:nvSpPr>
        <p:spPr>
          <a:xfrm>
            <a:off x="1234440" y="233172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What you type</a:t>
            </a:r>
            <a:endParaRPr sz="15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70632"/>
            <a:ext cx="219456" cy="21945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A0FB664-B573-4D8D-93A1-03AE040EB280}"/>
              </a:ext>
            </a:extLst>
          </p:cNvPr>
          <p:cNvSpPr>
            <a:spLocks noGrp="1"/>
          </p:cNvSpPr>
          <p:nvPr/>
        </p:nvSpPr>
        <p:spPr>
          <a:xfrm>
            <a:off x="1234440" y="272491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Websites you visit</a:t>
            </a:r>
            <a:endParaRPr sz="1500"/>
          </a:p>
        </p:txBody>
      </p:sp>
      <p:pic>
        <p:nvPicPr>
          <p:cNvPr id="49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63824"/>
            <a:ext cx="219456" cy="219456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78F80BCC-F907-4421-A587-E4533931C1FC}"/>
              </a:ext>
            </a:extLst>
          </p:cNvPr>
          <p:cNvSpPr>
            <a:spLocks noGrp="1"/>
          </p:cNvSpPr>
          <p:nvPr/>
        </p:nvSpPr>
        <p:spPr>
          <a:xfrm>
            <a:off x="1234440" y="3118104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Documents you open</a:t>
            </a:r>
            <a:endParaRPr sz="1500"/>
          </a:p>
        </p:txBody>
      </p:sp>
      <p:pic>
        <p:nvPicPr>
          <p:cNvPr id="51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57016"/>
            <a:ext cx="219456" cy="21945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82E185EA-743C-4562-B76C-2E376ACB80E9}"/>
              </a:ext>
            </a:extLst>
          </p:cNvPr>
          <p:cNvSpPr>
            <a:spLocks noGrp="1"/>
          </p:cNvSpPr>
          <p:nvPr/>
        </p:nvSpPr>
        <p:spPr>
          <a:xfrm>
            <a:off x="1234440" y="3511296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Screenshots — of anything, ever</a:t>
            </a:r>
            <a:endParaRPr sz="150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BF5799E2-ADF0-48B1-91BE-790DF42171F3}"/>
              </a:ext>
            </a:extLst>
          </p:cNvPr>
          <p:cNvSpPr>
            <a:spLocks noGrp="1"/>
          </p:cNvSpPr>
          <p:nvPr/>
        </p:nvSpPr>
        <p:spPr>
          <a:xfrm>
            <a:off x="868680" y="4069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50" b="1" spc="200">
                <a:solidFill>
                  <a:srgbClr val="1FA055"/>
                </a:solidFill>
                <a:latin typeface="Trebuchet MS"/>
                <a:ea typeface="Trebuchet MS"/>
                <a:cs typeface="Trebuchet MS"/>
              </a:rPr>
              <a:t>IT ONLY SENSES RHYTHM</a:t>
            </a:r>
            <a:endParaRPr sz="1350"/>
          </a:p>
        </p:txBody>
      </p:sp>
      <p:pic>
        <p:nvPicPr>
          <p:cNvPr id="54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498848"/>
            <a:ext cx="219456" cy="219456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0BA0735C-5C54-4157-A5C9-CD040E2B7A1E}"/>
              </a:ext>
            </a:extLst>
          </p:cNvPr>
          <p:cNvSpPr>
            <a:spLocks noGrp="1"/>
          </p:cNvSpPr>
          <p:nvPr/>
        </p:nvSpPr>
        <p:spPr>
          <a:xfrm>
            <a:off x="1234440" y="4434840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Typing behavior, mouse movement, and app/window switching metadata</a:t>
            </a:r>
            <a:endParaRPr sz="1400"/>
          </a:p>
        </p:txBody>
      </p:sp>
      <p:pic>
        <p:nvPicPr>
          <p:cNvPr id="56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956048"/>
            <a:ext cx="219456" cy="219456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45BBE0A8-667D-4C58-BE4D-5AC1FAD11CC0}"/>
              </a:ext>
            </a:extLst>
          </p:cNvPr>
          <p:cNvSpPr>
            <a:spLocks noGrp="1"/>
          </p:cNvSpPr>
          <p:nvPr/>
        </p:nvSpPr>
        <p:spPr>
          <a:xfrm>
            <a:off x="1234440" y="4892040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All signals are anonymized and aggregated — managers see team trends only, never an individual's score.</a:t>
            </a:r>
            <a:endParaRPr sz="1400"/>
          </a:p>
        </p:txBody>
      </p:sp>
      <p:pic>
        <p:nvPicPr>
          <p:cNvPr id="5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13248"/>
            <a:ext cx="219456" cy="219456"/>
          </a:xfrm>
          <a:prstGeom prst="rect">
            <a:avLst/>
          </a:prstGeom>
        </p:spPr>
      </p:pic>
      <p:sp>
        <p:nvSpPr>
          <p:cNvPr id="24" name="Text 14">
            <a:extLst>
              <a:ext uri="{FF2B5EF4-FFF2-40B4-BE49-F238E27FC236}">
                <a16:creationId xmlns:a16="http://schemas.microsoft.com/office/drawing/2014/main" id="{55663765-567C-4330-9265-8BF5FCB725B1}"/>
              </a:ext>
            </a:extLst>
          </p:cNvPr>
          <p:cNvSpPr>
            <a:spLocks noGrp="1"/>
          </p:cNvSpPr>
          <p:nvPr/>
        </p:nvSpPr>
        <p:spPr>
          <a:xfrm>
            <a:off x="1234440" y="5349240"/>
            <a:ext cx="4800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Every employee can pause data collection. One toggle, no questions.</a:t>
            </a:r>
            <a:endParaRPr sz="140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AB5317CD-D9E4-441F-9928-F9273B207033}"/>
              </a:ext>
            </a:extLst>
          </p:cNvPr>
          <p:cNvSpPr>
            <a:spLocks noGrp="1"/>
          </p:cNvSpPr>
          <p:nvPr/>
        </p:nvSpPr>
        <p:spPr>
          <a:xfrm>
            <a:off x="6446520" y="178308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BEAE9"/>
          </a:solidFill>
          <a:ln w="9525">
            <a:solidFill>
              <a:srgbClr val="FBEAE9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6EE2D5B6-2CB7-4630-BBED-CDFF8AF3EFFD}"/>
              </a:ext>
            </a:extLst>
          </p:cNvPr>
          <p:cNvSpPr>
            <a:spLocks noGrp="1"/>
          </p:cNvSpPr>
          <p:nvPr/>
        </p:nvSpPr>
        <p:spPr>
          <a:xfrm>
            <a:off x="6720840" y="2011680"/>
            <a:ext cx="461772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3400" b="1">
                <a:solidFill>
                  <a:srgbClr val="D2403B"/>
                </a:solidFill>
                <a:latin typeface="Trebuchet MS"/>
                <a:ea typeface="Trebuchet MS"/>
                <a:cs typeface="Trebuchet MS"/>
              </a:rPr>
              <a:t>56% vs 40%</a:t>
            </a:r>
            <a:endParaRPr sz="3400"/>
          </a:p>
          <a:p>
            <a:pPr marL="0" indent="0" algn="l" rtl="0">
              <a:buNone/>
            </a:pPr>
            <a:r>
              <a:rPr sz="150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of digitally monitored employees feel tense or stressed at work, compared to non-monitored peers (APA, Work in America 2023).</a:t>
            </a:r>
            <a:endParaRPr sz="340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17E89440-4BEC-4DE8-BA8A-E3C4D2147DB5}"/>
              </a:ext>
            </a:extLst>
          </p:cNvPr>
          <p:cNvSpPr>
            <a:spLocks noGrp="1"/>
          </p:cNvSpPr>
          <p:nvPr/>
        </p:nvSpPr>
        <p:spPr>
          <a:xfrm>
            <a:off x="6446520" y="4251960"/>
            <a:ext cx="5166360" cy="1737360"/>
          </a:xfrm>
          <a:prstGeom prst="roundRect">
            <a:avLst>
              <a:gd name="adj" fmla="val 473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2C39676A-DCDC-4C56-8CEB-5A5A543B33FB}"/>
              </a:ext>
            </a:extLst>
          </p:cNvPr>
          <p:cNvSpPr>
            <a:spLocks noGrp="1"/>
          </p:cNvSpPr>
          <p:nvPr/>
        </p:nvSpPr>
        <p:spPr>
          <a:xfrm>
            <a:off x="6720840" y="4389120"/>
            <a:ext cx="46177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50">
                <a:solidFill>
                  <a:srgbClr val="C9D6E4"/>
                </a:solidFill>
                <a:latin typeface="Calibri"/>
                <a:ea typeface="Calibri"/>
                <a:cs typeface="Calibri"/>
              </a:rPr>
              <a:t>The data belongs to the employee and works for the employee. KungFlow is a perk, not a watchdog.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57189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3A04D1-7656-4626-AB1F-8E78AA728A8F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</p:spPr>
        <p:txBody>
          <a:bodyPr rtlCol="0"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5A36EA-CDCE-49C6-A503-22144EA4E5C9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MARKET · ALTERNATIVES · DIFFERENTIATION</a:t>
            </a:r>
            <a:endParaRPr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2EC415-9983-44DA-A4FF-D297CC8B5B22}"/>
              </a:ext>
            </a:extLst>
          </p:cNvPr>
          <p:cNvSpPr>
            <a:spLocks noGrp="1"/>
          </p:cNvSpPr>
          <p:nvPr/>
        </p:nvSpPr>
        <p:spPr>
          <a:xfrm>
            <a:off x="594360" y="969264"/>
            <a:ext cx="10740390" cy="5577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3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The missing layer is automatic, real-time protection</a:t>
            </a:r>
            <a:endParaRPr sz="3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825963-72D4-43C6-90C2-61AAAE76D373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rtl="0">
              <a:buNone/>
            </a:pPr>
            <a:r>
              <a:rPr sz="12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7</a:t>
            </a:r>
            <a:endParaRPr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13E94E-D6A3-48A0-B088-EB56A76F49FE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AFE900EF-D1B0-40CE-9EB4-2C26E7EBB268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166B5AA-1F26-4550-B472-92D094AFDF3E}"/>
              </a:ext>
            </a:extLst>
          </p:cNvPr>
          <p:cNvSpPr>
            <a:spLocks noGrp="1"/>
          </p:cNvSpPr>
          <p:nvPr/>
        </p:nvSpPr>
        <p:spPr>
          <a:xfrm>
            <a:off x="868680" y="193852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50" b="1" spc="200">
                <a:solidFill>
                  <a:srgbClr val="0E8F84"/>
                </a:solidFill>
                <a:latin typeface="Trebuchet MS"/>
                <a:ea typeface="Trebuchet MS"/>
                <a:cs typeface="Trebuchet MS"/>
              </a:rPr>
              <a:t>TAM</a:t>
            </a:r>
            <a:endParaRPr sz="13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9C7F19F-737D-47B3-A3F8-9486F3FB2196}"/>
              </a:ext>
            </a:extLst>
          </p:cNvPr>
          <p:cNvSpPr>
            <a:spLocks noGrp="1"/>
          </p:cNvSpPr>
          <p:nvPr/>
        </p:nvSpPr>
        <p:spPr>
          <a:xfrm>
            <a:off x="868680" y="2212848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42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1.2B</a:t>
            </a:r>
            <a:endParaRPr sz="4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7128C4F-C7EE-4888-A0DA-4ADEF23CC0F2}"/>
              </a:ext>
            </a:extLst>
          </p:cNvPr>
          <p:cNvSpPr>
            <a:spLocks noGrp="1"/>
          </p:cNvSpPr>
          <p:nvPr/>
        </p:nvSpPr>
        <p:spPr>
          <a:xfrm>
            <a:off x="868680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knowledge workers worldwide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95B7DB8-C20A-4786-A635-82A0E93D6D08}"/>
              </a:ext>
            </a:extLst>
          </p:cNvPr>
          <p:cNvSpPr>
            <a:spLocks noGrp="1"/>
          </p:cNvSpPr>
          <p:nvPr/>
        </p:nvSpPr>
        <p:spPr>
          <a:xfrm>
            <a:off x="4416552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1293627-C6FB-4191-BAE4-6B5F5209DB5C}"/>
              </a:ext>
            </a:extLst>
          </p:cNvPr>
          <p:cNvSpPr>
            <a:spLocks noGrp="1"/>
          </p:cNvSpPr>
          <p:nvPr/>
        </p:nvSpPr>
        <p:spPr>
          <a:xfrm>
            <a:off x="4690872" y="193852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50" b="1" spc="2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SAM</a:t>
            </a:r>
            <a:endParaRPr sz="13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091FE9D-F1C6-4A5F-8538-CE0728DFC92E}"/>
              </a:ext>
            </a:extLst>
          </p:cNvPr>
          <p:cNvSpPr>
            <a:spLocks noGrp="1"/>
          </p:cNvSpPr>
          <p:nvPr/>
        </p:nvSpPr>
        <p:spPr>
          <a:xfrm>
            <a:off x="4690872" y="2212848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42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400K</a:t>
            </a:r>
            <a:endParaRPr sz="42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55A9E78-6C99-4A0E-B8E7-103FF43F98C1}"/>
              </a:ext>
            </a:extLst>
          </p:cNvPr>
          <p:cNvSpPr>
            <a:spLocks noGrp="1"/>
          </p:cNvSpPr>
          <p:nvPr/>
        </p:nvSpPr>
        <p:spPr>
          <a:xfrm>
            <a:off x="4690872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tech workers in Israel — our beachhead</a:t>
            </a:r>
            <a:endParaRPr sz="14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A3525A6-4CE6-466C-81A4-CE16AB915EC4}"/>
              </a:ext>
            </a:extLst>
          </p:cNvPr>
          <p:cNvSpPr>
            <a:spLocks noGrp="1"/>
          </p:cNvSpPr>
          <p:nvPr/>
        </p:nvSpPr>
        <p:spPr>
          <a:xfrm>
            <a:off x="8238744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1AF60E3-AA2D-42E9-BD49-40EBFB5DB168}"/>
              </a:ext>
            </a:extLst>
          </p:cNvPr>
          <p:cNvSpPr>
            <a:spLocks noGrp="1"/>
          </p:cNvSpPr>
          <p:nvPr/>
        </p:nvSpPr>
        <p:spPr>
          <a:xfrm>
            <a:off x="8513064" y="193852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350" b="1" spc="200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SOM Y1</a:t>
            </a:r>
            <a:endParaRPr sz="13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85FADF7-4295-4359-9758-85D2D7DAC32D}"/>
              </a:ext>
            </a:extLst>
          </p:cNvPr>
          <p:cNvSpPr>
            <a:spLocks noGrp="1"/>
          </p:cNvSpPr>
          <p:nvPr/>
        </p:nvSpPr>
        <p:spPr>
          <a:xfrm>
            <a:off x="8513064" y="2212848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42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2,500</a:t>
            </a:r>
            <a:endParaRPr sz="4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47D1818-4922-494D-B79B-E37B9269E274}"/>
              </a:ext>
            </a:extLst>
          </p:cNvPr>
          <p:cNvSpPr>
            <a:spLocks noGrp="1"/>
          </p:cNvSpPr>
          <p:nvPr/>
        </p:nvSpPr>
        <p:spPr>
          <a:xfrm>
            <a:off x="8513064" y="2971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users across 10 mid-market companies</a:t>
            </a:r>
            <a:endParaRPr sz="14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12ED1D6-0478-4C8F-BD45-A4F993AA1B20}"/>
              </a:ext>
            </a:extLst>
          </p:cNvPr>
          <p:cNvSpPr>
            <a:spLocks noGrp="1"/>
          </p:cNvSpPr>
          <p:nvPr/>
        </p:nvSpPr>
        <p:spPr>
          <a:xfrm>
            <a:off x="763524" y="3977640"/>
            <a:ext cx="110002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 rtlCol="0"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3EFBA0D-C264-4AE9-BCBB-0A24F0C5233D}"/>
              </a:ext>
            </a:extLst>
          </p:cNvPr>
          <p:cNvSpPr>
            <a:spLocks noGrp="1"/>
          </p:cNvSpPr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6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Acts automatically, in real time?</a:t>
            </a:r>
            <a:endParaRPr sz="16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9451E3D-9849-4165-A560-487A74096976}"/>
              </a:ext>
            </a:extLst>
          </p:cNvPr>
          <p:cNvSpPr>
            <a:spLocks noGrp="1"/>
          </p:cNvSpPr>
          <p:nvPr/>
        </p:nvSpPr>
        <p:spPr>
          <a:xfrm>
            <a:off x="86868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BF3568F-1216-41FE-AE72-19A0CE2D208C}"/>
              </a:ext>
            </a:extLst>
          </p:cNvPr>
          <p:cNvSpPr>
            <a:spLocks noGrp="1"/>
          </p:cNvSpPr>
          <p:nvPr/>
        </p:nvSpPr>
        <p:spPr>
          <a:xfrm>
            <a:off x="960120" y="4663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3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RescueTime</a:t>
            </a:r>
            <a:endParaRPr sz="1300"/>
          </a:p>
        </p:txBody>
      </p:sp>
      <p:pic>
        <p:nvPicPr>
          <p:cNvPr id="7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001768"/>
            <a:ext cx="274320" cy="274320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33FB9F59-D348-4860-BFC3-5523F9060221}"/>
              </a:ext>
            </a:extLst>
          </p:cNvPr>
          <p:cNvSpPr>
            <a:spLocks noGrp="1"/>
          </p:cNvSpPr>
          <p:nvPr/>
        </p:nvSpPr>
        <p:spPr>
          <a:xfrm>
            <a:off x="941832" y="530352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reports after the fact</a:t>
            </a:r>
            <a:endParaRPr sz="105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FCFFEDA-01DC-40D4-A56A-F11CC03D27C5}"/>
              </a:ext>
            </a:extLst>
          </p:cNvPr>
          <p:cNvSpPr>
            <a:spLocks noGrp="1"/>
          </p:cNvSpPr>
          <p:nvPr/>
        </p:nvSpPr>
        <p:spPr>
          <a:xfrm>
            <a:off x="306324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269AF91-4366-4A45-ADFE-0DFB07B059CD}"/>
              </a:ext>
            </a:extLst>
          </p:cNvPr>
          <p:cNvSpPr>
            <a:spLocks noGrp="1"/>
          </p:cNvSpPr>
          <p:nvPr/>
        </p:nvSpPr>
        <p:spPr>
          <a:xfrm>
            <a:off x="3154680" y="4663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3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Calm for Business</a:t>
            </a:r>
            <a:endParaRPr sz="1300"/>
          </a:p>
        </p:txBody>
      </p:sp>
      <p:pic>
        <p:nvPicPr>
          <p:cNvPr id="74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001768"/>
            <a:ext cx="274320" cy="274320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A155332A-15FD-4E50-840C-DBFF26D855DF}"/>
              </a:ext>
            </a:extLst>
          </p:cNvPr>
          <p:cNvSpPr>
            <a:spLocks noGrp="1"/>
          </p:cNvSpPr>
          <p:nvPr/>
        </p:nvSpPr>
        <p:spPr>
          <a:xfrm>
            <a:off x="3136392" y="530352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outside the workflow</a:t>
            </a:r>
            <a:endParaRPr sz="105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8C1900CF-F3B6-4C64-A6B8-6D7919C796D6}"/>
              </a:ext>
            </a:extLst>
          </p:cNvPr>
          <p:cNvSpPr>
            <a:spLocks noGrp="1"/>
          </p:cNvSpPr>
          <p:nvPr/>
        </p:nvSpPr>
        <p:spPr>
          <a:xfrm>
            <a:off x="525780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FE4D3870-5090-444E-9BFF-295CB8299470}"/>
              </a:ext>
            </a:extLst>
          </p:cNvPr>
          <p:cNvSpPr>
            <a:spLocks noGrp="1"/>
          </p:cNvSpPr>
          <p:nvPr/>
        </p:nvSpPr>
        <p:spPr>
          <a:xfrm>
            <a:off x="5349240" y="4663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3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MS Viva Insights</a:t>
            </a:r>
            <a:endParaRPr sz="1300"/>
          </a:p>
        </p:txBody>
      </p:sp>
      <p:pic>
        <p:nvPicPr>
          <p:cNvPr id="78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001768"/>
            <a:ext cx="274320" cy="274320"/>
          </a:xfrm>
          <a:prstGeom prst="rect">
            <a:avLst/>
          </a:prstGeom>
        </p:spPr>
      </p:pic>
      <p:sp>
        <p:nvSpPr>
          <p:cNvPr id="33" name="Text 27">
            <a:extLst>
              <a:ext uri="{FF2B5EF4-FFF2-40B4-BE49-F238E27FC236}">
                <a16:creationId xmlns:a16="http://schemas.microsoft.com/office/drawing/2014/main" id="{2B9CFB4F-6372-4EE8-854A-8AA107A4B4E5}"/>
              </a:ext>
            </a:extLst>
          </p:cNvPr>
          <p:cNvSpPr>
            <a:spLocks noGrp="1"/>
          </p:cNvSpPr>
          <p:nvPr/>
        </p:nvSpPr>
        <p:spPr>
          <a:xfrm>
            <a:off x="5330952" y="530352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org dashboards only</a:t>
            </a:r>
            <a:endParaRPr sz="105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7472D891-C0AD-4878-8297-61FB061A6672}"/>
              </a:ext>
            </a:extLst>
          </p:cNvPr>
          <p:cNvSpPr>
            <a:spLocks noGrp="1"/>
          </p:cNvSpPr>
          <p:nvPr/>
        </p:nvSpPr>
        <p:spPr>
          <a:xfrm>
            <a:off x="745236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2FFDB5AC-4AF8-405B-BE50-D53D71E91D95}"/>
              </a:ext>
            </a:extLst>
          </p:cNvPr>
          <p:cNvSpPr>
            <a:spLocks noGrp="1"/>
          </p:cNvSpPr>
          <p:nvPr/>
        </p:nvSpPr>
        <p:spPr>
          <a:xfrm>
            <a:off x="7543800" y="4663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3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Built-in DND</a:t>
            </a:r>
            <a:endParaRPr sz="1300"/>
          </a:p>
        </p:txBody>
      </p:sp>
      <p:pic>
        <p:nvPicPr>
          <p:cNvPr id="82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01768"/>
            <a:ext cx="274320" cy="274320"/>
          </a:xfrm>
          <a:prstGeom prst="rect">
            <a:avLst/>
          </a:prstGeom>
        </p:spPr>
      </p:pic>
      <p:sp>
        <p:nvSpPr>
          <p:cNvPr id="37" name="Text 30">
            <a:extLst>
              <a:ext uri="{FF2B5EF4-FFF2-40B4-BE49-F238E27FC236}">
                <a16:creationId xmlns:a16="http://schemas.microsoft.com/office/drawing/2014/main" id="{8D69C8A2-D70B-4B23-85A7-285D780DE3ED}"/>
              </a:ext>
            </a:extLst>
          </p:cNvPr>
          <p:cNvSpPr>
            <a:spLocks noGrp="1"/>
          </p:cNvSpPr>
          <p:nvPr/>
        </p:nvSpPr>
        <p:spPr>
          <a:xfrm>
            <a:off x="7525512" y="530352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5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needs the user to act</a:t>
            </a:r>
            <a:endParaRPr sz="105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1DF211BE-2CB8-450F-AB9E-6143DB6DB7B2}"/>
              </a:ext>
            </a:extLst>
          </p:cNvPr>
          <p:cNvSpPr>
            <a:spLocks noGrp="1"/>
          </p:cNvSpPr>
          <p:nvPr/>
        </p:nvSpPr>
        <p:spPr>
          <a:xfrm>
            <a:off x="964692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E8F84"/>
          </a:solidFill>
          <a:ln w="12700">
            <a:solidFill>
              <a:srgbClr val="0B6E66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D6C6248-04AF-4767-ABB6-5E8472A81353}"/>
              </a:ext>
            </a:extLst>
          </p:cNvPr>
          <p:cNvSpPr>
            <a:spLocks noGrp="1"/>
          </p:cNvSpPr>
          <p:nvPr/>
        </p:nvSpPr>
        <p:spPr>
          <a:xfrm>
            <a:off x="9738360" y="46634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3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KungFlow</a:t>
            </a:r>
            <a:endParaRPr sz="1300"/>
          </a:p>
        </p:txBody>
      </p:sp>
      <p:pic>
        <p:nvPicPr>
          <p:cNvPr id="8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5001768"/>
            <a:ext cx="274320" cy="274320"/>
          </a:xfrm>
          <a:prstGeom prst="rect">
            <a:avLst/>
          </a:prstGeom>
        </p:spPr>
      </p:pic>
      <p:sp>
        <p:nvSpPr>
          <p:cNvPr id="41" name="Text 33">
            <a:extLst>
              <a:ext uri="{FF2B5EF4-FFF2-40B4-BE49-F238E27FC236}">
                <a16:creationId xmlns:a16="http://schemas.microsoft.com/office/drawing/2014/main" id="{03902B03-BDF9-4986-BE63-7CA01CEBA646}"/>
              </a:ext>
            </a:extLst>
          </p:cNvPr>
          <p:cNvSpPr>
            <a:spLocks noGrp="1"/>
          </p:cNvSpPr>
          <p:nvPr/>
        </p:nvSpPr>
        <p:spPr>
          <a:xfrm>
            <a:off x="9720072" y="530352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50">
                <a:solidFill>
                  <a:srgbClr val="DDF3F0"/>
                </a:solidFill>
                <a:latin typeface="Calibri"/>
                <a:ea typeface="Calibri"/>
                <a:cs typeface="Calibri"/>
              </a:rPr>
              <a:t>detects &amp; protects on its own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13118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408FB-3EEA-4A65-8E26-2B936E2671F9}"/>
              </a:ext>
            </a:extLst>
          </p:cNvPr>
          <p:cNvSpPr>
            <a:spLocks noGrp="1"/>
          </p:cNvSpPr>
          <p:nvPr/>
        </p:nvSpPr>
        <p:spPr>
          <a:xfrm>
            <a:off x="824230" y="361188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400" b="1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6A6EF-2007-4CCA-AC9B-CB438A7E3311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38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Business and technology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08DC5-68AE-4566-A056-7AB873D34F38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200" b="0">
                <a:solidFill>
                  <a:srgbClr val="5B6B7E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C7BF31-D97F-4F8A-A3C1-D5366DBDE4F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7A878C-0D96-4A21-9DAA-91551579373C}"/>
              </a:ext>
            </a:extLst>
          </p:cNvPr>
          <p:cNvSpPr>
            <a:spLocks noGrp="1"/>
          </p:cNvSpPr>
          <p:nvPr/>
        </p:nvSpPr>
        <p:spPr>
          <a:xfrm>
            <a:off x="868680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100" b="1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BUSINESS ·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CCA20-1242-4AE8-8609-561DA6B4E921}"/>
              </a:ext>
            </a:extLst>
          </p:cNvPr>
          <p:cNvSpPr>
            <a:spLocks noGrp="1"/>
          </p:cNvSpPr>
          <p:nvPr/>
        </p:nvSpPr>
        <p:spPr>
          <a:xfrm>
            <a:off x="868680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7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Design partners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A0E9C-2095-47F1-B24D-A9DF5F46962C}"/>
              </a:ext>
            </a:extLst>
          </p:cNvPr>
          <p:cNvSpPr>
            <a:spLocks noGrp="1"/>
          </p:cNvSpPr>
          <p:nvPr/>
        </p:nvSpPr>
        <p:spPr>
          <a:xfrm>
            <a:off x="868680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250" b="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Start with design partners from the team network to validate usage and collect feedback.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997298-7E7C-4F0D-8A91-74B508B17D20}"/>
              </a:ext>
            </a:extLst>
          </p:cNvPr>
          <p:cNvSpPr>
            <a:spLocks noGrp="1"/>
          </p:cNvSpPr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640EC-C16F-42B1-B8D5-956F6B38332E}"/>
              </a:ext>
            </a:extLst>
          </p:cNvPr>
          <p:cNvSpPr>
            <a:spLocks noGrp="1"/>
          </p:cNvSpPr>
          <p:nvPr/>
        </p:nvSpPr>
        <p:spPr>
          <a:xfrm>
            <a:off x="3721608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100" b="1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BUSINESS ·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26B0F-071F-4714-AD3B-0E4AC67289AD}"/>
              </a:ext>
            </a:extLst>
          </p:cNvPr>
          <p:cNvSpPr>
            <a:spLocks noGrp="1"/>
          </p:cNvSpPr>
          <p:nvPr/>
        </p:nvSpPr>
        <p:spPr>
          <a:xfrm>
            <a:off x="3721608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7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Founder-led sales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889862-F273-4080-81EA-0065E5F7C4E0}"/>
              </a:ext>
            </a:extLst>
          </p:cNvPr>
          <p:cNvSpPr>
            <a:spLocks noGrp="1"/>
          </p:cNvSpPr>
          <p:nvPr/>
        </p:nvSpPr>
        <p:spPr>
          <a:xfrm>
            <a:off x="3721608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250" b="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Direct outreach to VP R&amp;D and VP People at Israeli tech companies.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FC9FDE-AA88-4F68-904F-E5921B4431DF}"/>
              </a:ext>
            </a:extLst>
          </p:cNvPr>
          <p:cNvSpPr>
            <a:spLocks noGrp="1"/>
          </p:cNvSpPr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25CAB-6A4F-438F-A728-98AEFF6A595C}"/>
              </a:ext>
            </a:extLst>
          </p:cNvPr>
          <p:cNvSpPr>
            <a:spLocks noGrp="1"/>
          </p:cNvSpPr>
          <p:nvPr/>
        </p:nvSpPr>
        <p:spPr>
          <a:xfrm>
            <a:off x="6574536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100" b="1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BUSINESS ·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91F88-7728-4F48-A8F2-B5072666FE29}"/>
              </a:ext>
            </a:extLst>
          </p:cNvPr>
          <p:cNvSpPr>
            <a:spLocks noGrp="1"/>
          </p:cNvSpPr>
          <p:nvPr/>
        </p:nvSpPr>
        <p:spPr>
          <a:xfrm>
            <a:off x="6574536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7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Scale outbound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1A3F6-2591-4EFE-B6D3-3AB23C9B6071}"/>
              </a:ext>
            </a:extLst>
          </p:cNvPr>
          <p:cNvSpPr>
            <a:spLocks noGrp="1"/>
          </p:cNvSpPr>
          <p:nvPr/>
        </p:nvSpPr>
        <p:spPr>
          <a:xfrm>
            <a:off x="6574536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250" b="0">
                <a:solidFill>
                  <a:srgbClr val="26354A"/>
                </a:solidFill>
                <a:latin typeface="Calibri"/>
                <a:ea typeface="Calibri"/>
                <a:cs typeface="Calibri"/>
              </a:rPr>
              <a:t>Scale outbound and publish a measured case study with design partners.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72195FD-E1D5-4F96-A35F-97382373A590}"/>
              </a:ext>
            </a:extLst>
          </p:cNvPr>
          <p:cNvSpPr>
            <a:spLocks noGrp="1"/>
          </p:cNvSpPr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3F33B9-06E6-4BB0-A53C-87C3ED280F56}"/>
              </a:ext>
            </a:extLst>
          </p:cNvPr>
          <p:cNvSpPr>
            <a:spLocks noGrp="1"/>
          </p:cNvSpPr>
          <p:nvPr/>
        </p:nvSpPr>
        <p:spPr>
          <a:xfrm>
            <a:off x="9427464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TECH / PRODUCT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1771FF-A9B9-4AB2-AAB4-265A1BB7DF7D}"/>
              </a:ext>
            </a:extLst>
          </p:cNvPr>
          <p:cNvSpPr>
            <a:spLocks noGrp="1"/>
          </p:cNvSpPr>
          <p:nvPr/>
        </p:nvSpPr>
        <p:spPr>
          <a:xfrm>
            <a:off x="9427464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7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Scale &amp; validate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5DCC2-FEF0-406A-8E72-9917C46347DA}"/>
              </a:ext>
            </a:extLst>
          </p:cNvPr>
          <p:cNvSpPr>
            <a:spLocks noGrp="1"/>
          </p:cNvSpPr>
          <p:nvPr/>
        </p:nvSpPr>
        <p:spPr>
          <a:xfrm>
            <a:off x="9427464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 rtl="0">
              <a:buNone/>
            </a:pPr>
            <a:r>
              <a:rPr sz="1250" b="0">
                <a:solidFill>
                  <a:srgbClr val="CFD8E3"/>
                </a:solidFill>
                <a:latin typeface="Calibri"/>
                <a:ea typeface="Calibri"/>
                <a:cs typeface="Calibri"/>
              </a:rPr>
              <a:t>Scale &amp; v2 development. Larger study / validation with design partners.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DDFA8A3-072D-488C-B80E-40BB13F75899}"/>
              </a:ext>
            </a:extLst>
          </p:cNvPr>
          <p:cNvSpPr>
            <a:spLocks noGrp="1"/>
          </p:cNvSpPr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A9CD39-94BF-48DA-AF1F-E4BF5D503CF6}"/>
              </a:ext>
            </a:extLst>
          </p:cNvPr>
          <p:cNvSpPr>
            <a:spLocks noGrp="1"/>
          </p:cNvSpPr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 rtl="0">
              <a:buNone/>
            </a:pPr>
            <a:r>
              <a:rPr sz="130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Next step: prove the product in real teams, improve the prototype, and validate the focus-protection workflow.</a:t>
            </a:r>
          </a:p>
        </p:txBody>
      </p:sp>
      <p:sp>
        <p:nvSpPr>
          <p:cNvPr id="24" name="Header dot">
            <a:extLst>
              <a:ext uri="{FF2B5EF4-FFF2-40B4-BE49-F238E27FC236}">
                <a16:creationId xmlns:a16="http://schemas.microsoft.com/office/drawing/2014/main" id="{35BE7AA1-150B-4166-8318-C48048422376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F8F86"/>
          </a:solidFill>
          <a:ln w="0">
            <a:solidFill>
              <a:srgbClr val="0F8F86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220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>
            <a:extLst>
              <a:ext uri="{FF2B5EF4-FFF2-40B4-BE49-F238E27FC236}">
                <a16:creationId xmlns:a16="http://schemas.microsoft.com/office/drawing/2014/main" id="{F9FB2688-8F04-452B-AB29-74414C08BF58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A67010B-DB6A-46D7-A9C8-83DCBB3E55CA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HOW WE DO IT</a:t>
            </a:r>
            <a:endParaRPr sz="14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F697AA9-C098-465B-B5F8-DC9C78F87662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2925">
                <a:solidFill>
                  <a:srgbClr val="10243E"/>
                </a:solidFill>
              </a:defRPr>
            </a:pPr>
            <a:r>
              <a:rPr sz="2925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Research-backed signals and personalized scoring</a:t>
            </a:r>
            <a:endParaRPr sz="300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C0337E1D-49BC-44FE-B055-E741EDF01ECB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0">
              <a:buNone/>
            </a:pPr>
            <a:r>
              <a:rPr sz="1600" b="1">
                <a:solidFill>
                  <a:srgbClr val="7A8A9C"/>
                </a:solidFill>
                <a:latin typeface="Trebuchet MS"/>
                <a:ea typeface="Trebuchet MS"/>
                <a:cs typeface="Trebuchet MS"/>
              </a:rPr>
              <a:t>9</a:t>
            </a:r>
            <a:endParaRPr sz="1600"/>
          </a:p>
        </p:txBody>
      </p:sp>
      <p:sp>
        <p:nvSpPr>
          <p:cNvPr id="6" name="Logo card">
            <a:extLst>
              <a:ext uri="{FF2B5EF4-FFF2-40B4-BE49-F238E27FC236}">
                <a16:creationId xmlns:a16="http://schemas.microsoft.com/office/drawing/2014/main" id="{BF96CDA8-1F3A-40D9-8D1E-8DFB44EFC624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40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Mouse movement card">
            <a:extLst>
              <a:ext uri="{FF2B5EF4-FFF2-40B4-BE49-F238E27FC236}">
                <a16:creationId xmlns:a16="http://schemas.microsoft.com/office/drawing/2014/main" id="{DEE0EE1C-4CC7-4F74-AECA-FFC145F06BF3}"/>
              </a:ext>
            </a:extLst>
          </p:cNvPr>
          <p:cNvSpPr>
            <a:spLocks noGrp="1"/>
          </p:cNvSpPr>
          <p:nvPr/>
        </p:nvSpPr>
        <p:spPr>
          <a:xfrm>
            <a:off x="59436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9" name="Mouse movement icon background">
            <a:extLst>
              <a:ext uri="{FF2B5EF4-FFF2-40B4-BE49-F238E27FC236}">
                <a16:creationId xmlns:a16="http://schemas.microsoft.com/office/drawing/2014/main" id="{95E409E1-6C49-44EB-85BA-918FE75FE45D}"/>
              </a:ext>
            </a:extLst>
          </p:cNvPr>
          <p:cNvSpPr>
            <a:spLocks noGrp="1"/>
          </p:cNvSpPr>
          <p:nvPr/>
        </p:nvSpPr>
        <p:spPr>
          <a:xfrm>
            <a:off x="86868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43" name="Mouse movemen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11" name="Mouse movement title">
            <a:extLst>
              <a:ext uri="{FF2B5EF4-FFF2-40B4-BE49-F238E27FC236}">
                <a16:creationId xmlns:a16="http://schemas.microsoft.com/office/drawing/2014/main" id="{69B2719B-6703-410C-AECA-EF4B068D4A97}"/>
              </a:ext>
            </a:extLst>
          </p:cNvPr>
          <p:cNvSpPr>
            <a:spLocks noGrp="1"/>
          </p:cNvSpPr>
          <p:nvPr/>
        </p:nvSpPr>
        <p:spPr>
          <a:xfrm>
            <a:off x="86868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20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Mouse movement</a:t>
            </a:r>
            <a:endParaRPr sz="2000"/>
          </a:p>
        </p:txBody>
      </p:sp>
      <p:sp>
        <p:nvSpPr>
          <p:cNvPr id="12" name="Mouse movement body">
            <a:extLst>
              <a:ext uri="{FF2B5EF4-FFF2-40B4-BE49-F238E27FC236}">
                <a16:creationId xmlns:a16="http://schemas.microsoft.com/office/drawing/2014/main" id="{26AA7072-20B5-43A3-A5A0-C36F5CB1CA5B}"/>
              </a:ext>
            </a:extLst>
          </p:cNvPr>
          <p:cNvSpPr>
            <a:spLocks noGrp="1"/>
          </p:cNvSpPr>
          <p:nvPr/>
        </p:nvSpPr>
        <p:spPr>
          <a:xfrm>
            <a:off x="86868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Speed, acceleration, and micro-pauses help detect rising stress during real work.</a:t>
            </a:r>
            <a:endParaRPr sz="1500"/>
          </a:p>
        </p:txBody>
      </p:sp>
      <p:sp>
        <p:nvSpPr>
          <p:cNvPr id="13" name="Typing behavior card">
            <a:extLst>
              <a:ext uri="{FF2B5EF4-FFF2-40B4-BE49-F238E27FC236}">
                <a16:creationId xmlns:a16="http://schemas.microsoft.com/office/drawing/2014/main" id="{3BA0ED14-1D83-4106-AAFB-23607655DF3B}"/>
              </a:ext>
            </a:extLst>
          </p:cNvPr>
          <p:cNvSpPr>
            <a:spLocks noGrp="1"/>
          </p:cNvSpPr>
          <p:nvPr/>
        </p:nvSpPr>
        <p:spPr>
          <a:xfrm>
            <a:off x="438912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4" name="Typing behavior icon background">
            <a:extLst>
              <a:ext uri="{FF2B5EF4-FFF2-40B4-BE49-F238E27FC236}">
                <a16:creationId xmlns:a16="http://schemas.microsoft.com/office/drawing/2014/main" id="{4085210E-329C-4A2A-9C95-FF042F81EEC0}"/>
              </a:ext>
            </a:extLst>
          </p:cNvPr>
          <p:cNvSpPr>
            <a:spLocks noGrp="1"/>
          </p:cNvSpPr>
          <p:nvPr/>
        </p:nvSpPr>
        <p:spPr>
          <a:xfrm>
            <a:off x="466344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48" name="Typing behavio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16" name="Typing behavior title">
            <a:extLst>
              <a:ext uri="{FF2B5EF4-FFF2-40B4-BE49-F238E27FC236}">
                <a16:creationId xmlns:a16="http://schemas.microsoft.com/office/drawing/2014/main" id="{0A7D47E7-A427-42F7-A23A-E36C34370617}"/>
              </a:ext>
            </a:extLst>
          </p:cNvPr>
          <p:cNvSpPr>
            <a:spLocks noGrp="1"/>
          </p:cNvSpPr>
          <p:nvPr/>
        </p:nvSpPr>
        <p:spPr>
          <a:xfrm>
            <a:off x="466344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20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Typing behavior</a:t>
            </a:r>
            <a:endParaRPr sz="2000"/>
          </a:p>
        </p:txBody>
      </p:sp>
      <p:sp>
        <p:nvSpPr>
          <p:cNvPr id="17" name="Typing behavior body">
            <a:extLst>
              <a:ext uri="{FF2B5EF4-FFF2-40B4-BE49-F238E27FC236}">
                <a16:creationId xmlns:a16="http://schemas.microsoft.com/office/drawing/2014/main" id="{024B8687-EB75-4867-B2C4-6FC9062F5751}"/>
              </a:ext>
            </a:extLst>
          </p:cNvPr>
          <p:cNvSpPr>
            <a:spLocks noGrp="1"/>
          </p:cNvSpPr>
          <p:nvPr/>
        </p:nvSpPr>
        <p:spPr>
          <a:xfrm>
            <a:off x="466344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5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Typing rhythm, pace changes, and delete/backspace use reveal friction without storing content.</a:t>
            </a:r>
            <a:endParaRPr sz="1500"/>
          </a:p>
        </p:txBody>
      </p:sp>
      <p:sp>
        <p:nvSpPr>
          <p:cNvPr id="18" name="App switching card">
            <a:extLst>
              <a:ext uri="{FF2B5EF4-FFF2-40B4-BE49-F238E27FC236}">
                <a16:creationId xmlns:a16="http://schemas.microsoft.com/office/drawing/2014/main" id="{583F3242-5678-4FFF-BFB0-81DCDBE392CC}"/>
              </a:ext>
            </a:extLst>
          </p:cNvPr>
          <p:cNvSpPr>
            <a:spLocks noGrp="1"/>
          </p:cNvSpPr>
          <p:nvPr/>
        </p:nvSpPr>
        <p:spPr>
          <a:xfrm>
            <a:off x="818388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9" name="App switching icon background">
            <a:extLst>
              <a:ext uri="{FF2B5EF4-FFF2-40B4-BE49-F238E27FC236}">
                <a16:creationId xmlns:a16="http://schemas.microsoft.com/office/drawing/2014/main" id="{4E190CF0-81BE-4402-A1DE-6EAAC35AEF16}"/>
              </a:ext>
            </a:extLst>
          </p:cNvPr>
          <p:cNvSpPr>
            <a:spLocks noGrp="1"/>
          </p:cNvSpPr>
          <p:nvPr/>
        </p:nvSpPr>
        <p:spPr>
          <a:xfrm>
            <a:off x="845820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53" name="App switch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21" name="App switching title">
            <a:extLst>
              <a:ext uri="{FF2B5EF4-FFF2-40B4-BE49-F238E27FC236}">
                <a16:creationId xmlns:a16="http://schemas.microsoft.com/office/drawing/2014/main" id="{BBDDD08B-3F9A-4155-BA77-11E274CE5B53}"/>
              </a:ext>
            </a:extLst>
          </p:cNvPr>
          <p:cNvSpPr>
            <a:spLocks noGrp="1"/>
          </p:cNvSpPr>
          <p:nvPr/>
        </p:nvSpPr>
        <p:spPr>
          <a:xfrm>
            <a:off x="845820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20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App switching</a:t>
            </a:r>
            <a:endParaRPr sz="2000"/>
          </a:p>
        </p:txBody>
      </p:sp>
      <p:sp>
        <p:nvSpPr>
          <p:cNvPr id="22" name="App switching body">
            <a:extLst>
              <a:ext uri="{FF2B5EF4-FFF2-40B4-BE49-F238E27FC236}">
                <a16:creationId xmlns:a16="http://schemas.microsoft.com/office/drawing/2014/main" id="{9D9FB068-9821-47C6-BCAA-BF76CC1F19A0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275">
                <a:solidFill>
                  <a:srgbClr val="5E7185"/>
                </a:solidFill>
              </a:defRPr>
            </a:pPr>
            <a:r>
              <a:rPr sz="1275">
                <a:solidFill>
                  <a:srgbClr val="5E7185"/>
                </a:solidFill>
                <a:latin typeface="Trebuchet MS"/>
                <a:ea typeface="Trebuchet MS"/>
                <a:cs typeface="Trebuchet MS"/>
              </a:rPr>
              <a:t>Window switching and visible/open-window patterns show context switching and attention fragmentation.</a:t>
            </a:r>
            <a:endParaRPr sz="1500"/>
          </a:p>
        </p:txBody>
      </p:sp>
      <p:sp>
        <p:nvSpPr>
          <p:cNvPr id="23" name="Formula panel">
            <a:extLst>
              <a:ext uri="{FF2B5EF4-FFF2-40B4-BE49-F238E27FC236}">
                <a16:creationId xmlns:a16="http://schemas.microsoft.com/office/drawing/2014/main" id="{DF3BD62C-F12F-4646-8983-D9E3157CFB0B}"/>
              </a:ext>
            </a:extLst>
          </p:cNvPr>
          <p:cNvSpPr>
            <a:spLocks noGrp="1"/>
          </p:cNvSpPr>
          <p:nvPr/>
        </p:nvSpPr>
        <p:spPr>
          <a:xfrm>
            <a:off x="594360" y="4743450"/>
            <a:ext cx="11000232" cy="554355"/>
          </a:xfrm>
          <a:prstGeom prst="roundRect">
            <a:avLst/>
          </a:prstGeom>
          <a:solidFill>
            <a:srgbClr val="EDF7F6"/>
          </a:solidFill>
          <a:ln w="9525">
            <a:solidFill>
              <a:srgbClr val="C9DEDA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" name="Formula title">
            <a:extLst>
              <a:ext uri="{FF2B5EF4-FFF2-40B4-BE49-F238E27FC236}">
                <a16:creationId xmlns:a16="http://schemas.microsoft.com/office/drawing/2014/main" id="{F70CC6FF-75BC-468F-9C3F-21C56AE37BC9}"/>
              </a:ext>
            </a:extLst>
          </p:cNvPr>
          <p:cNvSpPr>
            <a:spLocks noGrp="1"/>
          </p:cNvSpPr>
          <p:nvPr/>
        </p:nvSpPr>
        <p:spPr>
          <a:xfrm>
            <a:off x="868680" y="4895850"/>
            <a:ext cx="10451592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21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Weighted behavior signals compared with the user's personal/adaptive baseline</a:t>
            </a:r>
            <a:endParaRPr sz="2100"/>
          </a:p>
        </p:txBody>
      </p:sp>
      <p:sp>
        <p:nvSpPr>
          <p:cNvPr id="29" name="Research signal explanation">
            <a:extLst>
              <a:ext uri="{FF2B5EF4-FFF2-40B4-BE49-F238E27FC236}">
                <a16:creationId xmlns:a16="http://schemas.microsoft.com/office/drawing/2014/main" id="{A577AF39-DA88-4E27-8C8C-9252B1F6576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 rtl="0">
              <a:buNone/>
              <a:defRPr sz="1125">
                <a:solidFill>
                  <a:srgbClr val="5B6B7E"/>
                </a:solidFill>
                <a:latin typeface="Trebuchet MS"/>
                <a:ea typeface="Trebuchet MS"/>
                <a:cs typeface="Trebuchet MS"/>
              </a:defRPr>
            </a:pPr>
            <a:r>
              <a:rPr sz="1125">
                <a:solidFill>
                  <a:srgbClr val="5B6B7E"/>
                </a:solidFill>
                <a:latin typeface="Trebuchet MS"/>
                <a:ea typeface="Trebuchet MS"/>
                <a:cs typeface="Trebuchet MS"/>
              </a:rPr>
              <a:t>Behavioral signals were selected based on prior research linking computer-interaction patterns with cognitive load.</a:t>
            </a:r>
          </a:p>
        </p:txBody>
      </p:sp>
      <p:sp>
        <p:nvSpPr>
          <p:cNvPr id="30" name="Signal README reference">
            <a:extLst>
              <a:ext uri="{FF2B5EF4-FFF2-40B4-BE49-F238E27FC236}">
                <a16:creationId xmlns:a16="http://schemas.microsoft.com/office/drawing/2014/main" id="{089F84FB-A8B6-4361-97BD-9A31961FD3B1}"/>
              </a:ext>
            </a:extLst>
          </p:cNvPr>
          <p:cNvSpPr>
            <a:spLocks noGrp="1"/>
          </p:cNvSpPr>
          <p:nvPr/>
        </p:nvSpPr>
        <p:spPr>
          <a:xfrm>
            <a:off x="9277350" y="13906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t"/>
          <a:lstStyle/>
          <a:p>
            <a:pPr algn="r" rtl="0">
              <a:buNone/>
              <a:defRPr sz="788" i="1">
                <a:solidFill>
                  <a:srgbClr val="0F8F86"/>
                </a:solidFill>
                <a:latin typeface="Trebuchet MS"/>
                <a:ea typeface="Trebuchet MS"/>
                <a:cs typeface="Trebuchet MS"/>
              </a:defRPr>
            </a:pPr>
            <a:r>
              <a:rPr sz="788" i="1">
                <a:solidFill>
                  <a:srgbClr val="0F8F86"/>
                </a:solidFill>
                <a:latin typeface="Trebuchet MS"/>
                <a:ea typeface="Trebuchet MS"/>
                <a:cs typeface="Trebuchet MS"/>
              </a:rPr>
              <a:t>References: project README on GitHub</a:t>
            </a:r>
          </a:p>
        </p:txBody>
      </p:sp>
    </p:spTree>
    <p:extLst>
      <p:ext uri="{BB962C8B-B14F-4D97-AF65-F5344CB8AC3E}">
        <p14:creationId xmlns:p14="http://schemas.microsoft.com/office/powerpoint/2010/main" val="52302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>
            <a:extLst>
              <a:ext uri="{FF2B5EF4-FFF2-40B4-BE49-F238E27FC236}">
                <a16:creationId xmlns:a16="http://schemas.microsoft.com/office/drawing/2014/main" id="{D4B7530A-6315-4CFD-8978-9D875438C950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D6E9B4FD-8532-4309-A9E4-02B5594B1881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ARCHITECTURE</a:t>
            </a:r>
            <a:endParaRPr sz="14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9F03DE6-9FE2-46D7-9D2D-30D588C8EEB1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30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System architecture &amp; cloud deployment</a:t>
            </a:r>
            <a:endParaRPr sz="300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62897EA4-2B72-485E-9260-13A288F06E97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0">
              <a:buNone/>
            </a:pPr>
            <a:r>
              <a:rPr sz="1600" b="1">
                <a:solidFill>
                  <a:srgbClr val="7A8A9C"/>
                </a:solidFill>
                <a:latin typeface="Trebuchet MS"/>
                <a:ea typeface="Trebuchet MS"/>
                <a:cs typeface="Trebuchet MS"/>
              </a:rPr>
              <a:t>10</a:t>
            </a:r>
            <a:endParaRPr sz="1600"/>
          </a:p>
        </p:txBody>
      </p:sp>
      <p:sp>
        <p:nvSpPr>
          <p:cNvPr id="6" name="Logo card">
            <a:extLst>
              <a:ext uri="{FF2B5EF4-FFF2-40B4-BE49-F238E27FC236}">
                <a16:creationId xmlns:a16="http://schemas.microsoft.com/office/drawing/2014/main" id="{0CE3049E-6193-4912-92AF-E09C5F53D89E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104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Architecture subtitle">
            <a:extLst>
              <a:ext uri="{FF2B5EF4-FFF2-40B4-BE49-F238E27FC236}">
                <a16:creationId xmlns:a16="http://schemas.microsoft.com/office/drawing/2014/main" id="{0407099B-68F2-4741-A487-A29417B90C72}"/>
              </a:ext>
            </a:extLst>
          </p:cNvPr>
          <p:cNvSpPr>
            <a:spLocks noGrp="1"/>
          </p:cNvSpPr>
          <p:nvPr/>
        </p:nvSpPr>
        <p:spPr>
          <a:xfrm>
            <a:off x="1524000" y="1323975"/>
            <a:ext cx="9144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70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A lightweight client-server loop connects the Windows agent, the Cloud Run server, and SQL storage.</a:t>
            </a:r>
            <a:endParaRPr sz="1700"/>
          </a:p>
        </p:txBody>
      </p:sp>
      <p:sp>
        <p:nvSpPr>
          <p:cNvPr id="9" name="Activity sample arrow">
            <a:extLst>
              <a:ext uri="{FF2B5EF4-FFF2-40B4-BE49-F238E27FC236}">
                <a16:creationId xmlns:a16="http://schemas.microsoft.com/office/drawing/2014/main" id="{0B083D67-F2ED-4A3F-95B8-2F25E78E8175}"/>
              </a:ext>
            </a:extLst>
          </p:cNvPr>
          <p:cNvSpPr>
            <a:spLocks noGrp="1"/>
          </p:cNvSpPr>
          <p:nvPr/>
        </p:nvSpPr>
        <p:spPr>
          <a:xfrm>
            <a:off x="3552825" y="3314700"/>
            <a:ext cx="1019175" cy="295275"/>
          </a:xfrm>
          <a:prstGeom prst="rightArrow">
            <a:avLst/>
          </a:prstGeom>
          <a:solidFill>
            <a:srgbClr val="0E8F84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0" name="Activity sample label">
            <a:extLst>
              <a:ext uri="{FF2B5EF4-FFF2-40B4-BE49-F238E27FC236}">
                <a16:creationId xmlns:a16="http://schemas.microsoft.com/office/drawing/2014/main" id="{23BB27EB-7262-4B6A-87F9-C8D4BF7AD73F}"/>
              </a:ext>
            </a:extLst>
          </p:cNvPr>
          <p:cNvSpPr>
            <a:spLocks noGrp="1"/>
          </p:cNvSpPr>
          <p:nvPr/>
        </p:nvSpPr>
        <p:spPr>
          <a:xfrm>
            <a:off x="3505200" y="363855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850" b="1" spc="80">
                <a:solidFill>
                  <a:srgbClr val="0E8F84"/>
                </a:solidFill>
                <a:latin typeface="Trebuchet MS"/>
                <a:ea typeface="Trebuchet MS"/>
                <a:cs typeface="Trebuchet MS"/>
              </a:rPr>
              <a:t>ACTIVITY SAMPLE</a:t>
            </a:r>
            <a:endParaRPr sz="850"/>
          </a:p>
        </p:txBody>
      </p:sp>
      <p:sp>
        <p:nvSpPr>
          <p:cNvPr id="11" name="Protection decision arrow">
            <a:extLst>
              <a:ext uri="{FF2B5EF4-FFF2-40B4-BE49-F238E27FC236}">
                <a16:creationId xmlns:a16="http://schemas.microsoft.com/office/drawing/2014/main" id="{F9D3C16E-CF36-474B-886B-13E53D61EF01}"/>
              </a:ext>
            </a:extLst>
          </p:cNvPr>
          <p:cNvSpPr>
            <a:spLocks noGrp="1"/>
          </p:cNvSpPr>
          <p:nvPr/>
        </p:nvSpPr>
        <p:spPr>
          <a:xfrm>
            <a:off x="3552825" y="2571750"/>
            <a:ext cx="1019175" cy="247650"/>
          </a:xfrm>
          <a:prstGeom prst="leftArrow">
            <a:avLst/>
          </a:prstGeom>
          <a:solidFill>
            <a:srgbClr val="3478E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2" name="Protection decision label">
            <a:extLst>
              <a:ext uri="{FF2B5EF4-FFF2-40B4-BE49-F238E27FC236}">
                <a16:creationId xmlns:a16="http://schemas.microsoft.com/office/drawing/2014/main" id="{B3F5281C-D705-4A47-A1F5-BBA561B71AA4}"/>
              </a:ext>
            </a:extLst>
          </p:cNvPr>
          <p:cNvSpPr>
            <a:spLocks noGrp="1"/>
          </p:cNvSpPr>
          <p:nvPr/>
        </p:nvSpPr>
        <p:spPr>
          <a:xfrm>
            <a:off x="3448050" y="23241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820" b="1" spc="60">
                <a:solidFill>
                  <a:srgbClr val="3478E5"/>
                </a:solidFill>
                <a:latin typeface="Trebuchet MS"/>
                <a:ea typeface="Trebuchet MS"/>
                <a:cs typeface="Trebuchet MS"/>
              </a:rPr>
              <a:t>PROTECTION DECISION RETURNS</a:t>
            </a:r>
            <a:endParaRPr sz="820"/>
          </a:p>
        </p:txBody>
      </p:sp>
      <p:sp>
        <p:nvSpPr>
          <p:cNvPr id="13" name="Database sync arrow">
            <a:extLst>
              <a:ext uri="{FF2B5EF4-FFF2-40B4-BE49-F238E27FC236}">
                <a16:creationId xmlns:a16="http://schemas.microsoft.com/office/drawing/2014/main" id="{86FA5ECE-A0EC-4423-AA98-DDD1BA0F6953}"/>
              </a:ext>
            </a:extLst>
          </p:cNvPr>
          <p:cNvSpPr>
            <a:spLocks noGrp="1"/>
          </p:cNvSpPr>
          <p:nvPr/>
        </p:nvSpPr>
        <p:spPr>
          <a:xfrm>
            <a:off x="7620000" y="3314700"/>
            <a:ext cx="1019175" cy="295275"/>
          </a:xfrm>
          <a:prstGeom prst="leftRightArrow">
            <a:avLst/>
          </a:prstGeom>
          <a:solidFill>
            <a:srgbClr val="7B61D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4" name="Database sync label">
            <a:extLst>
              <a:ext uri="{FF2B5EF4-FFF2-40B4-BE49-F238E27FC236}">
                <a16:creationId xmlns:a16="http://schemas.microsoft.com/office/drawing/2014/main" id="{CC5051D5-41B6-4AD1-B901-97231A813B12}"/>
              </a:ext>
            </a:extLst>
          </p:cNvPr>
          <p:cNvSpPr>
            <a:spLocks noGrp="1"/>
          </p:cNvSpPr>
          <p:nvPr/>
        </p:nvSpPr>
        <p:spPr>
          <a:xfrm>
            <a:off x="7572375" y="363855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820" b="1" spc="50">
                <a:solidFill>
                  <a:srgbClr val="7B61D1"/>
                </a:solidFill>
                <a:latin typeface="Trebuchet MS"/>
                <a:ea typeface="Trebuchet MS"/>
                <a:cs typeface="Trebuchet MS"/>
              </a:rPr>
              <a:t>METRICS + BASELINE</a:t>
            </a:r>
            <a:endParaRPr sz="820"/>
          </a:p>
        </p:txBody>
      </p:sp>
      <p:sp>
        <p:nvSpPr>
          <p:cNvPr id="15" name="Desktop Agent card">
            <a:extLst>
              <a:ext uri="{FF2B5EF4-FFF2-40B4-BE49-F238E27FC236}">
                <a16:creationId xmlns:a16="http://schemas.microsoft.com/office/drawing/2014/main" id="{8E367F48-6B21-49E6-8D44-961A4FB4BFBA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2857500" cy="3000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6" name="Desktop Agent icon box">
            <a:extLst>
              <a:ext uri="{FF2B5EF4-FFF2-40B4-BE49-F238E27FC236}">
                <a16:creationId xmlns:a16="http://schemas.microsoft.com/office/drawing/2014/main" id="{7D346920-5C7C-4425-AA4D-1EA53395E2AD}"/>
              </a:ext>
            </a:extLst>
          </p:cNvPr>
          <p:cNvSpPr>
            <a:spLocks noGrp="1"/>
          </p:cNvSpPr>
          <p:nvPr/>
        </p:nvSpPr>
        <p:spPr>
          <a:xfrm>
            <a:off x="861060" y="2343150"/>
            <a:ext cx="685800" cy="685800"/>
          </a:xfrm>
          <a:prstGeom prst="roundRect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114" name="Desktop Agen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" y="2505075"/>
            <a:ext cx="361950" cy="361950"/>
          </a:xfrm>
          <a:prstGeom prst="rect">
            <a:avLst/>
          </a:prstGeom>
          <a:ln>
            <a:noFill/>
          </a:ln>
        </p:spPr>
      </p:pic>
      <p:sp>
        <p:nvSpPr>
          <p:cNvPr id="18" name="Desktop Agent title">
            <a:extLst>
              <a:ext uri="{FF2B5EF4-FFF2-40B4-BE49-F238E27FC236}">
                <a16:creationId xmlns:a16="http://schemas.microsoft.com/office/drawing/2014/main" id="{E2B814B4-B123-4189-BC79-DD662130898B}"/>
              </a:ext>
            </a:extLst>
          </p:cNvPr>
          <p:cNvSpPr>
            <a:spLocks noGrp="1"/>
          </p:cNvSpPr>
          <p:nvPr/>
        </p:nvSpPr>
        <p:spPr>
          <a:xfrm>
            <a:off x="1623060" y="2409825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85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Desktop Agent</a:t>
            </a:r>
            <a:endParaRPr sz="1850"/>
          </a:p>
        </p:txBody>
      </p:sp>
      <p:sp>
        <p:nvSpPr>
          <p:cNvPr id="19" name="Desktop Agent accent">
            <a:extLst>
              <a:ext uri="{FF2B5EF4-FFF2-40B4-BE49-F238E27FC236}">
                <a16:creationId xmlns:a16="http://schemas.microsoft.com/office/drawing/2014/main" id="{E530F1EF-06D3-4F9E-A7DB-468AB87384A7}"/>
              </a:ext>
            </a:extLst>
          </p:cNvPr>
          <p:cNvSpPr>
            <a:spLocks noGrp="1"/>
          </p:cNvSpPr>
          <p:nvPr/>
        </p:nvSpPr>
        <p:spPr>
          <a:xfrm>
            <a:off x="594360" y="2047875"/>
            <a:ext cx="2857500" cy="66675"/>
          </a:xfrm>
          <a:prstGeom prst="rect">
            <a:avLst/>
          </a:prstGeom>
          <a:solidFill>
            <a:srgbClr val="0E8F84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" name="Desktop Agent body">
            <a:extLst>
              <a:ext uri="{FF2B5EF4-FFF2-40B4-BE49-F238E27FC236}">
                <a16:creationId xmlns:a16="http://schemas.microsoft.com/office/drawing/2014/main" id="{DB21EA27-2FA3-4F07-AFC8-F8D64F56EE65}"/>
              </a:ext>
            </a:extLst>
          </p:cNvPr>
          <p:cNvSpPr>
            <a:spLocks noGrp="1"/>
          </p:cNvSpPr>
          <p:nvPr/>
        </p:nvSpPr>
        <p:spPr>
          <a:xfrm>
            <a:off x="861060" y="3267075"/>
            <a:ext cx="23241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25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Collects behavioral rhythm on Windows: typing rhythm, mouse movement, window/app switching, and open-window patterns. Applies the returned protection decision.</a:t>
            </a:r>
            <a:endParaRPr sz="1250"/>
          </a:p>
        </p:txBody>
      </p:sp>
      <p:sp>
        <p:nvSpPr>
          <p:cNvPr id="21" name="Desktop Agent chip C#">
            <a:extLst>
              <a:ext uri="{FF2B5EF4-FFF2-40B4-BE49-F238E27FC236}">
                <a16:creationId xmlns:a16="http://schemas.microsoft.com/office/drawing/2014/main" id="{C02E4858-E4EF-432F-9938-B802C1987C28}"/>
              </a:ext>
            </a:extLst>
          </p:cNvPr>
          <p:cNvSpPr>
            <a:spLocks noGrp="1"/>
          </p:cNvSpPr>
          <p:nvPr/>
        </p:nvSpPr>
        <p:spPr>
          <a:xfrm>
            <a:off x="85153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2" name="Desktop Agent chip label C#">
            <a:extLst>
              <a:ext uri="{FF2B5EF4-FFF2-40B4-BE49-F238E27FC236}">
                <a16:creationId xmlns:a16="http://schemas.microsoft.com/office/drawing/2014/main" id="{CDEE1B26-AAB9-42B1-A593-B9A29E37F3B5}"/>
              </a:ext>
            </a:extLst>
          </p:cNvPr>
          <p:cNvSpPr>
            <a:spLocks noGrp="1"/>
          </p:cNvSpPr>
          <p:nvPr/>
        </p:nvSpPr>
        <p:spPr>
          <a:xfrm>
            <a:off x="85153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0E8F84"/>
                </a:solidFill>
                <a:latin typeface="Trebuchet MS"/>
                <a:ea typeface="Trebuchet MS"/>
                <a:cs typeface="Trebuchet MS"/>
              </a:rPr>
              <a:t>C#</a:t>
            </a:r>
            <a:endParaRPr sz="1000"/>
          </a:p>
        </p:txBody>
      </p:sp>
      <p:sp>
        <p:nvSpPr>
          <p:cNvPr id="23" name="Desktop Agent chip .NET">
            <a:extLst>
              <a:ext uri="{FF2B5EF4-FFF2-40B4-BE49-F238E27FC236}">
                <a16:creationId xmlns:a16="http://schemas.microsoft.com/office/drawing/2014/main" id="{49D41E29-7684-4A24-A7D3-DEB29A708529}"/>
              </a:ext>
            </a:extLst>
          </p:cNvPr>
          <p:cNvSpPr>
            <a:spLocks noGrp="1"/>
          </p:cNvSpPr>
          <p:nvPr/>
        </p:nvSpPr>
        <p:spPr>
          <a:xfrm>
            <a:off x="161353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" name="Desktop Agent chip label .NET">
            <a:extLst>
              <a:ext uri="{FF2B5EF4-FFF2-40B4-BE49-F238E27FC236}">
                <a16:creationId xmlns:a16="http://schemas.microsoft.com/office/drawing/2014/main" id="{FF1C8011-632A-4AED-92D5-C91108906C63}"/>
              </a:ext>
            </a:extLst>
          </p:cNvPr>
          <p:cNvSpPr>
            <a:spLocks noGrp="1"/>
          </p:cNvSpPr>
          <p:nvPr/>
        </p:nvSpPr>
        <p:spPr>
          <a:xfrm>
            <a:off x="161353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0E8F84"/>
                </a:solidFill>
                <a:latin typeface="Trebuchet MS"/>
                <a:ea typeface="Trebuchet MS"/>
                <a:cs typeface="Trebuchet MS"/>
              </a:rPr>
              <a:t>.NET</a:t>
            </a:r>
            <a:endParaRPr sz="1000"/>
          </a:p>
        </p:txBody>
      </p:sp>
      <p:sp>
        <p:nvSpPr>
          <p:cNvPr id="25" name="Desktop Agent chip Windows">
            <a:extLst>
              <a:ext uri="{FF2B5EF4-FFF2-40B4-BE49-F238E27FC236}">
                <a16:creationId xmlns:a16="http://schemas.microsoft.com/office/drawing/2014/main" id="{0DBAF8A1-1345-432A-A35D-BFDAD9DBCF3E}"/>
              </a:ext>
            </a:extLst>
          </p:cNvPr>
          <p:cNvSpPr>
            <a:spLocks noGrp="1"/>
          </p:cNvSpPr>
          <p:nvPr/>
        </p:nvSpPr>
        <p:spPr>
          <a:xfrm>
            <a:off x="237553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6" name="Desktop Agent chip label Windows">
            <a:extLst>
              <a:ext uri="{FF2B5EF4-FFF2-40B4-BE49-F238E27FC236}">
                <a16:creationId xmlns:a16="http://schemas.microsoft.com/office/drawing/2014/main" id="{8E574D9D-51C1-4CC9-92D5-310B6643DC41}"/>
              </a:ext>
            </a:extLst>
          </p:cNvPr>
          <p:cNvSpPr>
            <a:spLocks noGrp="1"/>
          </p:cNvSpPr>
          <p:nvPr/>
        </p:nvSpPr>
        <p:spPr>
          <a:xfrm>
            <a:off x="237553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0E8F84"/>
                </a:solidFill>
                <a:latin typeface="Trebuchet MS"/>
                <a:ea typeface="Trebuchet MS"/>
                <a:cs typeface="Trebuchet MS"/>
              </a:rPr>
              <a:t>Windows</a:t>
            </a:r>
            <a:endParaRPr sz="1000"/>
          </a:p>
        </p:txBody>
      </p:sp>
      <p:sp>
        <p:nvSpPr>
          <p:cNvPr id="27" name="KungFlow Server card">
            <a:extLst>
              <a:ext uri="{FF2B5EF4-FFF2-40B4-BE49-F238E27FC236}">
                <a16:creationId xmlns:a16="http://schemas.microsoft.com/office/drawing/2014/main" id="{CCAF7852-6F81-4D41-85CB-88F191206435}"/>
              </a:ext>
            </a:extLst>
          </p:cNvPr>
          <p:cNvSpPr>
            <a:spLocks noGrp="1"/>
          </p:cNvSpPr>
          <p:nvPr/>
        </p:nvSpPr>
        <p:spPr>
          <a:xfrm>
            <a:off x="4667250" y="2047875"/>
            <a:ext cx="2857500" cy="3000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8" name="KungFlow Server icon box">
            <a:extLst>
              <a:ext uri="{FF2B5EF4-FFF2-40B4-BE49-F238E27FC236}">
                <a16:creationId xmlns:a16="http://schemas.microsoft.com/office/drawing/2014/main" id="{007AF201-7E65-4E41-B301-7BEC536CCDF3}"/>
              </a:ext>
            </a:extLst>
          </p:cNvPr>
          <p:cNvSpPr>
            <a:spLocks noGrp="1"/>
          </p:cNvSpPr>
          <p:nvPr/>
        </p:nvSpPr>
        <p:spPr>
          <a:xfrm>
            <a:off x="4933950" y="2343150"/>
            <a:ext cx="685800" cy="685800"/>
          </a:xfrm>
          <a:prstGeom prst="roundRect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126" name="KungFlow Serv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2505075"/>
            <a:ext cx="361950" cy="361950"/>
          </a:xfrm>
          <a:prstGeom prst="rect">
            <a:avLst/>
          </a:prstGeom>
          <a:ln>
            <a:noFill/>
          </a:ln>
        </p:spPr>
      </p:pic>
      <p:sp>
        <p:nvSpPr>
          <p:cNvPr id="30" name="KungFlow Server title">
            <a:extLst>
              <a:ext uri="{FF2B5EF4-FFF2-40B4-BE49-F238E27FC236}">
                <a16:creationId xmlns:a16="http://schemas.microsoft.com/office/drawing/2014/main" id="{45D41F15-E297-40A8-B8A5-719D94909456}"/>
              </a:ext>
            </a:extLst>
          </p:cNvPr>
          <p:cNvSpPr>
            <a:spLocks noGrp="1"/>
          </p:cNvSpPr>
          <p:nvPr/>
        </p:nvSpPr>
        <p:spPr>
          <a:xfrm>
            <a:off x="5695950" y="2409825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85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KungFlow Server</a:t>
            </a:r>
            <a:endParaRPr sz="1850"/>
          </a:p>
        </p:txBody>
      </p:sp>
      <p:sp>
        <p:nvSpPr>
          <p:cNvPr id="31" name="KungFlow Server accent">
            <a:extLst>
              <a:ext uri="{FF2B5EF4-FFF2-40B4-BE49-F238E27FC236}">
                <a16:creationId xmlns:a16="http://schemas.microsoft.com/office/drawing/2014/main" id="{516A210A-D83C-4179-A415-BEE9623C51C1}"/>
              </a:ext>
            </a:extLst>
          </p:cNvPr>
          <p:cNvSpPr>
            <a:spLocks noGrp="1"/>
          </p:cNvSpPr>
          <p:nvPr/>
        </p:nvSpPr>
        <p:spPr>
          <a:xfrm>
            <a:off x="4667250" y="2047875"/>
            <a:ext cx="2857500" cy="66675"/>
          </a:xfrm>
          <a:prstGeom prst="rect">
            <a:avLst/>
          </a:prstGeom>
          <a:solidFill>
            <a:srgbClr val="3478E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2" name="KungFlow Server body">
            <a:extLst>
              <a:ext uri="{FF2B5EF4-FFF2-40B4-BE49-F238E27FC236}">
                <a16:creationId xmlns:a16="http://schemas.microsoft.com/office/drawing/2014/main" id="{E3E722C5-A53C-4F2C-98A2-605D7E01EA50}"/>
              </a:ext>
            </a:extLst>
          </p:cNvPr>
          <p:cNvSpPr>
            <a:spLocks noGrp="1"/>
          </p:cNvSpPr>
          <p:nvPr/>
        </p:nvSpPr>
        <p:spPr>
          <a:xfrm>
            <a:off x="4933950" y="3267075"/>
            <a:ext cx="23241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25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Node.js / Express server, deployed with Docker on Google Cloud Run. Receives samples, scores current load against the personal baseline, and returns a protection decision.</a:t>
            </a:r>
            <a:endParaRPr sz="1250"/>
          </a:p>
        </p:txBody>
      </p:sp>
      <p:sp>
        <p:nvSpPr>
          <p:cNvPr id="33" name="KungFlow Server chip Node.js">
            <a:extLst>
              <a:ext uri="{FF2B5EF4-FFF2-40B4-BE49-F238E27FC236}">
                <a16:creationId xmlns:a16="http://schemas.microsoft.com/office/drawing/2014/main" id="{A0AEE4CD-4F87-4E78-98A3-19E3452DC29C}"/>
              </a:ext>
            </a:extLst>
          </p:cNvPr>
          <p:cNvSpPr>
            <a:spLocks noGrp="1"/>
          </p:cNvSpPr>
          <p:nvPr/>
        </p:nvSpPr>
        <p:spPr>
          <a:xfrm>
            <a:off x="492442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34" name="KungFlow Server chip label Node.js">
            <a:extLst>
              <a:ext uri="{FF2B5EF4-FFF2-40B4-BE49-F238E27FC236}">
                <a16:creationId xmlns:a16="http://schemas.microsoft.com/office/drawing/2014/main" id="{16C62377-422C-45FE-A217-AE86376B5948}"/>
              </a:ext>
            </a:extLst>
          </p:cNvPr>
          <p:cNvSpPr>
            <a:spLocks noGrp="1"/>
          </p:cNvSpPr>
          <p:nvPr/>
        </p:nvSpPr>
        <p:spPr>
          <a:xfrm>
            <a:off x="492442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3478E5"/>
                </a:solidFill>
                <a:latin typeface="Trebuchet MS"/>
                <a:ea typeface="Trebuchet MS"/>
                <a:cs typeface="Trebuchet MS"/>
              </a:rPr>
              <a:t>Node.js</a:t>
            </a:r>
            <a:endParaRPr sz="1000"/>
          </a:p>
        </p:txBody>
      </p:sp>
      <p:sp>
        <p:nvSpPr>
          <p:cNvPr id="35" name="KungFlow Server chip Express">
            <a:extLst>
              <a:ext uri="{FF2B5EF4-FFF2-40B4-BE49-F238E27FC236}">
                <a16:creationId xmlns:a16="http://schemas.microsoft.com/office/drawing/2014/main" id="{35ECB34A-E70E-4B9E-9769-CC532FC2671A}"/>
              </a:ext>
            </a:extLst>
          </p:cNvPr>
          <p:cNvSpPr>
            <a:spLocks noGrp="1"/>
          </p:cNvSpPr>
          <p:nvPr/>
        </p:nvSpPr>
        <p:spPr>
          <a:xfrm>
            <a:off x="568642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36" name="KungFlow Server chip label Express">
            <a:extLst>
              <a:ext uri="{FF2B5EF4-FFF2-40B4-BE49-F238E27FC236}">
                <a16:creationId xmlns:a16="http://schemas.microsoft.com/office/drawing/2014/main" id="{2F3C9DEF-EA64-4321-A906-C1C5CB467943}"/>
              </a:ext>
            </a:extLst>
          </p:cNvPr>
          <p:cNvSpPr>
            <a:spLocks noGrp="1"/>
          </p:cNvSpPr>
          <p:nvPr/>
        </p:nvSpPr>
        <p:spPr>
          <a:xfrm>
            <a:off x="568642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3478E5"/>
                </a:solidFill>
                <a:latin typeface="Trebuchet MS"/>
                <a:ea typeface="Trebuchet MS"/>
                <a:cs typeface="Trebuchet MS"/>
              </a:rPr>
              <a:t>Express</a:t>
            </a:r>
            <a:endParaRPr sz="1000"/>
          </a:p>
        </p:txBody>
      </p:sp>
      <p:sp>
        <p:nvSpPr>
          <p:cNvPr id="37" name="KungFlow Server chip API">
            <a:extLst>
              <a:ext uri="{FF2B5EF4-FFF2-40B4-BE49-F238E27FC236}">
                <a16:creationId xmlns:a16="http://schemas.microsoft.com/office/drawing/2014/main" id="{1CE1012D-F91C-4639-B915-85D1B51C4EC9}"/>
              </a:ext>
            </a:extLst>
          </p:cNvPr>
          <p:cNvSpPr>
            <a:spLocks noGrp="1"/>
          </p:cNvSpPr>
          <p:nvPr/>
        </p:nvSpPr>
        <p:spPr>
          <a:xfrm>
            <a:off x="644842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38" name="KungFlow Server chip label API">
            <a:extLst>
              <a:ext uri="{FF2B5EF4-FFF2-40B4-BE49-F238E27FC236}">
                <a16:creationId xmlns:a16="http://schemas.microsoft.com/office/drawing/2014/main" id="{FEE1D6B5-1B1C-4413-9C43-823371801C2E}"/>
              </a:ext>
            </a:extLst>
          </p:cNvPr>
          <p:cNvSpPr>
            <a:spLocks noGrp="1"/>
          </p:cNvSpPr>
          <p:nvPr/>
        </p:nvSpPr>
        <p:spPr>
          <a:xfrm>
            <a:off x="644842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3478E5"/>
                </a:solidFill>
                <a:latin typeface="Trebuchet MS"/>
                <a:ea typeface="Trebuchet MS"/>
                <a:cs typeface="Trebuchet MS"/>
              </a:rPr>
              <a:t>Docker</a:t>
            </a:r>
            <a:endParaRPr sz="1000"/>
          </a:p>
        </p:txBody>
      </p:sp>
      <p:sp>
        <p:nvSpPr>
          <p:cNvPr id="39" name="SQL Database card">
            <a:extLst>
              <a:ext uri="{FF2B5EF4-FFF2-40B4-BE49-F238E27FC236}">
                <a16:creationId xmlns:a16="http://schemas.microsoft.com/office/drawing/2014/main" id="{49E8285E-CBCC-4BD7-BC32-9748F9BB852A}"/>
              </a:ext>
            </a:extLst>
          </p:cNvPr>
          <p:cNvSpPr>
            <a:spLocks noGrp="1"/>
          </p:cNvSpPr>
          <p:nvPr/>
        </p:nvSpPr>
        <p:spPr>
          <a:xfrm>
            <a:off x="8740140" y="2047875"/>
            <a:ext cx="2857500" cy="3000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40" name="SQL Database icon box">
            <a:extLst>
              <a:ext uri="{FF2B5EF4-FFF2-40B4-BE49-F238E27FC236}">
                <a16:creationId xmlns:a16="http://schemas.microsoft.com/office/drawing/2014/main" id="{0521A0C8-C534-49AD-9485-458366F1A8F4}"/>
              </a:ext>
            </a:extLst>
          </p:cNvPr>
          <p:cNvSpPr>
            <a:spLocks noGrp="1"/>
          </p:cNvSpPr>
          <p:nvPr/>
        </p:nvSpPr>
        <p:spPr>
          <a:xfrm>
            <a:off x="9006840" y="2343150"/>
            <a:ext cx="685800" cy="685800"/>
          </a:xfrm>
          <a:prstGeom prst="roundRect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138" name="SQL Databa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765" y="2505075"/>
            <a:ext cx="361950" cy="361950"/>
          </a:xfrm>
          <a:prstGeom prst="rect">
            <a:avLst/>
          </a:prstGeom>
          <a:ln>
            <a:noFill/>
          </a:ln>
        </p:spPr>
      </p:pic>
      <p:sp>
        <p:nvSpPr>
          <p:cNvPr id="42" name="SQL Database title">
            <a:extLst>
              <a:ext uri="{FF2B5EF4-FFF2-40B4-BE49-F238E27FC236}">
                <a16:creationId xmlns:a16="http://schemas.microsoft.com/office/drawing/2014/main" id="{4B0146BF-7E36-4DBB-8B80-C41E9172FB7E}"/>
              </a:ext>
            </a:extLst>
          </p:cNvPr>
          <p:cNvSpPr>
            <a:spLocks noGrp="1"/>
          </p:cNvSpPr>
          <p:nvPr/>
        </p:nvSpPr>
        <p:spPr>
          <a:xfrm>
            <a:off x="9768840" y="2409825"/>
            <a:ext cx="15811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85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SQL Database</a:t>
            </a:r>
            <a:endParaRPr sz="1850"/>
          </a:p>
        </p:txBody>
      </p:sp>
      <p:sp>
        <p:nvSpPr>
          <p:cNvPr id="43" name="SQL Database accent">
            <a:extLst>
              <a:ext uri="{FF2B5EF4-FFF2-40B4-BE49-F238E27FC236}">
                <a16:creationId xmlns:a16="http://schemas.microsoft.com/office/drawing/2014/main" id="{8C0B3ED8-8678-4C60-BBA0-07E28B89709C}"/>
              </a:ext>
            </a:extLst>
          </p:cNvPr>
          <p:cNvSpPr>
            <a:spLocks noGrp="1"/>
          </p:cNvSpPr>
          <p:nvPr/>
        </p:nvSpPr>
        <p:spPr>
          <a:xfrm>
            <a:off x="8740140" y="2047875"/>
            <a:ext cx="2857500" cy="66675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4" name="SQL Database body">
            <a:extLst>
              <a:ext uri="{FF2B5EF4-FFF2-40B4-BE49-F238E27FC236}">
                <a16:creationId xmlns:a16="http://schemas.microsoft.com/office/drawing/2014/main" id="{B0FB409D-22D8-4E5B-9651-C5FC00222BB6}"/>
              </a:ext>
            </a:extLst>
          </p:cNvPr>
          <p:cNvSpPr>
            <a:spLocks noGrp="1"/>
          </p:cNvSpPr>
          <p:nvPr/>
        </p:nvSpPr>
        <p:spPr>
          <a:xfrm>
            <a:off x="9006840" y="3267075"/>
            <a:ext cx="23241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250">
                <a:solidFill>
                  <a:srgbClr val="58677A"/>
                </a:solidFill>
                <a:latin typeface="Trebuchet MS"/>
                <a:ea typeface="Trebuchet MS"/>
                <a:cs typeface="Trebuchet MS"/>
              </a:rPr>
              <a:t>Google Cloud SQL stores users, sessions, behavioral metrics/samples, personal baseline, current state, and firewall state/events.</a:t>
            </a:r>
            <a:endParaRPr sz="1250"/>
          </a:p>
        </p:txBody>
      </p:sp>
      <p:sp>
        <p:nvSpPr>
          <p:cNvPr id="45" name="SQL Database chip Users">
            <a:extLst>
              <a:ext uri="{FF2B5EF4-FFF2-40B4-BE49-F238E27FC236}">
                <a16:creationId xmlns:a16="http://schemas.microsoft.com/office/drawing/2014/main" id="{710F2C98-CA9F-49EE-BDEF-21AB0F4872A6}"/>
              </a:ext>
            </a:extLst>
          </p:cNvPr>
          <p:cNvSpPr>
            <a:spLocks noGrp="1"/>
          </p:cNvSpPr>
          <p:nvPr/>
        </p:nvSpPr>
        <p:spPr>
          <a:xfrm>
            <a:off x="899731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46" name="SQL Database chip label Users">
            <a:extLst>
              <a:ext uri="{FF2B5EF4-FFF2-40B4-BE49-F238E27FC236}">
                <a16:creationId xmlns:a16="http://schemas.microsoft.com/office/drawing/2014/main" id="{829485E0-5ED4-4D0A-9FFD-35A9596B6F1F}"/>
              </a:ext>
            </a:extLst>
          </p:cNvPr>
          <p:cNvSpPr>
            <a:spLocks noGrp="1"/>
          </p:cNvSpPr>
          <p:nvPr/>
        </p:nvSpPr>
        <p:spPr>
          <a:xfrm>
            <a:off x="899731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7B61D1"/>
                </a:solidFill>
                <a:latin typeface="Trebuchet MS"/>
                <a:ea typeface="Trebuchet MS"/>
                <a:cs typeface="Trebuchet MS"/>
              </a:rPr>
              <a:t>SQL</a:t>
            </a:r>
            <a:endParaRPr sz="1000"/>
          </a:p>
        </p:txBody>
      </p:sp>
      <p:sp>
        <p:nvSpPr>
          <p:cNvPr id="47" name="SQL Database chip Metrics">
            <a:extLst>
              <a:ext uri="{FF2B5EF4-FFF2-40B4-BE49-F238E27FC236}">
                <a16:creationId xmlns:a16="http://schemas.microsoft.com/office/drawing/2014/main" id="{05E2D14B-447C-495D-9D42-414E5CA371CB}"/>
              </a:ext>
            </a:extLst>
          </p:cNvPr>
          <p:cNvSpPr>
            <a:spLocks noGrp="1"/>
          </p:cNvSpPr>
          <p:nvPr/>
        </p:nvSpPr>
        <p:spPr>
          <a:xfrm>
            <a:off x="975931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48" name="SQL Database chip label Metrics">
            <a:extLst>
              <a:ext uri="{FF2B5EF4-FFF2-40B4-BE49-F238E27FC236}">
                <a16:creationId xmlns:a16="http://schemas.microsoft.com/office/drawing/2014/main" id="{DC9385F7-A474-4753-A7C2-45F68587C2F4}"/>
              </a:ext>
            </a:extLst>
          </p:cNvPr>
          <p:cNvSpPr>
            <a:spLocks noGrp="1"/>
          </p:cNvSpPr>
          <p:nvPr/>
        </p:nvSpPr>
        <p:spPr>
          <a:xfrm>
            <a:off x="975931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7B61D1"/>
                </a:solidFill>
                <a:latin typeface="Trebuchet MS"/>
                <a:ea typeface="Trebuchet MS"/>
                <a:cs typeface="Trebuchet MS"/>
              </a:rPr>
              <a:t>Cloud SQL</a:t>
            </a:r>
            <a:endParaRPr sz="1000"/>
          </a:p>
        </p:txBody>
      </p:sp>
      <p:sp>
        <p:nvSpPr>
          <p:cNvPr id="49" name="SQL Database chip Baseline">
            <a:extLst>
              <a:ext uri="{FF2B5EF4-FFF2-40B4-BE49-F238E27FC236}">
                <a16:creationId xmlns:a16="http://schemas.microsoft.com/office/drawing/2014/main" id="{3BF9E89B-A441-4B72-B771-4A77BA096CFC}"/>
              </a:ext>
            </a:extLst>
          </p:cNvPr>
          <p:cNvSpPr>
            <a:spLocks noGrp="1"/>
          </p:cNvSpPr>
          <p:nvPr/>
        </p:nvSpPr>
        <p:spPr>
          <a:xfrm>
            <a:off x="10521315" y="4448175"/>
            <a:ext cx="704850" cy="285750"/>
          </a:xfrm>
          <a:prstGeom prst="roundRect">
            <a:avLst/>
          </a:prstGeom>
          <a:solidFill>
            <a:srgbClr val="F3F7F6"/>
          </a:solidFill>
          <a:ln w="9525">
            <a:solidFill>
              <a:srgbClr val="DCE7E5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50" name="SQL Database chip label Baseline">
            <a:extLst>
              <a:ext uri="{FF2B5EF4-FFF2-40B4-BE49-F238E27FC236}">
                <a16:creationId xmlns:a16="http://schemas.microsoft.com/office/drawing/2014/main" id="{D4A38B8E-0773-4026-AE51-D9A799DD7D51}"/>
              </a:ext>
            </a:extLst>
          </p:cNvPr>
          <p:cNvSpPr>
            <a:spLocks noGrp="1"/>
          </p:cNvSpPr>
          <p:nvPr/>
        </p:nvSpPr>
        <p:spPr>
          <a:xfrm>
            <a:off x="10521315" y="4486275"/>
            <a:ext cx="7048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000" b="1">
                <a:solidFill>
                  <a:srgbClr val="7B61D1"/>
                </a:solidFill>
                <a:latin typeface="Trebuchet MS"/>
                <a:ea typeface="Trebuchet MS"/>
                <a:cs typeface="Trebuchet MS"/>
              </a:rPr>
              <a:t>Baseline</a:t>
            </a:r>
            <a:endParaRPr sz="1000"/>
          </a:p>
        </p:txBody>
      </p:sp>
      <p:sp>
        <p:nvSpPr>
          <p:cNvPr id="51" name="Architecture summary panel">
            <a:extLst>
              <a:ext uri="{FF2B5EF4-FFF2-40B4-BE49-F238E27FC236}">
                <a16:creationId xmlns:a16="http://schemas.microsoft.com/office/drawing/2014/main" id="{140A41B3-9AD7-4E75-A574-4F9C568B8BA2}"/>
              </a:ext>
            </a:extLst>
          </p:cNvPr>
          <p:cNvSpPr>
            <a:spLocks noGrp="1"/>
          </p:cNvSpPr>
          <p:nvPr/>
        </p:nvSpPr>
        <p:spPr>
          <a:xfrm>
            <a:off x="594360" y="5429250"/>
            <a:ext cx="11000232" cy="590550"/>
          </a:xfrm>
          <a:prstGeom prst="roundRect">
            <a:avLst/>
          </a:prstGeom>
          <a:solidFill>
            <a:srgbClr val="EDF7F6"/>
          </a:solidFill>
          <a:ln w="9525">
            <a:solidFill>
              <a:srgbClr val="C9DEDA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52" name="Architecture summary text">
            <a:extLst>
              <a:ext uri="{FF2B5EF4-FFF2-40B4-BE49-F238E27FC236}">
                <a16:creationId xmlns:a16="http://schemas.microsoft.com/office/drawing/2014/main" id="{44841DBF-C7D7-4C48-9836-3E35F8C488D0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15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The agent sends metadata samples, the server stores metrics and baseline state, and the firewall decision returns to the desktop in real time.</a:t>
            </a:r>
            <a:endParaRPr sz="1500"/>
          </a:p>
        </p:txBody>
      </p:sp>
      <p:sp>
        <p:nvSpPr>
          <p:cNvPr id="57" name="Core technologies moved row background">
            <a:extLst>
              <a:ext uri="{FF2B5EF4-FFF2-40B4-BE49-F238E27FC236}">
                <a16:creationId xmlns:a16="http://schemas.microsoft.com/office/drawing/2014/main" id="{91A82C50-ADC7-474E-BB21-5D47A74E8093}"/>
              </a:ext>
            </a:extLst>
          </p:cNvPr>
          <p:cNvSpPr>
            <a:spLocks noGrp="1"/>
          </p:cNvSpPr>
          <p:nvPr/>
        </p:nvSpPr>
        <p:spPr>
          <a:xfrm>
            <a:off x="1428750" y="6076950"/>
            <a:ext cx="9334500" cy="361950"/>
          </a:xfrm>
          <a:prstGeom prst="roundRect">
            <a:avLst>
              <a:gd name="adj" fmla="val 21053"/>
            </a:avLst>
          </a:prstGeom>
          <a:solidFill>
            <a:srgbClr val="E7F1EE"/>
          </a:solidFill>
          <a:ln w="9525">
            <a:solidFill>
              <a:srgbClr val="CAE5DF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sp>
        <p:nvSpPr>
          <p:cNvPr id="58" name="Core technologies moved row title">
            <a:extLst>
              <a:ext uri="{FF2B5EF4-FFF2-40B4-BE49-F238E27FC236}">
                <a16:creationId xmlns:a16="http://schemas.microsoft.com/office/drawing/2014/main" id="{F7232A59-E839-4AED-8136-5542BD14FD90}"/>
              </a:ext>
            </a:extLst>
          </p:cNvPr>
          <p:cNvSpPr>
            <a:spLocks noGrp="1"/>
          </p:cNvSpPr>
          <p:nvPr/>
        </p:nvSpPr>
        <p:spPr>
          <a:xfrm>
            <a:off x="1638300" y="61531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750" b="1">
                <a:solidFill>
                  <a:srgbClr val="0F8F86"/>
                </a:solidFill>
                <a:latin typeface="Trebuchet MS"/>
                <a:ea typeface="Trebuchet MS"/>
                <a:cs typeface="Trebuchet MS"/>
              </a:defRPr>
            </a:pPr>
            <a:r>
              <a:rPr sz="750" b="1">
                <a:solidFill>
                  <a:srgbClr val="0F8F86"/>
                </a:solidFill>
                <a:latin typeface="Trebuchet MS"/>
                <a:ea typeface="Trebuchet MS"/>
                <a:cs typeface="Trebuchet MS"/>
              </a:rPr>
              <a:t>Core technologies and tools we used</a:t>
            </a:r>
          </a:p>
        </p:txBody>
      </p:sp>
      <p:sp>
        <p:nvSpPr>
          <p:cNvPr id="59" name="Slide 10 moved tech csharp tile">
            <a:extLst>
              <a:ext uri="{FF2B5EF4-FFF2-40B4-BE49-F238E27FC236}">
                <a16:creationId xmlns:a16="http://schemas.microsoft.com/office/drawing/2014/main" id="{6F87D3E5-7ED9-4A76-AEEE-77C319CD3E8F}"/>
              </a:ext>
            </a:extLst>
          </p:cNvPr>
          <p:cNvSpPr>
            <a:spLocks noGrp="1"/>
          </p:cNvSpPr>
          <p:nvPr/>
        </p:nvSpPr>
        <p:spPr>
          <a:xfrm>
            <a:off x="39814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53" name="גרפיקה 1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048125" y="6162675"/>
            <a:ext cx="171450" cy="171450"/>
          </a:xfrm>
          <a:prstGeom prst="rect">
            <a:avLst/>
          </a:prstGeom>
        </p:spPr>
      </p:pic>
      <p:sp>
        <p:nvSpPr>
          <p:cNvPr id="61" name="Slide 10 moved tech csharp label">
            <a:extLst>
              <a:ext uri="{FF2B5EF4-FFF2-40B4-BE49-F238E27FC236}">
                <a16:creationId xmlns:a16="http://schemas.microsoft.com/office/drawing/2014/main" id="{946F8666-F5C7-4FB9-B1F5-31B3EF6F07BC}"/>
              </a:ext>
            </a:extLst>
          </p:cNvPr>
          <p:cNvSpPr>
            <a:spLocks noGrp="1"/>
          </p:cNvSpPr>
          <p:nvPr/>
        </p:nvSpPr>
        <p:spPr>
          <a:xfrm>
            <a:off x="42481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C#</a:t>
            </a:r>
          </a:p>
        </p:txBody>
      </p:sp>
      <p:sp>
        <p:nvSpPr>
          <p:cNvPr id="62" name="Slide 10 moved tech dotnet tile">
            <a:extLst>
              <a:ext uri="{FF2B5EF4-FFF2-40B4-BE49-F238E27FC236}">
                <a16:creationId xmlns:a16="http://schemas.microsoft.com/office/drawing/2014/main" id="{96C8D3CC-1BD2-416D-B894-E01D2196A23F}"/>
              </a:ext>
            </a:extLst>
          </p:cNvPr>
          <p:cNvSpPr>
            <a:spLocks noGrp="1"/>
          </p:cNvSpPr>
          <p:nvPr/>
        </p:nvSpPr>
        <p:spPr>
          <a:xfrm>
            <a:off x="47053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56" name="גרפיקה 1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772025" y="6162675"/>
            <a:ext cx="171450" cy="171450"/>
          </a:xfrm>
          <a:prstGeom prst="rect">
            <a:avLst/>
          </a:prstGeom>
        </p:spPr>
      </p:pic>
      <p:sp>
        <p:nvSpPr>
          <p:cNvPr id="64" name="Slide 10 moved tech dotnet label">
            <a:extLst>
              <a:ext uri="{FF2B5EF4-FFF2-40B4-BE49-F238E27FC236}">
                <a16:creationId xmlns:a16="http://schemas.microsoft.com/office/drawing/2014/main" id="{6A0F8329-8B99-4472-8EA8-E8749F64A1C7}"/>
              </a:ext>
            </a:extLst>
          </p:cNvPr>
          <p:cNvSpPr>
            <a:spLocks noGrp="1"/>
          </p:cNvSpPr>
          <p:nvPr/>
        </p:nvSpPr>
        <p:spPr>
          <a:xfrm>
            <a:off x="49720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.NET</a:t>
            </a:r>
          </a:p>
        </p:txBody>
      </p:sp>
      <p:sp>
        <p:nvSpPr>
          <p:cNvPr id="65" name="Slide 10 moved tech windows tile">
            <a:extLst>
              <a:ext uri="{FF2B5EF4-FFF2-40B4-BE49-F238E27FC236}">
                <a16:creationId xmlns:a16="http://schemas.microsoft.com/office/drawing/2014/main" id="{98B7BCFB-292C-4EF2-9BF9-D3FBC3D7F6E4}"/>
              </a:ext>
            </a:extLst>
          </p:cNvPr>
          <p:cNvSpPr>
            <a:spLocks noGrp="1"/>
          </p:cNvSpPr>
          <p:nvPr/>
        </p:nvSpPr>
        <p:spPr>
          <a:xfrm>
            <a:off x="54292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59" name="גרפיקה 1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5495925" y="6162675"/>
            <a:ext cx="171450" cy="171450"/>
          </a:xfrm>
          <a:prstGeom prst="rect">
            <a:avLst/>
          </a:prstGeom>
        </p:spPr>
      </p:pic>
      <p:sp>
        <p:nvSpPr>
          <p:cNvPr id="67" name="Slide 10 moved tech windows label">
            <a:extLst>
              <a:ext uri="{FF2B5EF4-FFF2-40B4-BE49-F238E27FC236}">
                <a16:creationId xmlns:a16="http://schemas.microsoft.com/office/drawing/2014/main" id="{C23CB979-45C8-4D14-9510-66430987D272}"/>
              </a:ext>
            </a:extLst>
          </p:cNvPr>
          <p:cNvSpPr>
            <a:spLocks noGrp="1"/>
          </p:cNvSpPr>
          <p:nvPr/>
        </p:nvSpPr>
        <p:spPr>
          <a:xfrm>
            <a:off x="56959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Windows</a:t>
            </a:r>
          </a:p>
        </p:txBody>
      </p:sp>
      <p:sp>
        <p:nvSpPr>
          <p:cNvPr id="68" name="Slide 10 moved tech nodejs tile">
            <a:extLst>
              <a:ext uri="{FF2B5EF4-FFF2-40B4-BE49-F238E27FC236}">
                <a16:creationId xmlns:a16="http://schemas.microsoft.com/office/drawing/2014/main" id="{69DF90D1-7037-4B89-8403-190941EAEAEE}"/>
              </a:ext>
            </a:extLst>
          </p:cNvPr>
          <p:cNvSpPr>
            <a:spLocks noGrp="1"/>
          </p:cNvSpPr>
          <p:nvPr/>
        </p:nvSpPr>
        <p:spPr>
          <a:xfrm>
            <a:off x="61531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62" name="גרפיקה 16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219825" y="6162675"/>
            <a:ext cx="171450" cy="171450"/>
          </a:xfrm>
          <a:prstGeom prst="rect">
            <a:avLst/>
          </a:prstGeom>
        </p:spPr>
      </p:pic>
      <p:sp>
        <p:nvSpPr>
          <p:cNvPr id="70" name="Slide 10 moved tech nodejs label">
            <a:extLst>
              <a:ext uri="{FF2B5EF4-FFF2-40B4-BE49-F238E27FC236}">
                <a16:creationId xmlns:a16="http://schemas.microsoft.com/office/drawing/2014/main" id="{A64608B2-4DA0-43E0-BA84-287A3C982999}"/>
              </a:ext>
            </a:extLst>
          </p:cNvPr>
          <p:cNvSpPr>
            <a:spLocks noGrp="1"/>
          </p:cNvSpPr>
          <p:nvPr/>
        </p:nvSpPr>
        <p:spPr>
          <a:xfrm>
            <a:off x="64198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Node.js</a:t>
            </a:r>
          </a:p>
        </p:txBody>
      </p:sp>
      <p:sp>
        <p:nvSpPr>
          <p:cNvPr id="71" name="Slide 10 moved tech express tile">
            <a:extLst>
              <a:ext uri="{FF2B5EF4-FFF2-40B4-BE49-F238E27FC236}">
                <a16:creationId xmlns:a16="http://schemas.microsoft.com/office/drawing/2014/main" id="{D57AF9A3-F8B3-4A60-8C5D-490AD9F64BF8}"/>
              </a:ext>
            </a:extLst>
          </p:cNvPr>
          <p:cNvSpPr>
            <a:spLocks noGrp="1"/>
          </p:cNvSpPr>
          <p:nvPr/>
        </p:nvSpPr>
        <p:spPr>
          <a:xfrm>
            <a:off x="68770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65" name="גרפיקה 1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943725" y="6162675"/>
            <a:ext cx="171450" cy="171450"/>
          </a:xfrm>
          <a:prstGeom prst="rect">
            <a:avLst/>
          </a:prstGeom>
        </p:spPr>
      </p:pic>
      <p:sp>
        <p:nvSpPr>
          <p:cNvPr id="73" name="Slide 10 moved tech express label">
            <a:extLst>
              <a:ext uri="{FF2B5EF4-FFF2-40B4-BE49-F238E27FC236}">
                <a16:creationId xmlns:a16="http://schemas.microsoft.com/office/drawing/2014/main" id="{793A0B11-8509-40E9-A29F-53C86F630488}"/>
              </a:ext>
            </a:extLst>
          </p:cNvPr>
          <p:cNvSpPr>
            <a:spLocks noGrp="1"/>
          </p:cNvSpPr>
          <p:nvPr/>
        </p:nvSpPr>
        <p:spPr>
          <a:xfrm>
            <a:off x="71437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Express</a:t>
            </a:r>
          </a:p>
        </p:txBody>
      </p:sp>
      <p:sp>
        <p:nvSpPr>
          <p:cNvPr id="74" name="Slide 10 moved tech sql tile">
            <a:extLst>
              <a:ext uri="{FF2B5EF4-FFF2-40B4-BE49-F238E27FC236}">
                <a16:creationId xmlns:a16="http://schemas.microsoft.com/office/drawing/2014/main" id="{517E1955-42AB-4F3F-9E81-DACF3F45EEBD}"/>
              </a:ext>
            </a:extLst>
          </p:cNvPr>
          <p:cNvSpPr>
            <a:spLocks noGrp="1"/>
          </p:cNvSpPr>
          <p:nvPr/>
        </p:nvSpPr>
        <p:spPr>
          <a:xfrm>
            <a:off x="76009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68" name="גרפיקה 1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667625" y="6162675"/>
            <a:ext cx="171450" cy="171450"/>
          </a:xfrm>
          <a:prstGeom prst="rect">
            <a:avLst/>
          </a:prstGeom>
        </p:spPr>
      </p:pic>
      <p:sp>
        <p:nvSpPr>
          <p:cNvPr id="76" name="Slide 10 moved tech sql label">
            <a:extLst>
              <a:ext uri="{FF2B5EF4-FFF2-40B4-BE49-F238E27FC236}">
                <a16:creationId xmlns:a16="http://schemas.microsoft.com/office/drawing/2014/main" id="{0E39AD69-A7ED-4245-91E5-3096585539B0}"/>
              </a:ext>
            </a:extLst>
          </p:cNvPr>
          <p:cNvSpPr>
            <a:spLocks noGrp="1"/>
          </p:cNvSpPr>
          <p:nvPr/>
        </p:nvSpPr>
        <p:spPr>
          <a:xfrm>
            <a:off x="78676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SQL</a:t>
            </a:r>
          </a:p>
        </p:txBody>
      </p:sp>
      <p:sp>
        <p:nvSpPr>
          <p:cNvPr id="77" name="Slide 10 moved tech docker tile">
            <a:extLst>
              <a:ext uri="{FF2B5EF4-FFF2-40B4-BE49-F238E27FC236}">
                <a16:creationId xmlns:a16="http://schemas.microsoft.com/office/drawing/2014/main" id="{E64ABD9E-7A67-45CE-8824-2B48B2100C8A}"/>
              </a:ext>
            </a:extLst>
          </p:cNvPr>
          <p:cNvSpPr>
            <a:spLocks noGrp="1"/>
          </p:cNvSpPr>
          <p:nvPr/>
        </p:nvSpPr>
        <p:spPr>
          <a:xfrm>
            <a:off x="83248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71" name="גרפיקה 1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8391525" y="6162675"/>
            <a:ext cx="171450" cy="171450"/>
          </a:xfrm>
          <a:prstGeom prst="rect">
            <a:avLst/>
          </a:prstGeom>
        </p:spPr>
      </p:pic>
      <p:sp>
        <p:nvSpPr>
          <p:cNvPr id="79" name="Slide 10 moved tech docker label">
            <a:extLst>
              <a:ext uri="{FF2B5EF4-FFF2-40B4-BE49-F238E27FC236}">
                <a16:creationId xmlns:a16="http://schemas.microsoft.com/office/drawing/2014/main" id="{3215D0D0-8AD3-4FA5-8610-7E8A55DEF35C}"/>
              </a:ext>
            </a:extLst>
          </p:cNvPr>
          <p:cNvSpPr>
            <a:spLocks noGrp="1"/>
          </p:cNvSpPr>
          <p:nvPr/>
        </p:nvSpPr>
        <p:spPr>
          <a:xfrm>
            <a:off x="85915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Docker</a:t>
            </a:r>
          </a:p>
        </p:txBody>
      </p:sp>
      <p:sp>
        <p:nvSpPr>
          <p:cNvPr id="80" name="Slide 10 moved tech googlecloud tile">
            <a:extLst>
              <a:ext uri="{FF2B5EF4-FFF2-40B4-BE49-F238E27FC236}">
                <a16:creationId xmlns:a16="http://schemas.microsoft.com/office/drawing/2014/main" id="{D20CB6F4-3A4B-4D44-B887-4756ECDE615C}"/>
              </a:ext>
            </a:extLst>
          </p:cNvPr>
          <p:cNvSpPr>
            <a:spLocks noGrp="1"/>
          </p:cNvSpPr>
          <p:nvPr/>
        </p:nvSpPr>
        <p:spPr>
          <a:xfrm>
            <a:off x="90487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74" name="גרפיקה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9115425" y="6162675"/>
            <a:ext cx="171450" cy="171450"/>
          </a:xfrm>
          <a:prstGeom prst="rect">
            <a:avLst/>
          </a:prstGeom>
        </p:spPr>
      </p:pic>
      <p:sp>
        <p:nvSpPr>
          <p:cNvPr id="82" name="Slide 10 moved tech googlecloud label">
            <a:extLst>
              <a:ext uri="{FF2B5EF4-FFF2-40B4-BE49-F238E27FC236}">
                <a16:creationId xmlns:a16="http://schemas.microsoft.com/office/drawing/2014/main" id="{7277DCAE-DADF-4DF8-9755-85B5FD7F1872}"/>
              </a:ext>
            </a:extLst>
          </p:cNvPr>
          <p:cNvSpPr>
            <a:spLocks noGrp="1"/>
          </p:cNvSpPr>
          <p:nvPr/>
        </p:nvSpPr>
        <p:spPr>
          <a:xfrm>
            <a:off x="93154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Cloud</a:t>
            </a:r>
          </a:p>
        </p:txBody>
      </p:sp>
      <p:sp>
        <p:nvSpPr>
          <p:cNvPr id="83" name="Slide 10 moved tech git tile">
            <a:extLst>
              <a:ext uri="{FF2B5EF4-FFF2-40B4-BE49-F238E27FC236}">
                <a16:creationId xmlns:a16="http://schemas.microsoft.com/office/drawing/2014/main" id="{DF895E57-DDE1-477A-983A-40385F0962A6}"/>
              </a:ext>
            </a:extLst>
          </p:cNvPr>
          <p:cNvSpPr>
            <a:spLocks noGrp="1"/>
          </p:cNvSpPr>
          <p:nvPr/>
        </p:nvSpPr>
        <p:spPr>
          <a:xfrm>
            <a:off x="9772650" y="6096000"/>
            <a:ext cx="6667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7E6E1"/>
            </a:solidFill>
            <a:prstDash val="solid"/>
          </a:ln>
        </p:spPr>
        <p:txBody>
          <a:bodyPr rtlCol="0"/>
          <a:lstStyle/>
          <a:p>
            <a:endParaRPr/>
          </a:p>
        </p:txBody>
      </p:sp>
      <p:pic>
        <p:nvPicPr>
          <p:cNvPr id="177" name="גרפיקה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9839325" y="6162675"/>
            <a:ext cx="171450" cy="171450"/>
          </a:xfrm>
          <a:prstGeom prst="rect">
            <a:avLst/>
          </a:prstGeom>
        </p:spPr>
      </p:pic>
      <p:sp>
        <p:nvSpPr>
          <p:cNvPr id="85" name="Slide 10 moved tech git label">
            <a:extLst>
              <a:ext uri="{FF2B5EF4-FFF2-40B4-BE49-F238E27FC236}">
                <a16:creationId xmlns:a16="http://schemas.microsoft.com/office/drawing/2014/main" id="{7C7BDD9B-180D-4EFD-A510-2662734B8E19}"/>
              </a:ext>
            </a:extLst>
          </p:cNvPr>
          <p:cNvSpPr>
            <a:spLocks noGrp="1"/>
          </p:cNvSpPr>
          <p:nvPr/>
        </p:nvSpPr>
        <p:spPr>
          <a:xfrm>
            <a:off x="10039350" y="616267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l" rtl="0">
              <a:buNone/>
              <a:def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defRPr>
            </a:pPr>
            <a:r>
              <a:rPr sz="480" b="1">
                <a:solidFill>
                  <a:srgbClr val="10243E"/>
                </a:solidFill>
                <a:latin typeface="Trebuchet MS"/>
                <a:ea typeface="Trebuchet MS"/>
                <a:cs typeface="Trebuchet MS"/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41930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dot">
            <a:extLst>
              <a:ext uri="{FF2B5EF4-FFF2-40B4-BE49-F238E27FC236}">
                <a16:creationId xmlns:a16="http://schemas.microsoft.com/office/drawing/2014/main" id="{F9FB2688-8F04-452B-AB29-74414C08BF58}"/>
              </a:ext>
            </a:extLst>
          </p:cNvPr>
          <p:cNvSpPr>
            <a:spLocks noGrp="1"/>
          </p:cNvSpPr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A67010B-DB6A-46D7-A9C8-83DCBB3E55CA}"/>
              </a:ext>
            </a:extLst>
          </p:cNvPr>
          <p:cNvSpPr>
            <a:spLocks noGrp="1"/>
          </p:cNvSpPr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1400" b="1" spc="300">
                <a:solidFill>
                  <a:srgbClr val="0B6E66"/>
                </a:solidFill>
                <a:latin typeface="Trebuchet MS"/>
                <a:ea typeface="Trebuchet MS"/>
                <a:cs typeface="Trebuchet MS"/>
              </a:rPr>
              <a:t>ENGINEERING</a:t>
            </a:r>
            <a:endParaRPr sz="14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F697AA9-C098-465B-B5F8-DC9C78F87662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99060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</a:pPr>
            <a:r>
              <a:rPr sz="30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Technical challenges &amp; engineering decisions</a:t>
            </a:r>
            <a:endParaRPr sz="300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C0337E1D-49BC-44FE-B055-E741EDF01ECB}"/>
              </a:ext>
            </a:extLst>
          </p:cNvPr>
          <p:cNvSpPr>
            <a:spLocks noGrp="1"/>
          </p:cNvSpPr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0">
              <a:buNone/>
            </a:pPr>
            <a:r>
              <a:rPr sz="1600" b="1">
                <a:solidFill>
                  <a:srgbClr val="7A8A9C"/>
                </a:solidFill>
                <a:latin typeface="Trebuchet MS"/>
                <a:ea typeface="Trebuchet MS"/>
                <a:cs typeface="Trebuchet MS"/>
              </a:rPr>
              <a:t>11</a:t>
            </a:r>
            <a:endParaRPr sz="1600"/>
          </a:p>
        </p:txBody>
      </p:sp>
      <p:sp>
        <p:nvSpPr>
          <p:cNvPr id="6" name="Logo card">
            <a:extLst>
              <a:ext uri="{FF2B5EF4-FFF2-40B4-BE49-F238E27FC236}">
                <a16:creationId xmlns:a16="http://schemas.microsoft.com/office/drawing/2014/main" id="{BF96CDA8-1F3A-40D9-8D1E-8DFB44EFC624}"/>
              </a:ext>
            </a:extLst>
          </p:cNvPr>
          <p:cNvSpPr>
            <a:spLocks noGrp="1"/>
          </p:cNvSpPr>
          <p:nvPr/>
        </p:nvSpPr>
        <p:spPr>
          <a:xfrm>
            <a:off x="11109960" y="237744"/>
            <a:ext cx="585216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BEA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35" name="KungFlow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  <a:ln>
            <a:noFill/>
          </a:ln>
        </p:spPr>
      </p:pic>
      <p:sp>
        <p:nvSpPr>
          <p:cNvPr id="8" name="Mouse movement card">
            <a:extLst>
              <a:ext uri="{FF2B5EF4-FFF2-40B4-BE49-F238E27FC236}">
                <a16:creationId xmlns:a16="http://schemas.microsoft.com/office/drawing/2014/main" id="{DEE0EE1C-4CC7-4F74-AECA-FFC145F06BF3}"/>
              </a:ext>
            </a:extLst>
          </p:cNvPr>
          <p:cNvSpPr>
            <a:spLocks noGrp="1"/>
          </p:cNvSpPr>
          <p:nvPr/>
        </p:nvSpPr>
        <p:spPr>
          <a:xfrm>
            <a:off x="59436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9" name="Mouse movement icon background">
            <a:extLst>
              <a:ext uri="{FF2B5EF4-FFF2-40B4-BE49-F238E27FC236}">
                <a16:creationId xmlns:a16="http://schemas.microsoft.com/office/drawing/2014/main" id="{95E409E1-6C49-44EB-85BA-918FE75FE45D}"/>
              </a:ext>
            </a:extLst>
          </p:cNvPr>
          <p:cNvSpPr>
            <a:spLocks noGrp="1"/>
          </p:cNvSpPr>
          <p:nvPr/>
        </p:nvSpPr>
        <p:spPr>
          <a:xfrm>
            <a:off x="86868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38" name="Mouse movemen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11" name="Mouse movement title">
            <a:extLst>
              <a:ext uri="{FF2B5EF4-FFF2-40B4-BE49-F238E27FC236}">
                <a16:creationId xmlns:a16="http://schemas.microsoft.com/office/drawing/2014/main" id="{69B2719B-6703-410C-AECA-EF4B068D4A97}"/>
              </a:ext>
            </a:extLst>
          </p:cNvPr>
          <p:cNvSpPr>
            <a:spLocks noGrp="1"/>
          </p:cNvSpPr>
          <p:nvPr/>
        </p:nvSpPr>
        <p:spPr>
          <a:xfrm>
            <a:off x="86868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350" b="1">
                <a:solidFill>
                  <a:srgbClr val="0B2341"/>
                </a:solidFill>
              </a:defRPr>
            </a:pPr>
            <a:r>
              <a:rPr sz="1350" b="1">
                <a:solidFill>
                  <a:srgbClr val="0B2341"/>
                </a:solidFill>
                <a:latin typeface="Trebuchet MS"/>
                <a:ea typeface="Trebuchet MS"/>
                <a:cs typeface="Trebuchet MS"/>
              </a:rPr>
              <a:t>1 · Detect without content</a:t>
            </a:r>
            <a:endParaRPr sz="2000"/>
          </a:p>
        </p:txBody>
      </p:sp>
      <p:sp>
        <p:nvSpPr>
          <p:cNvPr id="12" name="Mouse movement body">
            <a:extLst>
              <a:ext uri="{FF2B5EF4-FFF2-40B4-BE49-F238E27FC236}">
                <a16:creationId xmlns:a16="http://schemas.microsoft.com/office/drawing/2014/main" id="{26AA7072-20B5-43A3-A5A0-C36F5CB1CA5B}"/>
              </a:ext>
            </a:extLst>
          </p:cNvPr>
          <p:cNvSpPr>
            <a:spLocks noGrp="1"/>
          </p:cNvSpPr>
          <p:nvPr/>
        </p:nvSpPr>
        <p:spPr>
          <a:xfrm>
            <a:off x="86868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125">
                <a:solidFill>
                  <a:srgbClr val="5E7185"/>
                </a:solidFill>
              </a:defRPr>
            </a:pPr>
            <a:r>
              <a:rPr sz="1125">
                <a:solidFill>
                  <a:srgbClr val="5E7185"/>
                </a:solidFill>
                <a:latin typeface="Trebuchet MS"/>
                <a:ea typeface="Trebuchet MS"/>
                <a:cs typeface="Trebuchet MS"/>
              </a:rPr>
              <a:t>Use behavioral metadata: typing rhythm, mouse movement, and app/window switching. Do not collect typed text, websites, documents, or screenshots.</a:t>
            </a:r>
            <a:endParaRPr sz="1500"/>
          </a:p>
        </p:txBody>
      </p:sp>
      <p:sp>
        <p:nvSpPr>
          <p:cNvPr id="13" name="Typing behavior card">
            <a:extLst>
              <a:ext uri="{FF2B5EF4-FFF2-40B4-BE49-F238E27FC236}">
                <a16:creationId xmlns:a16="http://schemas.microsoft.com/office/drawing/2014/main" id="{3BA0ED14-1D83-4106-AAFB-23607655DF3B}"/>
              </a:ext>
            </a:extLst>
          </p:cNvPr>
          <p:cNvSpPr>
            <a:spLocks noGrp="1"/>
          </p:cNvSpPr>
          <p:nvPr/>
        </p:nvSpPr>
        <p:spPr>
          <a:xfrm>
            <a:off x="438912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4" name="Typing behavior icon background">
            <a:extLst>
              <a:ext uri="{FF2B5EF4-FFF2-40B4-BE49-F238E27FC236}">
                <a16:creationId xmlns:a16="http://schemas.microsoft.com/office/drawing/2014/main" id="{4085210E-329C-4A2A-9C95-FF042F81EEC0}"/>
              </a:ext>
            </a:extLst>
          </p:cNvPr>
          <p:cNvSpPr>
            <a:spLocks noGrp="1"/>
          </p:cNvSpPr>
          <p:nvPr/>
        </p:nvSpPr>
        <p:spPr>
          <a:xfrm>
            <a:off x="466344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43" name="Typing behavio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16" name="Typing behavior title">
            <a:extLst>
              <a:ext uri="{FF2B5EF4-FFF2-40B4-BE49-F238E27FC236}">
                <a16:creationId xmlns:a16="http://schemas.microsoft.com/office/drawing/2014/main" id="{0A7D47E7-A427-42F7-A23A-E36C34370617}"/>
              </a:ext>
            </a:extLst>
          </p:cNvPr>
          <p:cNvSpPr>
            <a:spLocks noGrp="1"/>
          </p:cNvSpPr>
          <p:nvPr/>
        </p:nvSpPr>
        <p:spPr>
          <a:xfrm>
            <a:off x="466344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350" b="1">
                <a:solidFill>
                  <a:srgbClr val="0B2341"/>
                </a:solidFill>
              </a:defRPr>
            </a:pPr>
            <a:r>
              <a:rPr sz="1350" b="1">
                <a:solidFill>
                  <a:srgbClr val="0B2341"/>
                </a:solidFill>
                <a:latin typeface="Trebuchet MS"/>
                <a:ea typeface="Trebuchet MS"/>
                <a:cs typeface="Trebuchet MS"/>
              </a:rPr>
              <a:t>2 · Personal baseline</a:t>
            </a:r>
            <a:endParaRPr sz="2000"/>
          </a:p>
        </p:txBody>
      </p:sp>
      <p:sp>
        <p:nvSpPr>
          <p:cNvPr id="17" name="Typing behavior body">
            <a:extLst>
              <a:ext uri="{FF2B5EF4-FFF2-40B4-BE49-F238E27FC236}">
                <a16:creationId xmlns:a16="http://schemas.microsoft.com/office/drawing/2014/main" id="{024B8687-EB75-4867-B2C4-6FC9062F5751}"/>
              </a:ext>
            </a:extLst>
          </p:cNvPr>
          <p:cNvSpPr>
            <a:spLocks noGrp="1"/>
          </p:cNvSpPr>
          <p:nvPr/>
        </p:nvSpPr>
        <p:spPr>
          <a:xfrm>
            <a:off x="466344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125">
                <a:solidFill>
                  <a:srgbClr val="5E7185"/>
                </a:solidFill>
              </a:defRPr>
            </a:pPr>
            <a:r>
              <a:rPr sz="1125">
                <a:solidFill>
                  <a:srgbClr val="5E7185"/>
                </a:solidFill>
                <a:latin typeface="Trebuchet MS"/>
                <a:ea typeface="Trebuchet MS"/>
                <a:cs typeface="Trebuchet MS"/>
              </a:rPr>
              <a:t>Compare each user against a personal/adaptive baseline instead of applying one universal behavior level.</a:t>
            </a:r>
            <a:endParaRPr sz="1500"/>
          </a:p>
        </p:txBody>
      </p:sp>
      <p:sp>
        <p:nvSpPr>
          <p:cNvPr id="18" name="App switching card">
            <a:extLst>
              <a:ext uri="{FF2B5EF4-FFF2-40B4-BE49-F238E27FC236}">
                <a16:creationId xmlns:a16="http://schemas.microsoft.com/office/drawing/2014/main" id="{583F3242-5678-4FFF-BFB0-81DCDBE392CC}"/>
              </a:ext>
            </a:extLst>
          </p:cNvPr>
          <p:cNvSpPr>
            <a:spLocks noGrp="1"/>
          </p:cNvSpPr>
          <p:nvPr/>
        </p:nvSpPr>
        <p:spPr>
          <a:xfrm>
            <a:off x="8183880" y="1809750"/>
            <a:ext cx="352044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E2E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9" name="App switching icon background">
            <a:extLst>
              <a:ext uri="{FF2B5EF4-FFF2-40B4-BE49-F238E27FC236}">
                <a16:creationId xmlns:a16="http://schemas.microsoft.com/office/drawing/2014/main" id="{4E190CF0-81BE-4402-A1DE-6EAAC35AEF16}"/>
              </a:ext>
            </a:extLst>
          </p:cNvPr>
          <p:cNvSpPr>
            <a:spLocks noGrp="1"/>
          </p:cNvSpPr>
          <p:nvPr/>
        </p:nvSpPr>
        <p:spPr>
          <a:xfrm>
            <a:off x="8458200" y="2095500"/>
            <a:ext cx="658368" cy="658368"/>
          </a:xfrm>
          <a:prstGeom prst="ellipse">
            <a:avLst/>
          </a:prstGeom>
          <a:solidFill>
            <a:srgbClr val="EDF4F3"/>
          </a:solidFill>
          <a:ln w="9525">
            <a:solidFill>
              <a:srgbClr val="CFE0DD"/>
            </a:solidFill>
          </a:ln>
        </p:spPr>
        <p:txBody>
          <a:bodyPr rtlCol="0"/>
          <a:lstStyle/>
          <a:p>
            <a:endParaRPr/>
          </a:p>
        </p:txBody>
      </p:sp>
      <p:pic>
        <p:nvPicPr>
          <p:cNvPr id="48" name="App switch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2255520"/>
            <a:ext cx="338328" cy="338328"/>
          </a:xfrm>
          <a:prstGeom prst="rect">
            <a:avLst/>
          </a:prstGeom>
          <a:ln>
            <a:noFill/>
          </a:ln>
        </p:spPr>
      </p:pic>
      <p:sp>
        <p:nvSpPr>
          <p:cNvPr id="21" name="App switching title">
            <a:extLst>
              <a:ext uri="{FF2B5EF4-FFF2-40B4-BE49-F238E27FC236}">
                <a16:creationId xmlns:a16="http://schemas.microsoft.com/office/drawing/2014/main" id="{BBDDD08B-3F9A-4155-BA77-11E274CE5B53}"/>
              </a:ext>
            </a:extLst>
          </p:cNvPr>
          <p:cNvSpPr>
            <a:spLocks noGrp="1"/>
          </p:cNvSpPr>
          <p:nvPr/>
        </p:nvSpPr>
        <p:spPr>
          <a:xfrm>
            <a:off x="8458200" y="295275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350" b="1">
                <a:solidFill>
                  <a:srgbClr val="0B2341"/>
                </a:solidFill>
              </a:defRPr>
            </a:pPr>
            <a:r>
              <a:rPr sz="1350" b="1">
                <a:solidFill>
                  <a:srgbClr val="0B2341"/>
                </a:solidFill>
                <a:latin typeface="Trebuchet MS"/>
                <a:ea typeface="Trebuchet MS"/>
                <a:cs typeface="Trebuchet MS"/>
              </a:rPr>
              <a:t>3 · Protection loop</a:t>
            </a:r>
            <a:endParaRPr sz="2000"/>
          </a:p>
        </p:txBody>
      </p:sp>
      <p:sp>
        <p:nvSpPr>
          <p:cNvPr id="22" name="App switching body">
            <a:extLst>
              <a:ext uri="{FF2B5EF4-FFF2-40B4-BE49-F238E27FC236}">
                <a16:creationId xmlns:a16="http://schemas.microsoft.com/office/drawing/2014/main" id="{9D9FB068-9821-47C6-BCAA-BF76CC1F19A0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0">
              <a:buNone/>
              <a:defRPr sz="1125">
                <a:solidFill>
                  <a:srgbClr val="5E7185"/>
                </a:solidFill>
              </a:defRPr>
            </a:pPr>
            <a:r>
              <a:rPr sz="1125">
                <a:solidFill>
                  <a:srgbClr val="5E7185"/>
                </a:solidFill>
                <a:latin typeface="Trebuchet MS"/>
                <a:ea typeface="Trebuchet MS"/>
                <a:cs typeface="Trebuchet MS"/>
              </a:rPr>
              <a:t>Desktop Agent sends samples. The server scores them with stored metrics and baseline. A protection decision returns to the agent.</a:t>
            </a:r>
            <a:endParaRPr sz="1500"/>
          </a:p>
        </p:txBody>
      </p:sp>
      <p:sp>
        <p:nvSpPr>
          <p:cNvPr id="23" name="Formula panel">
            <a:extLst>
              <a:ext uri="{FF2B5EF4-FFF2-40B4-BE49-F238E27FC236}">
                <a16:creationId xmlns:a16="http://schemas.microsoft.com/office/drawing/2014/main" id="{DF3BD62C-F12F-4646-8983-D9E3157CFB0B}"/>
              </a:ext>
            </a:extLst>
          </p:cNvPr>
          <p:cNvSpPr>
            <a:spLocks noGrp="1"/>
          </p:cNvSpPr>
          <p:nvPr/>
        </p:nvSpPr>
        <p:spPr>
          <a:xfrm>
            <a:off x="594360" y="4743450"/>
            <a:ext cx="11000232" cy="1162050"/>
          </a:xfrm>
          <a:prstGeom prst="roundRect">
            <a:avLst/>
          </a:prstGeom>
          <a:solidFill>
            <a:srgbClr val="EDF7F6"/>
          </a:solidFill>
          <a:ln w="9525">
            <a:solidFill>
              <a:srgbClr val="C9DEDA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" name="Formula title">
            <a:extLst>
              <a:ext uri="{FF2B5EF4-FFF2-40B4-BE49-F238E27FC236}">
                <a16:creationId xmlns:a16="http://schemas.microsoft.com/office/drawing/2014/main" id="{F70CC6FF-75BC-468F-9C3F-21C56AE37BC9}"/>
              </a:ext>
            </a:extLst>
          </p:cNvPr>
          <p:cNvSpPr>
            <a:spLocks noGrp="1"/>
          </p:cNvSpPr>
          <p:nvPr/>
        </p:nvSpPr>
        <p:spPr>
          <a:xfrm>
            <a:off x="868680" y="4895850"/>
            <a:ext cx="10451592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sz="2100" b="1">
                <a:solidFill>
                  <a:srgbClr val="122033"/>
                </a:solidFill>
                <a:latin typeface="Trebuchet MS"/>
                <a:ea typeface="Trebuchet MS"/>
                <a:cs typeface="Trebuchet MS"/>
              </a:rPr>
              <a:t>Implemented loop</a:t>
            </a:r>
            <a:endParaRPr sz="2100"/>
          </a:p>
        </p:txBody>
      </p:sp>
      <p:sp>
        <p:nvSpPr>
          <p:cNvPr id="25" name="Formula body">
            <a:extLst>
              <a:ext uri="{FF2B5EF4-FFF2-40B4-BE49-F238E27FC236}">
                <a16:creationId xmlns:a16="http://schemas.microsoft.com/office/drawing/2014/main" id="{5F0F09DB-BAF3-42E7-AF65-73510F6BE916}"/>
              </a:ext>
            </a:extLst>
          </p:cNvPr>
          <p:cNvSpPr>
            <a:spLocks noGrp="1"/>
          </p:cNvSpPr>
          <p:nvPr/>
        </p:nvSpPr>
        <p:spPr>
          <a:xfrm>
            <a:off x="1162050" y="5305425"/>
            <a:ext cx="98583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  <a:defRPr sz="1125" b="1">
                <a:solidFill>
                  <a:srgbClr val="0B2341"/>
                </a:solidFill>
              </a:defRPr>
            </a:pPr>
            <a:r>
              <a:rPr sz="1125" b="1">
                <a:solidFill>
                  <a:srgbClr val="0B2341"/>
                </a:solidFill>
                <a:latin typeface="Trebuchet MS"/>
                <a:ea typeface="Trebuchet MS"/>
                <a:cs typeface="Trebuchet MS"/>
              </a:rPr>
              <a:t>Desktop Agent → activity sample → server scoring against baseline ↔ SQL metrics + baseline → protection decision → Desktop Agent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23027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card">
            <a:extLst>
              <a:ext uri="{FF2B5EF4-FFF2-40B4-BE49-F238E27FC236}">
                <a16:creationId xmlns:a16="http://schemas.microsoft.com/office/drawing/2014/main" id="{5255DD60-9612-4DF8-9F75-84FE9981FA4B}"/>
              </a:ext>
            </a:extLst>
          </p:cNvPr>
          <p:cNvSpPr>
            <a:spLocks noGrp="1"/>
          </p:cNvSpPr>
          <p:nvPr/>
        </p:nvSpPr>
        <p:spPr>
          <a:xfrm>
            <a:off x="5562600" y="1238250"/>
            <a:ext cx="10668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tlCol="0"/>
          <a:lstStyle/>
          <a:p>
            <a:endParaRPr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0" y="1466850"/>
            <a:ext cx="571500" cy="571500"/>
          </a:xfrm>
          <a:prstGeom prst="rect">
            <a:avLst/>
          </a:prstGeom>
        </p:spPr>
      </p:pic>
      <p:sp>
        <p:nvSpPr>
          <p:cNvPr id="3" name="Thank you title">
            <a:extLst>
              <a:ext uri="{FF2B5EF4-FFF2-40B4-BE49-F238E27FC236}">
                <a16:creationId xmlns:a16="http://schemas.microsoft.com/office/drawing/2014/main" id="{65FD3DFF-D0F5-4629-AA2C-CF824DD7C8ED}"/>
              </a:ext>
            </a:extLst>
          </p:cNvPr>
          <p:cNvSpPr>
            <a:spLocks noGrp="1"/>
          </p:cNvSpPr>
          <p:nvPr/>
        </p:nvSpPr>
        <p:spPr>
          <a:xfrm>
            <a:off x="2095500" y="2724150"/>
            <a:ext cx="8001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ctr" rtl="0">
              <a:buNone/>
              <a:defRPr sz="3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3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Thank you.</a:t>
            </a:r>
          </a:p>
        </p:txBody>
      </p:sp>
      <p:sp>
        <p:nvSpPr>
          <p:cNvPr id="4" name="Thank you subtitle">
            <a:extLst>
              <a:ext uri="{FF2B5EF4-FFF2-40B4-BE49-F238E27FC236}">
                <a16:creationId xmlns:a16="http://schemas.microsoft.com/office/drawing/2014/main" id="{6C844CF0-F24D-4EC8-AB69-2F84A43718BD}"/>
              </a:ext>
            </a:extLst>
          </p:cNvPr>
          <p:cNvSpPr>
            <a:spLocks noGrp="1"/>
          </p:cNvSpPr>
          <p:nvPr/>
        </p:nvSpPr>
        <p:spPr>
          <a:xfrm>
            <a:off x="2476500" y="35242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ctr" rtl="0">
              <a:buNone/>
              <a:defRPr sz="1800">
                <a:solidFill>
                  <a:srgbClr val="D7E6EE"/>
                </a:solidFill>
                <a:latin typeface="Trebuchet MS"/>
                <a:ea typeface="Trebuchet MS"/>
                <a:cs typeface="Trebuchet MS"/>
              </a:defRPr>
            </a:pPr>
            <a:r>
              <a:rPr sz="1800">
                <a:solidFill>
                  <a:srgbClr val="D7E6EE"/>
                </a:solidFill>
                <a:latin typeface="Trebuchet MS"/>
                <a:ea typeface="Trebuchet MS"/>
                <a:cs typeface="Trebuchet MS"/>
              </a:rPr>
              <a:t>For questions and more details</a:t>
            </a:r>
          </a:p>
        </p:txBody>
      </p:sp>
      <p:sp>
        <p:nvSpPr>
          <p:cNvPr id="5" name="Contact">
            <a:extLst>
              <a:ext uri="{FF2B5EF4-FFF2-40B4-BE49-F238E27FC236}">
                <a16:creationId xmlns:a16="http://schemas.microsoft.com/office/drawing/2014/main" id="{20C8AEC5-21DF-4235-AEF7-9963FE3703CE}"/>
              </a:ext>
            </a:extLst>
          </p:cNvPr>
          <p:cNvSpPr>
            <a:spLocks noGrp="1"/>
          </p:cNvSpPr>
          <p:nvPr/>
        </p:nvSpPr>
        <p:spPr>
          <a:xfrm>
            <a:off x="2476500" y="43624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rtlCol="0" anchor="ctr"/>
          <a:lstStyle/>
          <a:p>
            <a:pPr algn="ctr" rtl="0">
              <a:buNone/>
              <a:defRPr sz="1350" b="1">
                <a:solidFill>
                  <a:srgbClr val="70D7C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70D7CF"/>
                </a:solidFill>
                <a:latin typeface="Trebuchet MS"/>
                <a:ea typeface="Trebuchet MS"/>
                <a:cs typeface="Trebuchet MS"/>
              </a:rPr>
              <a:t>Ido Mark  ·  idoomark23@gmail.com</a:t>
            </a:r>
          </a:p>
        </p:txBody>
      </p:sp>
    </p:spTree>
    <p:extLst>
      <p:ext uri="{BB962C8B-B14F-4D97-AF65-F5344CB8AC3E}">
        <p14:creationId xmlns:p14="http://schemas.microsoft.com/office/powerpoint/2010/main" val="908732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1603</Words>
  <Application>Microsoft Office PowerPoint</Application>
  <DocSecurity>0</DocSecurity>
  <PresentationFormat>מסך רחב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Ido Mark</cp:lastModifiedBy>
  <cp:revision>3</cp:revision>
  <dcterms:created xsi:type="dcterms:W3CDTF">2026-09-05T16:24:34Z</dcterms:created>
  <dcterms:modified xsi:type="dcterms:W3CDTF">2026-09-05T16:46:44Z</dcterms:modified>
</cp:coreProperties>
</file>
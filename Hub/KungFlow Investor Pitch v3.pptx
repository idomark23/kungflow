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9370" autoAdjust="0"/>
  </p:normalViewPr>
  <p:slideViewPr>
    <p:cSldViewPr snapToGrid="0" snapToObjects="1">
      <p:cViewPr varScale="1">
        <p:scale>
          <a:sx n="57" d="100"/>
          <a:sy n="57" d="100"/>
        </p:scale>
        <p:origin x="16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לי-אור נסינג" userId="771db226e06d9d67" providerId="LiveId" clId="{F50704A1-7CC8-4C2E-BA6C-A9C5B07F5D79}"/>
    <pc:docChg chg="undo custSel modSld">
      <pc:chgData name="לי-אור נסינג" userId="771db226e06d9d67" providerId="LiveId" clId="{F50704A1-7CC8-4C2E-BA6C-A9C5B07F5D79}" dt="2026-06-17T09:31:58.339" v="115" actId="782"/>
      <pc:docMkLst>
        <pc:docMk/>
      </pc:docMkLst>
      <pc:sldChg chg="modNotesTx">
        <pc:chgData name="לי-אור נסינג" userId="771db226e06d9d67" providerId="LiveId" clId="{F50704A1-7CC8-4C2E-BA6C-A9C5B07F5D79}" dt="2026-06-17T09:21:36.939" v="40" actId="121"/>
        <pc:sldMkLst>
          <pc:docMk/>
          <pc:sldMk cId="0" sldId="256"/>
        </pc:sldMkLst>
      </pc:sldChg>
      <pc:sldChg chg="modSp mod modNotesTx">
        <pc:chgData name="לי-אור נסינג" userId="771db226e06d9d67" providerId="LiveId" clId="{F50704A1-7CC8-4C2E-BA6C-A9C5B07F5D79}" dt="2026-06-17T09:22:19.841" v="43" actId="782"/>
        <pc:sldMkLst>
          <pc:docMk/>
          <pc:sldMk cId="0" sldId="257"/>
        </pc:sldMkLst>
        <pc:spChg chg="mod">
          <ac:chgData name="לי-אור נסינג" userId="771db226e06d9d67" providerId="LiveId" clId="{F50704A1-7CC8-4C2E-BA6C-A9C5B07F5D79}" dt="2026-06-11T17:35:29.632" v="37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NotesTx">
        <pc:chgData name="לי-אור נסינג" userId="771db226e06d9d67" providerId="LiveId" clId="{F50704A1-7CC8-4C2E-BA6C-A9C5B07F5D79}" dt="2026-06-17T09:22:16.113" v="42" actId="782"/>
        <pc:sldMkLst>
          <pc:docMk/>
          <pc:sldMk cId="0" sldId="258"/>
        </pc:sldMkLst>
      </pc:sldChg>
      <pc:sldChg chg="modNotesTx">
        <pc:chgData name="לי-אור נסינג" userId="771db226e06d9d67" providerId="LiveId" clId="{F50704A1-7CC8-4C2E-BA6C-A9C5B07F5D79}" dt="2026-06-17T09:22:11.253" v="41" actId="782"/>
        <pc:sldMkLst>
          <pc:docMk/>
          <pc:sldMk cId="0" sldId="259"/>
        </pc:sldMkLst>
      </pc:sldChg>
      <pc:sldChg chg="modNotesTx">
        <pc:chgData name="לי-אור נסינג" userId="771db226e06d9d67" providerId="LiveId" clId="{F50704A1-7CC8-4C2E-BA6C-A9C5B07F5D79}" dt="2026-06-17T09:24:06.729" v="44" actId="782"/>
        <pc:sldMkLst>
          <pc:docMk/>
          <pc:sldMk cId="0" sldId="260"/>
        </pc:sldMkLst>
      </pc:sldChg>
      <pc:sldChg chg="modNotesTx">
        <pc:chgData name="לי-אור נסינג" userId="771db226e06d9d67" providerId="LiveId" clId="{F50704A1-7CC8-4C2E-BA6C-A9C5B07F5D79}" dt="2026-06-17T09:24:22.710" v="45" actId="782"/>
        <pc:sldMkLst>
          <pc:docMk/>
          <pc:sldMk cId="0" sldId="261"/>
        </pc:sldMkLst>
      </pc:sldChg>
      <pc:sldChg chg="modNotesTx">
        <pc:chgData name="לי-אור נסינג" userId="771db226e06d9d67" providerId="LiveId" clId="{F50704A1-7CC8-4C2E-BA6C-A9C5B07F5D79}" dt="2026-06-17T09:24:34.690" v="46" actId="782"/>
        <pc:sldMkLst>
          <pc:docMk/>
          <pc:sldMk cId="0" sldId="262"/>
        </pc:sldMkLst>
      </pc:sldChg>
      <pc:sldChg chg="modNotesTx">
        <pc:chgData name="לי-אור נסינג" userId="771db226e06d9d67" providerId="LiveId" clId="{F50704A1-7CC8-4C2E-BA6C-A9C5B07F5D79}" dt="2026-06-17T09:24:38.966" v="47" actId="782"/>
        <pc:sldMkLst>
          <pc:docMk/>
          <pc:sldMk cId="0" sldId="263"/>
        </pc:sldMkLst>
      </pc:sldChg>
      <pc:sldChg chg="modNotesTx">
        <pc:chgData name="לי-אור נסינג" userId="771db226e06d9d67" providerId="LiveId" clId="{F50704A1-7CC8-4C2E-BA6C-A9C5B07F5D79}" dt="2026-06-17T09:25:22.367" v="48" actId="782"/>
        <pc:sldMkLst>
          <pc:docMk/>
          <pc:sldMk cId="0" sldId="264"/>
        </pc:sldMkLst>
      </pc:sldChg>
      <pc:sldChg chg="modNotesTx">
        <pc:chgData name="לי-אור נסינג" userId="771db226e06d9d67" providerId="LiveId" clId="{F50704A1-7CC8-4C2E-BA6C-A9C5B07F5D79}" dt="2026-06-17T09:25:26.006" v="49" actId="782"/>
        <pc:sldMkLst>
          <pc:docMk/>
          <pc:sldMk cId="0" sldId="265"/>
        </pc:sldMkLst>
      </pc:sldChg>
      <pc:sldChg chg="modNotesTx">
        <pc:chgData name="לי-אור נסינג" userId="771db226e06d9d67" providerId="LiveId" clId="{F50704A1-7CC8-4C2E-BA6C-A9C5B07F5D79}" dt="2026-06-17T09:27:52.907" v="50" actId="782"/>
        <pc:sldMkLst>
          <pc:docMk/>
          <pc:sldMk cId="0" sldId="266"/>
        </pc:sldMkLst>
      </pc:sldChg>
      <pc:sldChg chg="modNotesTx">
        <pc:chgData name="לי-אור נסינג" userId="771db226e06d9d67" providerId="LiveId" clId="{F50704A1-7CC8-4C2E-BA6C-A9C5B07F5D79}" dt="2026-06-17T09:28:43.170" v="52" actId="782"/>
        <pc:sldMkLst>
          <pc:docMk/>
          <pc:sldMk cId="0" sldId="267"/>
        </pc:sldMkLst>
      </pc:sldChg>
      <pc:sldChg chg="modSp mod modNotesTx">
        <pc:chgData name="לי-אור נסינג" userId="771db226e06d9d67" providerId="LiveId" clId="{F50704A1-7CC8-4C2E-BA6C-A9C5B07F5D79}" dt="2026-06-17T09:30:36.293" v="112" actId="20577"/>
        <pc:sldMkLst>
          <pc:docMk/>
          <pc:sldMk cId="0" sldId="268"/>
        </pc:sldMkLst>
        <pc:spChg chg="mod">
          <ac:chgData name="לי-אור נסינג" userId="771db226e06d9d67" providerId="LiveId" clId="{F50704A1-7CC8-4C2E-BA6C-A9C5B07F5D79}" dt="2026-06-17T09:30:30.801" v="110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לי-אור נסינג" userId="771db226e06d9d67" providerId="LiveId" clId="{F50704A1-7CC8-4C2E-BA6C-A9C5B07F5D79}" dt="2026-06-17T09:30:36.293" v="112" actId="20577"/>
          <ac:spMkLst>
            <pc:docMk/>
            <pc:sldMk cId="0" sldId="268"/>
            <ac:spMk id="10" creationId="{00000000-0000-0000-0000-000000000000}"/>
          </ac:spMkLst>
        </pc:spChg>
      </pc:sldChg>
      <pc:sldChg chg="modNotesTx">
        <pc:chgData name="לי-אור נסינג" userId="771db226e06d9d67" providerId="LiveId" clId="{F50704A1-7CC8-4C2E-BA6C-A9C5B07F5D79}" dt="2026-06-11T17:35:01.818" v="36" actId="782"/>
        <pc:sldMkLst>
          <pc:docMk/>
          <pc:sldMk cId="0" sldId="269"/>
        </pc:sldMkLst>
      </pc:sldChg>
      <pc:sldChg chg="modNotesTx">
        <pc:chgData name="לי-אור נסינג" userId="771db226e06d9d67" providerId="LiveId" clId="{F50704A1-7CC8-4C2E-BA6C-A9C5B07F5D79}" dt="2026-06-17T09:31:58.339" v="115" actId="782"/>
        <pc:sldMkLst>
          <pc:docMk/>
          <pc:sldMk cId="0" sldId="270"/>
        </pc:sldMkLst>
      </pc:sldChg>
      <pc:sldChg chg="modNotesTx">
        <pc:chgData name="לי-אור נסינג" userId="771db226e06d9d67" providerId="LiveId" clId="{F50704A1-7CC8-4C2E-BA6C-A9C5B07F5D79}" dt="2026-06-17T09:31:08.077" v="114" actId="782"/>
        <pc:sldMkLst>
          <pc:docMk/>
          <pc:sldMk cId="0" sldId="27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D2403B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240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53E-4621-8194-0E68DE270B1E}"/>
              </c:ext>
            </c:extLst>
          </c:dPt>
          <c:dPt>
            <c:idx val="1"/>
            <c:invertIfNegative val="0"/>
            <c:bubble3D val="0"/>
            <c:spPr>
              <a:solidFill>
                <a:srgbClr val="1FA0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3E-4621-8194-0E68DE270B1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0243E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 interruptions</c:v>
                </c:pt>
                <c:pt idx="1">
                  <c:v>Without interruptions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4.5999999999999996</c:v>
                </c:pt>
                <c:pt idx="1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3E-4621-8194-0E68DE270B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5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5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1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51560"/>
            <a:ext cx="3383280" cy="47548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8275320" y="1417320"/>
            <a:ext cx="566928" cy="566928"/>
          </a:xfrm>
          <a:prstGeom prst="ellipse">
            <a:avLst/>
          </a:prstGeom>
          <a:solidFill>
            <a:srgbClr val="1FA055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9006840" y="13624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006840" y="1691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load — everything gets through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75320" y="2898648"/>
            <a:ext cx="566928" cy="566928"/>
          </a:xfrm>
          <a:prstGeom prst="ellipse">
            <a:avLst/>
          </a:prstGeom>
          <a:solidFill>
            <a:srgbClr val="D98E04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006840" y="2843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00684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rising — KungFlow is watching your back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75320" y="4379976"/>
            <a:ext cx="566928" cy="566928"/>
          </a:xfrm>
          <a:prstGeom prst="ellipse">
            <a:avLst/>
          </a:prstGeom>
          <a:solidFill>
            <a:srgbClr val="D2403B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9006840" y="4325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006840" y="4654296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— interruptions quietly blocked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21208" y="841248"/>
            <a:ext cx="1106424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960120" cy="914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187452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</a:t>
            </a:r>
            <a:endParaRPr lang="en-US" sz="6600" dirty="0"/>
          </a:p>
        </p:txBody>
      </p:sp>
      <p:sp>
        <p:nvSpPr>
          <p:cNvPr id="15" name="Text 12"/>
          <p:cNvSpPr/>
          <p:nvPr/>
        </p:nvSpPr>
        <p:spPr>
          <a:xfrm>
            <a:off x="594360" y="2971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that protects your people.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594360" y="3611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KungFlow senses cognitive overload in real time and quietly blocks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 — automatically. Healthier minds, deeper work.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94360" y="4983480"/>
            <a:ext cx="6400800" cy="0"/>
          </a:xfrm>
          <a:prstGeom prst="line">
            <a:avLst/>
          </a:prstGeom>
          <a:noFill/>
          <a:ln w="12700">
            <a:solidFill>
              <a:srgbClr val="D8D4C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59436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Round  ·  2026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" y="5486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Leeor Nessing  ·  Ido Mark  ·  Rotem Saraf  ·  Eden Elkayam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people who lived the problem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1472184" y="2148840"/>
            <a:ext cx="822960" cy="822960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1472184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Leeor Nessing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&amp; UX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strategy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465576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2"/>
          <p:cNvSpPr/>
          <p:nvPr/>
        </p:nvSpPr>
        <p:spPr>
          <a:xfrm>
            <a:off x="4343400" y="214884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3"/>
          <p:cNvSpPr/>
          <p:nvPr/>
        </p:nvSpPr>
        <p:spPr>
          <a:xfrm>
            <a:off x="434340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557016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Ido Mark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557016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57016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336792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8"/>
          <p:cNvSpPr/>
          <p:nvPr/>
        </p:nvSpPr>
        <p:spPr>
          <a:xfrm>
            <a:off x="7214616" y="214884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19"/>
          <p:cNvSpPr/>
          <p:nvPr/>
        </p:nvSpPr>
        <p:spPr>
          <a:xfrm>
            <a:off x="7214616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428232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Rotem Saraf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428232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28232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9208008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Shape 24"/>
          <p:cNvSpPr/>
          <p:nvPr/>
        </p:nvSpPr>
        <p:spPr>
          <a:xfrm>
            <a:off x="10085832" y="214884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10085832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299448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Eden Elkayam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299448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299448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594360" y="4983480"/>
            <a:ext cx="11000232" cy="1051560"/>
          </a:xfrm>
          <a:prstGeom prst="roundRect">
            <a:avLst>
              <a:gd name="adj" fmla="val 7826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3" name="Text 30"/>
          <p:cNvSpPr/>
          <p:nvPr/>
        </p:nvSpPr>
        <p:spPr>
          <a:xfrm>
            <a:off x="868680" y="5074920"/>
            <a:ext cx="10451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us?  </a:t>
            </a:r>
            <a:r>
              <a:rPr lang="en-US" sz="16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problem sits exactly between cognitive psychology and software engineering — and so do we. We built KungFlow because notifications were burning our own working hours.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in the zone — then the pings hit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86868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86868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interruptions per workday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86868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Pings, messages and alerts — one every ~9 minutes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8912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1"/>
          <p:cNvSpPr/>
          <p:nvPr/>
        </p:nvSpPr>
        <p:spPr>
          <a:xfrm>
            <a:off x="466344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24028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4515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 min</a:t>
            </a:r>
            <a:endParaRPr lang="en-US" sz="4800" dirty="0"/>
          </a:p>
        </p:txBody>
      </p:sp>
      <p:sp>
        <p:nvSpPr>
          <p:cNvPr id="18" name="Text 13"/>
          <p:cNvSpPr/>
          <p:nvPr/>
        </p:nvSpPr>
        <p:spPr>
          <a:xfrm>
            <a:off x="466344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regain deep focus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466344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single interruption (Mark, UC Irvine)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8388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6"/>
          <p:cNvSpPr/>
          <p:nvPr/>
        </p:nvSpPr>
        <p:spPr>
          <a:xfrm>
            <a:off x="845820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24028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3991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 up</a:t>
            </a:r>
            <a:endParaRPr lang="en-US" sz="4000" dirty="0"/>
          </a:p>
        </p:txBody>
      </p:sp>
      <p:sp>
        <p:nvSpPr>
          <p:cNvPr id="24" name="Text 18"/>
          <p:cNvSpPr/>
          <p:nvPr/>
        </p:nvSpPr>
        <p:spPr>
          <a:xfrm>
            <a:off x="845820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hidden price of pings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845820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work raises stress, frustration &amp; time pressure (CHI '08)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94360" y="5029200"/>
            <a:ext cx="11000232" cy="1005840"/>
          </a:xfrm>
          <a:prstGeom prst="roundRect">
            <a:avLst>
              <a:gd name="adj" fmla="val 8182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Text 21"/>
          <p:cNvSpPr/>
          <p:nvPr/>
        </p:nvSpPr>
        <p:spPr>
          <a:xfrm>
            <a:off x="868680" y="5120640"/>
            <a:ext cx="10451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that for a second — your focus shattering. Now multiply it across every employee. That's what it costs the company.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costs people. Then it costs money.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39496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HUMAN COST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233172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26%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stress and lower job satisfaction among employees with more digital interruptions (Microsoft)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12B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working days lost globally every year to depression &amp; anxiety — a $1T productivity bill (WHO)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interruption load is a direct driver of workplace stress and burnout.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4924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6537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98E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COST — 250-PERSON COMPANY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37960" y="2331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$30M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payroll for 250 employees, every year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~5%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it — $1.5M+ — lost to interruptions (~2 hrs per person, daily)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53796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$10K gross/mo · employer cost ~$75/hr — money you already spend.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5074920"/>
            <a:ext cx="11000232" cy="960120"/>
          </a:xfrm>
          <a:prstGeom prst="roundRect">
            <a:avLst>
              <a:gd name="adj" fmla="val 8571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68680" y="5166360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news: wellbeing pays.  </a:t>
            </a:r>
            <a:r>
              <a:rPr lang="en-US" sz="16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 invested in employee mental health returns ~$4 in health and productivity (WHO).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Plenty of fixes. None act in time.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965960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758952" y="2167128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7685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848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Do-Not-Disturb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71600" y="241401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an overloaded brain to notice it's overloaded — exactly when it can't.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4360" y="2990088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Shape 10"/>
          <p:cNvSpPr/>
          <p:nvPr/>
        </p:nvSpPr>
        <p:spPr>
          <a:xfrm>
            <a:off x="758952" y="3191256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009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089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trackers (RescueTime, Toggl)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71600" y="34381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damage after it's done. A speedometer, not a seatbelt.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94360" y="4014216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Shape 14"/>
          <p:cNvSpPr/>
          <p:nvPr/>
        </p:nvSpPr>
        <p:spPr>
          <a:xfrm>
            <a:off x="758952" y="4215384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32511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41330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focus-hour policies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371600" y="44622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One-size-fits-none. Not personal, not enforced, quietly resented.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94360" y="5038344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Shape 18"/>
          <p:cNvSpPr/>
          <p:nvPr/>
        </p:nvSpPr>
        <p:spPr>
          <a:xfrm>
            <a:off x="758952" y="5239512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34924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51572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Wellness apps (Calm, Headspace)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371600" y="54864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— but they live outside the workflow where the damage happens.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83880" y="1965960"/>
            <a:ext cx="3429000" cy="4041648"/>
          </a:xfrm>
          <a:prstGeom prst="roundRect">
            <a:avLst>
              <a:gd name="adj" fmla="val 2400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9" name="Text 22"/>
          <p:cNvSpPr/>
          <p:nvPr/>
        </p:nvSpPr>
        <p:spPr>
          <a:xfrm>
            <a:off x="845820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8458200" y="26974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tool detects overload and acts on it — automatically, in real time, with zero effort from the employee.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8458200" y="5166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product we built.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 — a firewall for your focus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868680" y="2148840"/>
            <a:ext cx="658368" cy="658368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30428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SENSE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868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behavioral rhythm only — typing speed, window switches, mouse motion. Every minute, silently.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3063240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38912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0"/>
          <p:cNvSpPr/>
          <p:nvPr/>
        </p:nvSpPr>
        <p:spPr>
          <a:xfrm>
            <a:off x="4663440" y="2148840"/>
            <a:ext cx="658368" cy="658368"/>
          </a:xfrm>
          <a:prstGeom prst="ellipse">
            <a:avLst/>
          </a:prstGeom>
          <a:solidFill>
            <a:srgbClr val="0B6E66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30428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6344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UNDERSTAND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66344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cognitive load against your personal baseline. It learns what “normal” means for you.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3063240"/>
            <a:ext cx="237744" cy="2377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18388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4"/>
          <p:cNvSpPr/>
          <p:nvPr/>
        </p:nvSpPr>
        <p:spPr>
          <a:xfrm>
            <a:off x="8458200" y="2148840"/>
            <a:ext cx="658368" cy="658368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648" y="230428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45820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PROTECT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845820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exceeds 125% of baseline? DND on, WhatsApp &amp; Outlook muted. Load drops? Everything back. Automatically.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594360" y="4800600"/>
            <a:ext cx="11000232" cy="1234440"/>
          </a:xfrm>
          <a:prstGeom prst="roundRect">
            <a:avLst>
              <a:gd name="adj" fmla="val 6667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18"/>
          <p:cNvSpPr/>
          <p:nvPr/>
        </p:nvSpPr>
        <p:spPr>
          <a:xfrm>
            <a:off x="868680" y="493776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buttons. No willpower. No new habits.  </a:t>
            </a:r>
            <a:r>
              <a:rPr lang="en-US" sz="16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just works — KungFlow guards the door. Desktop agent (Windows) + Chrome extension, live today.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on Windows today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783080"/>
            <a:ext cx="5257800" cy="4328662"/>
          </a:xfrm>
          <a:prstGeom prst="roundRect">
            <a:avLst>
              <a:gd name="adj" fmla="val 190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9" name="Image 1" descr="assets/slide08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874520"/>
            <a:ext cx="5074920" cy="364286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5636254"/>
            <a:ext cx="274320" cy="274320"/>
          </a:xfrm>
          <a:prstGeom prst="ellipse">
            <a:avLst/>
          </a:prstGeom>
          <a:solidFill>
            <a:srgbClr val="1FA0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7"/>
          <p:cNvSpPr/>
          <p:nvPr/>
        </p:nvSpPr>
        <p:spPr>
          <a:xfrm>
            <a:off x="1033272" y="559053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 load — everything gets through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63640" y="1783080"/>
            <a:ext cx="5257800" cy="4328662"/>
          </a:xfrm>
          <a:prstGeom prst="roundRect">
            <a:avLst>
              <a:gd name="adj" fmla="val 190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2" descr="assets/slide09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874520"/>
            <a:ext cx="5074920" cy="364286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0" y="5636254"/>
            <a:ext cx="274320" cy="274320"/>
          </a:xfrm>
          <a:prstGeom prst="ellipse">
            <a:avLst/>
          </a:prstGeom>
          <a:solidFill>
            <a:srgbClr val="D2403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0"/>
          <p:cNvSpPr/>
          <p:nvPr/>
        </p:nvSpPr>
        <p:spPr>
          <a:xfrm>
            <a:off x="6793992" y="559053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 detected — firewall on, quiet restored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94360" y="626364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working version — desktop agent + Chrome extension + cloud scoring — running live on Windows today. Full walkthrough available after the pitch.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BY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surveillance. The opposite.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5778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 NEVER SEES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37744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331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type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7706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724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you visit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16382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1181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you open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557016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5112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of anything, ever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86868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ONLY SENSES RHYTHM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498848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4348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speed &amp; window switches — signals your OS already has</a:t>
            </a:r>
            <a:endParaRPr lang="en-US" sz="14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956048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34440" y="48920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signals are anonymized and aggregated — managers see team trends only, never an individual's score.</a:t>
            </a:r>
            <a:endParaRPr lang="en-US" sz="14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413248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234440" y="53492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can pause data collection. One toggle, no questions.</a:t>
            </a:r>
            <a:endParaRPr lang="en-US" sz="1400" dirty="0"/>
          </a:p>
        </p:txBody>
      </p:sp>
      <p:sp>
        <p:nvSpPr>
          <p:cNvPr id="25" name="Shape 15"/>
          <p:cNvSpPr/>
          <p:nvPr/>
        </p:nvSpPr>
        <p:spPr>
          <a:xfrm>
            <a:off x="6446520" y="178308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FBEAE9"/>
          </a:solidFill>
          <a:ln w="9525">
            <a:solidFill>
              <a:srgbClr val="FBEAE9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16"/>
          <p:cNvSpPr/>
          <p:nvPr/>
        </p:nvSpPr>
        <p:spPr>
          <a:xfrm>
            <a:off x="6720840" y="201168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56% vs 40%</a:t>
            </a:r>
            <a:endParaRPr lang="en-US" sz="3400" dirty="0"/>
          </a:p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digitally monitored employees feel tense or stressed at work, compared to non-monitored peers (APA, Work in America 2023).</a:t>
            </a:r>
            <a:endParaRPr lang="en-US" sz="3400" dirty="0"/>
          </a:p>
        </p:txBody>
      </p:sp>
      <p:sp>
        <p:nvSpPr>
          <p:cNvPr id="27" name="Shape 17"/>
          <p:cNvSpPr/>
          <p:nvPr/>
        </p:nvSpPr>
        <p:spPr>
          <a:xfrm>
            <a:off x="6446520" y="4251960"/>
            <a:ext cx="5166360" cy="1737360"/>
          </a:xfrm>
          <a:prstGeom prst="roundRect">
            <a:avLst>
              <a:gd name="adj" fmla="val 473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Text 18"/>
          <p:cNvSpPr/>
          <p:nvPr/>
        </p:nvSpPr>
        <p:spPr>
          <a:xfrm>
            <a:off x="6720840" y="438912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backfires.  </a:t>
            </a:r>
            <a:r>
              <a:rPr lang="en-US" sz="15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flipped the model: the data belongs to the employee and works for the employee. KungFlow is a perk, not a watchdog.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tested it. Focus won.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accuracy — error-correction task, score out of 20</a:t>
            </a:r>
            <a:endParaRPr lang="en-US" sz="15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822960" y="237744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6537960" y="1783080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Text 8"/>
          <p:cNvSpPr/>
          <p:nvPr/>
        </p:nvSpPr>
        <p:spPr>
          <a:xfrm>
            <a:off x="6766560" y="189280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+165%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8503920" y="18928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task scores once interruptions were removed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537960" y="2990088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1"/>
          <p:cNvSpPr/>
          <p:nvPr/>
        </p:nvSpPr>
        <p:spPr>
          <a:xfrm>
            <a:off x="6766560" y="3099816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49%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8503920" y="309981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 missed in the same 10-minute window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537960" y="4197096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4"/>
          <p:cNvSpPr/>
          <p:nvPr/>
        </p:nvSpPr>
        <p:spPr>
          <a:xfrm>
            <a:off x="6766560" y="4306824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+25%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8503920" y="430682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gain after controlling for natural learning effects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37960" y="5486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pilot, n=8, with a learning-effect control group (2026). Larger study planned with design partners.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 for one 250-person company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5E9E8"/>
          </a:solidFill>
          <a:ln w="9525">
            <a:solidFill>
              <a:srgbClr val="F5E9E8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$1.5M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at just 5% of payroll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995928" y="2651760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416552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4599432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$90K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4690872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KungFlow — 0.3% of payroll, all 250 seats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818120" y="2651760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238744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EAF4EC"/>
          </a:solidFill>
          <a:ln w="9525">
            <a:solidFill>
              <a:srgbClr val="EAF4EC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421624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: 1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8513064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every $1 spent — and you add no real spend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94360" y="4251960"/>
            <a:ext cx="11000232" cy="1691640"/>
          </a:xfrm>
          <a:prstGeom prst="roundRect">
            <a:avLst>
              <a:gd name="adj" fmla="val 4865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Text 17"/>
          <p:cNvSpPr/>
          <p:nvPr/>
        </p:nvSpPr>
        <p:spPr>
          <a:xfrm>
            <a:off x="9144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FOR EVERY SINGLE EMPLOYEE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44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 hrs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9144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deep work back, daily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 → quiet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5720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 blocked at the right moment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296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Calmer days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82296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stress, lower burnout risk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big problem — and an empty category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E8F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1.2B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worldwide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16552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4690872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690872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400K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4690872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workers in Israel — our beachhead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38744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513064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 Y1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513064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2,500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8513064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across 10 mid-market companies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3977640"/>
            <a:ext cx="1100023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Text 18"/>
          <p:cNvSpPr/>
          <p:nvPr/>
        </p:nvSpPr>
        <p:spPr>
          <a:xfrm>
            <a:off x="8686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Acts automatically, in real time?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6868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0"/>
          <p:cNvSpPr/>
          <p:nvPr/>
        </p:nvSpPr>
        <p:spPr>
          <a:xfrm>
            <a:off x="96012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RescueTime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500176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183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after the fact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06324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3"/>
          <p:cNvSpPr/>
          <p:nvPr/>
        </p:nvSpPr>
        <p:spPr>
          <a:xfrm>
            <a:off x="315468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 for Business</a:t>
            </a:r>
            <a:endParaRPr lang="en-US" sz="13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5001768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13639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workflow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25780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6"/>
          <p:cNvSpPr/>
          <p:nvPr/>
        </p:nvSpPr>
        <p:spPr>
          <a:xfrm>
            <a:off x="534924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 Viva Insights</a:t>
            </a:r>
            <a:endParaRPr lang="en-US" sz="13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001768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3095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dashboards only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45236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29"/>
          <p:cNvSpPr/>
          <p:nvPr/>
        </p:nvSpPr>
        <p:spPr>
          <a:xfrm>
            <a:off x="75438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DND</a:t>
            </a:r>
            <a:endParaRPr lang="en-US" sz="13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001768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52551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user to act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964692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0E8F84"/>
          </a:solidFill>
          <a:ln w="12700">
            <a:solidFill>
              <a:srgbClr val="0B6E6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2"/>
          <p:cNvSpPr/>
          <p:nvPr/>
        </p:nvSpPr>
        <p:spPr>
          <a:xfrm>
            <a:off x="973836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</a:t>
            </a:r>
            <a:endParaRPr lang="en-US" sz="13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5001768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72007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&amp; protects on its own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 that climbs the org chart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94360" y="5074920"/>
            <a:ext cx="11000232" cy="1005840"/>
          </a:xfrm>
          <a:prstGeom prst="roundRect">
            <a:avLst>
              <a:gd name="adj" fmla="val 8182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868680" y="5166360"/>
            <a:ext cx="10451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by design:  free individual → paid team → manager → org, no new sales motion.   ACV $90K  ·  LTV:CAC 11:1  ·  3-yr retention</a:t>
            </a:r>
            <a:endParaRPr lang="en-US" sz="1650" dirty="0"/>
          </a:p>
        </p:txBody>
      </p:sp>
      <p:sp>
        <p:nvSpPr>
          <p:cNvPr id="29" name="Rounded Rectangle 28"/>
          <p:cNvSpPr/>
          <p:nvPr/>
        </p:nvSpPr>
        <p:spPr>
          <a:xfrm>
            <a:off x="594360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$0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 forever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For individuals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Live cognitive-load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Auto-DND · 1 device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7-day focus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For individuals · real focus protection, free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7288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03320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$20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/user/mo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Everything in Free, plus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Adaptive personal baseline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All apps + all devices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Unlimited history +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The power user · it learns you &amp; covers every app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0216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56248" y="1810512"/>
            <a:ext cx="19751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FD8E3"/>
                </a:solidFill>
                <a:latin typeface="Trebuchet MS"/>
              </a:rPr>
              <a:t>MOST POPULAR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2084831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Business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56248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Trebuchet MS"/>
              </a:rPr>
              <a:t>$30</a:t>
            </a:r>
            <a:r>
              <a:rPr sz="1200" b="0" i="0">
                <a:solidFill>
                  <a:srgbClr val="CFD8E3"/>
                </a:solidFill>
                <a:latin typeface="Calibri"/>
              </a:rPr>
              <a:t> /user/mo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6248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CFD8E3"/>
                </a:solidFill>
                <a:latin typeface="Calibri"/>
              </a:rPr>
              <a:t>Everything in Team, plus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6248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Team focus analytics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56248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Custom &amp; VIP rules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56248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Admin console + onboarding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56248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CFD8E3"/>
                </a:solidFill>
                <a:latin typeface="Calibri"/>
              </a:rPr>
              <a:t>The manager · a whole team in deep work, with visibility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53144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09176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Enterprise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09176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$45+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/user/mo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09176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Everything in Business, plus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9176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Org burnout-risk analytics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09176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AI recap of missed pings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09176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SSO/SAML · CSM + SLA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09176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HR + IT · org-wide rollout, security &amp;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$770K seed — break-even in 12 months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9120" y="1780199"/>
            <a:ext cx="49377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42316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— Scale &amp; v2 development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2752344"/>
            <a:ext cx="3108960" cy="182880"/>
          </a:xfrm>
          <a:prstGeom prst="rect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4050792" y="26700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3099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68680" y="3429000"/>
            <a:ext cx="981777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2"/>
          <p:cNvSpPr/>
          <p:nvPr/>
        </p:nvSpPr>
        <p:spPr>
          <a:xfrm>
            <a:off x="1923609" y="33467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3776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68680" y="4105656"/>
            <a:ext cx="65451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1596350" y="40233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4453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(SDR from M6)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868680" y="4782312"/>
            <a:ext cx="65451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8"/>
          <p:cNvSpPr/>
          <p:nvPr/>
        </p:nvSpPr>
        <p:spPr>
          <a:xfrm>
            <a:off x="1596350" y="470001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68680" y="51297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868680" y="5458968"/>
            <a:ext cx="6400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Text 21"/>
          <p:cNvSpPr/>
          <p:nvPr/>
        </p:nvSpPr>
        <p:spPr>
          <a:xfrm>
            <a:off x="1005840" y="5376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1%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806440" y="1783080"/>
            <a:ext cx="58064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23"/>
          <p:cNvSpPr/>
          <p:nvPr/>
        </p:nvSpPr>
        <p:spPr>
          <a:xfrm>
            <a:off x="608076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YEAR-1 MILESTONES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080760" y="2423160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6080760" y="242316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9440" y="2423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design partners live, feeding real usage data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37376" y="2880360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8"/>
          <p:cNvSpPr/>
          <p:nvPr/>
        </p:nvSpPr>
        <p:spPr>
          <a:xfrm>
            <a:off x="6080760" y="3099816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2" name="Text 29"/>
          <p:cNvSpPr/>
          <p:nvPr/>
        </p:nvSpPr>
        <p:spPr>
          <a:xfrm>
            <a:off x="6080760" y="309981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949440" y="30998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company — revenue starts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437376" y="3557016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Shape 32"/>
          <p:cNvSpPr/>
          <p:nvPr/>
        </p:nvSpPr>
        <p:spPr>
          <a:xfrm>
            <a:off x="6080760" y="3776472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6" name="Text 33"/>
          <p:cNvSpPr/>
          <p:nvPr/>
        </p:nvSpPr>
        <p:spPr>
          <a:xfrm>
            <a:off x="6080760" y="377647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49440" y="3776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SDR hired, outbound machine running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437376" y="4233672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Shape 36"/>
          <p:cNvSpPr/>
          <p:nvPr/>
        </p:nvSpPr>
        <p:spPr>
          <a:xfrm>
            <a:off x="6080760" y="4453128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0" name="Text 37"/>
          <p:cNvSpPr/>
          <p:nvPr/>
        </p:nvSpPr>
        <p:spPr>
          <a:xfrm>
            <a:off x="6080760" y="445312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M9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949440" y="44531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case study with measured results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437376" y="4910328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Shape 40"/>
          <p:cNvSpPr/>
          <p:nvPr/>
        </p:nvSpPr>
        <p:spPr>
          <a:xfrm>
            <a:off x="6080760" y="5129784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FA0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4" name="Text 41"/>
          <p:cNvSpPr/>
          <p:nvPr/>
        </p:nvSpPr>
        <p:spPr>
          <a:xfrm>
            <a:off x="6080760" y="512978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M12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949440" y="51297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companies · 2,500 users · $900K ARR · break-even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594360" y="6172200"/>
            <a:ext cx="11000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12 months of operations ($550K deficit) + 3-month buffer. One goal: 10 mid-market companies.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29768"/>
            <a:ext cx="146304" cy="146304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6E66"/>
                </a:solidFill>
                <a:latin typeface="Trebuchet MS"/>
              </a:rPr>
              <a:t>GTM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0243E"/>
                </a:solidFill>
                <a:latin typeface="Trebuchet MS"/>
              </a:rPr>
              <a:t>Product-led growth: free spreads, value sells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E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1 · ADOPT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Free, bottom-up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Individuals install the free tier and get real focus value — zero friction, no buyer needed. It spreads desk to desk.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2 · CONVERT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Free →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Power users self-upgrade for the adaptive baseline and all their apps. Pure self-serve — no salesperson in the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3 · 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Team →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Managers see their team already using it and buy team analytics, admin and custom rules. Light sales-assist.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4 · STANDARDIZE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rebuchet MS"/>
              </a:rPr>
              <a:t>→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CFD8E3"/>
                </a:solidFill>
                <a:latin typeface="Calibri"/>
              </a:rPr>
              <a:t>HR and IT roll it out org-wide — SSO, burnout analytics, dedicated CSM. Top-down lands on bottom-up demand.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49240"/>
            <a:ext cx="11000232" cy="914400"/>
          </a:xfrm>
          <a:prstGeom prst="roundRect">
            <a:avLst>
              <a:gd name="adj" fmla="val 3000"/>
            </a:avLst>
          </a:prstGeom>
          <a:solidFill>
            <a:srgbClr val="F4F2EC"/>
          </a:solidFill>
          <a:ln w="9525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4515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0243E"/>
                </a:solidFill>
                <a:latin typeface="Trebuchet MS"/>
              </a:rPr>
              <a:t>Free does the selling.  </a:t>
            </a:r>
            <a:r>
              <a:rPr sz="1300" b="0" i="0">
                <a:solidFill>
                  <a:srgbClr val="26354A"/>
                </a:solidFill>
                <a:latin typeface="Calibri"/>
              </a:rPr>
              <a:t>The product expands itself up the org chart — low CAC, fast payback, and it compounds as every free user pulls the next one 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29768"/>
            <a:ext cx="146304" cy="146304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B6E66"/>
                </a:solidFill>
                <a:latin typeface="Trebuchet MS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0243E"/>
                </a:solidFill>
                <a:latin typeface="Trebuchet MS"/>
              </a:rPr>
              <a:t>How we reach companies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B7E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1 · M1–3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Design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2 companies from our own network, installed free — in exchange for feedback and case-study rights.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2 · M4–6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Founder-led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We sell directly. LinkedIn outreach to VP R&amp;D and VP People at Israeli tech, 100–500 employees.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3 · M6–12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Scale outbound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First SDR at M6. 40 sequences/week. Public case study at M9 with measured 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rebuchet MS"/>
              </a:rPr>
              <a:t>THEN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rebuchet MS"/>
              </a:rPr>
              <a:t>Expand outward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CFD8E3"/>
                </a:solidFill>
                <a:latin typeface="Calibri"/>
              </a:rPr>
              <a:t>Land &amp; expand inside each account, then US via Israeli logos with US offices, then Europe (GDPR).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49240"/>
            <a:ext cx="11000232" cy="914400"/>
          </a:xfrm>
          <a:prstGeom prst="roundRect">
            <a:avLst>
              <a:gd name="adj" fmla="val 3000"/>
            </a:avLst>
          </a:prstGeom>
          <a:solidFill>
            <a:srgbClr val="F4F2EC"/>
          </a:solidFill>
          <a:ln w="9525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4515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0243E"/>
                </a:solidFill>
                <a:latin typeface="Trebuchet MS"/>
              </a:rPr>
              <a:t>Why Israel first:  </a:t>
            </a:r>
            <a:r>
              <a:rPr sz="1300" b="0">
                <a:solidFill>
                  <a:srgbClr val="26354A"/>
                </a:solidFill>
                <a:latin typeface="Calibri"/>
              </a:rPr>
              <a:t>warm founder network, demanding early adopters, and short sales cycles keep CAC low — and Israeli logos open doors in the 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1244" y="1161288"/>
            <a:ext cx="142646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972" y="1216152"/>
            <a:ext cx="1207008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give people their focus back.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0" y="45720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KungFlow  ·  Leeor Nessing  ·  leeorn@gmail.com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1605</Words>
  <Application>Microsoft Office PowerPoint</Application>
  <PresentationFormat>מסך רחב</PresentationFormat>
  <Paragraphs>264</Paragraphs>
  <Slides>16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KungFlow — Investor Pitch</dc:title>
  <dc:subject>PptxGenJS Presentation</dc:subject>
  <dc:creator>KungFlow</dc:creator>
  <cp:lastModifiedBy>Eden Haham pour</cp:lastModifiedBy>
  <cp:revision>12</cp:revision>
  <dcterms:created xsi:type="dcterms:W3CDTF">2026-06-11T17:16:04Z</dcterms:created>
  <dcterms:modified xsi:type="dcterms:W3CDTF">2026-07-05T20:05:29Z</dcterms:modified>
</cp:coreProperties>
</file>
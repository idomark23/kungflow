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24"/>
    <p:sldId id="273" r:id="rId25"/>
    <p:sldId id="263" r:id="rId9"/>
    <p:sldId id="264" r:id="rId10"/>
    <p:sldId id="265" r:id="rId11"/>
    <p:sldId id="266" r:id="rId12"/>
    <p:sldId id="267" r:id="rId13"/>
    <p:sldId id="268" r:id="rId14"/>
    <p:sldId id="271" r:id="rId15"/>
    <p:sldId id="270" r:id="rId16"/>
    <p:sldId id="269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9370" autoAdjust="0"/>
  </p:normalViewPr>
  <p:slideViewPr>
    <p:cSldViewPr snapToGrid="0" snapToObjects="1">
      <p:cViewPr varScale="1">
        <p:scale>
          <a:sx n="57" d="100"/>
          <a:sy n="57" d="100"/>
        </p:scale>
        <p:origin x="1651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לי-אור נסינג" userId="771db226e06d9d67" providerId="LiveId" clId="{F50704A1-7CC8-4C2E-BA6C-A9C5B07F5D79}"/>
    <pc:docChg chg="undo custSel modSld">
      <pc:chgData name="לי-אור נסינג" userId="771db226e06d9d67" providerId="LiveId" clId="{F50704A1-7CC8-4C2E-BA6C-A9C5B07F5D79}" dt="2026-06-17T09:31:58.339" v="115" actId="782"/>
      <pc:docMkLst>
        <pc:docMk/>
      </pc:docMkLst>
      <pc:sldChg chg="modNotesTx">
        <pc:chgData name="לי-אור נסינג" userId="771db226e06d9d67" providerId="LiveId" clId="{F50704A1-7CC8-4C2E-BA6C-A9C5B07F5D79}" dt="2026-06-17T09:21:36.939" v="40" actId="121"/>
        <pc:sldMkLst>
          <pc:docMk/>
          <pc:sldMk cId="0" sldId="256"/>
        </pc:sldMkLst>
      </pc:sldChg>
      <pc:sldChg chg="modSp mod modNotesTx">
        <pc:chgData name="לי-אור נסינג" userId="771db226e06d9d67" providerId="LiveId" clId="{F50704A1-7CC8-4C2E-BA6C-A9C5B07F5D79}" dt="2026-06-17T09:22:19.841" v="43" actId="782"/>
        <pc:sldMkLst>
          <pc:docMk/>
          <pc:sldMk cId="0" sldId="257"/>
        </pc:sldMkLst>
        <pc:spChg chg="mod">
          <ac:chgData name="לי-אור נסינג" userId="771db226e06d9d67" providerId="LiveId" clId="{F50704A1-7CC8-4C2E-BA6C-A9C5B07F5D79}" dt="2026-06-11T17:35:29.632" v="37" actId="20577"/>
          <ac:spMkLst>
            <pc:docMk/>
            <pc:sldMk cId="0" sldId="257"/>
            <ac:spMk id="13" creationId="{00000000-0000-0000-0000-000000000000}"/>
          </ac:spMkLst>
        </pc:spChg>
      </pc:sldChg>
      <pc:sldChg chg="modNotesTx">
        <pc:chgData name="לי-אור נסינג" userId="771db226e06d9d67" providerId="LiveId" clId="{F50704A1-7CC8-4C2E-BA6C-A9C5B07F5D79}" dt="2026-06-17T09:22:16.113" v="42" actId="782"/>
        <pc:sldMkLst>
          <pc:docMk/>
          <pc:sldMk cId="0" sldId="258"/>
        </pc:sldMkLst>
      </pc:sldChg>
      <pc:sldChg chg="modNotesTx">
        <pc:chgData name="לי-אור נסינג" userId="771db226e06d9d67" providerId="LiveId" clId="{F50704A1-7CC8-4C2E-BA6C-A9C5B07F5D79}" dt="2026-06-17T09:22:11.253" v="41" actId="782"/>
        <pc:sldMkLst>
          <pc:docMk/>
          <pc:sldMk cId="0" sldId="259"/>
        </pc:sldMkLst>
      </pc:sldChg>
      <pc:sldChg chg="modNotesTx">
        <pc:chgData name="לי-אור נסינג" userId="771db226e06d9d67" providerId="LiveId" clId="{F50704A1-7CC8-4C2E-BA6C-A9C5B07F5D79}" dt="2026-06-17T09:24:06.729" v="44" actId="782"/>
        <pc:sldMkLst>
          <pc:docMk/>
          <pc:sldMk cId="0" sldId="260"/>
        </pc:sldMkLst>
      </pc:sldChg>
      <pc:sldChg chg="modNotesTx">
        <pc:chgData name="לי-אור נסינג" userId="771db226e06d9d67" providerId="LiveId" clId="{F50704A1-7CC8-4C2E-BA6C-A9C5B07F5D79}" dt="2026-06-17T09:24:22.710" v="45" actId="782"/>
        <pc:sldMkLst>
          <pc:docMk/>
          <pc:sldMk cId="0" sldId="261"/>
        </pc:sldMkLst>
      </pc:sldChg>
      <pc:sldChg chg="modNotesTx">
        <pc:chgData name="לי-אור נסינג" userId="771db226e06d9d67" providerId="LiveId" clId="{F50704A1-7CC8-4C2E-BA6C-A9C5B07F5D79}" dt="2026-06-17T09:24:34.690" v="46" actId="782"/>
        <pc:sldMkLst>
          <pc:docMk/>
          <pc:sldMk cId="0" sldId="262"/>
        </pc:sldMkLst>
      </pc:sldChg>
      <pc:sldChg chg="modNotesTx">
        <pc:chgData name="לי-אור נסינג" userId="771db226e06d9d67" providerId="LiveId" clId="{F50704A1-7CC8-4C2E-BA6C-A9C5B07F5D79}" dt="2026-06-17T09:24:38.966" v="47" actId="782"/>
        <pc:sldMkLst>
          <pc:docMk/>
          <pc:sldMk cId="0" sldId="263"/>
        </pc:sldMkLst>
      </pc:sldChg>
      <pc:sldChg chg="modNotesTx">
        <pc:chgData name="לי-אור נסינג" userId="771db226e06d9d67" providerId="LiveId" clId="{F50704A1-7CC8-4C2E-BA6C-A9C5B07F5D79}" dt="2026-06-17T09:25:22.367" v="48" actId="782"/>
        <pc:sldMkLst>
          <pc:docMk/>
          <pc:sldMk cId="0" sldId="264"/>
        </pc:sldMkLst>
      </pc:sldChg>
      <pc:sldChg chg="modNotesTx">
        <pc:chgData name="לי-אור נסינג" userId="771db226e06d9d67" providerId="LiveId" clId="{F50704A1-7CC8-4C2E-BA6C-A9C5B07F5D79}" dt="2026-06-17T09:25:26.006" v="49" actId="782"/>
        <pc:sldMkLst>
          <pc:docMk/>
          <pc:sldMk cId="0" sldId="265"/>
        </pc:sldMkLst>
      </pc:sldChg>
      <pc:sldChg chg="modNotesTx">
        <pc:chgData name="לי-אור נסינג" userId="771db226e06d9d67" providerId="LiveId" clId="{F50704A1-7CC8-4C2E-BA6C-A9C5B07F5D79}" dt="2026-06-17T09:27:52.907" v="50" actId="782"/>
        <pc:sldMkLst>
          <pc:docMk/>
          <pc:sldMk cId="0" sldId="266"/>
        </pc:sldMkLst>
      </pc:sldChg>
      <pc:sldChg chg="modNotesTx">
        <pc:chgData name="לי-אור נסינג" userId="771db226e06d9d67" providerId="LiveId" clId="{F50704A1-7CC8-4C2E-BA6C-A9C5B07F5D79}" dt="2026-06-17T09:28:43.170" v="52" actId="782"/>
        <pc:sldMkLst>
          <pc:docMk/>
          <pc:sldMk cId="0" sldId="267"/>
        </pc:sldMkLst>
      </pc:sldChg>
      <pc:sldChg chg="modSp mod modNotesTx">
        <pc:chgData name="לי-אור נסינג" userId="771db226e06d9d67" providerId="LiveId" clId="{F50704A1-7CC8-4C2E-BA6C-A9C5B07F5D79}" dt="2026-06-17T09:30:36.293" v="112" actId="20577"/>
        <pc:sldMkLst>
          <pc:docMk/>
          <pc:sldMk cId="0" sldId="268"/>
        </pc:sldMkLst>
        <pc:spChg chg="mod">
          <ac:chgData name="לי-אור נסינג" userId="771db226e06d9d67" providerId="LiveId" clId="{F50704A1-7CC8-4C2E-BA6C-A9C5B07F5D79}" dt="2026-06-17T09:30:30.801" v="110" actId="1076"/>
          <ac:spMkLst>
            <pc:docMk/>
            <pc:sldMk cId="0" sldId="268"/>
            <ac:spMk id="8" creationId="{00000000-0000-0000-0000-000000000000}"/>
          </ac:spMkLst>
        </pc:spChg>
        <pc:spChg chg="mod">
          <ac:chgData name="לי-אור נסינג" userId="771db226e06d9d67" providerId="LiveId" clId="{F50704A1-7CC8-4C2E-BA6C-A9C5B07F5D79}" dt="2026-06-17T09:30:36.293" v="112" actId="20577"/>
          <ac:spMkLst>
            <pc:docMk/>
            <pc:sldMk cId="0" sldId="268"/>
            <ac:spMk id="10" creationId="{00000000-0000-0000-0000-000000000000}"/>
          </ac:spMkLst>
        </pc:spChg>
      </pc:sldChg>
      <pc:sldChg chg="modNotesTx">
        <pc:chgData name="לי-אור נסינג" userId="771db226e06d9d67" providerId="LiveId" clId="{F50704A1-7CC8-4C2E-BA6C-A9C5B07F5D79}" dt="2026-06-11T17:35:01.818" v="36" actId="782"/>
        <pc:sldMkLst>
          <pc:docMk/>
          <pc:sldMk cId="0" sldId="269"/>
        </pc:sldMkLst>
      </pc:sldChg>
      <pc:sldChg chg="modNotesTx">
        <pc:chgData name="לי-אור נסינג" userId="771db226e06d9d67" providerId="LiveId" clId="{F50704A1-7CC8-4C2E-BA6C-A9C5B07F5D79}" dt="2026-06-17T09:31:58.339" v="115" actId="782"/>
        <pc:sldMkLst>
          <pc:docMk/>
          <pc:sldMk cId="0" sldId="270"/>
        </pc:sldMkLst>
      </pc:sldChg>
      <pc:sldChg chg="modNotesTx">
        <pc:chgData name="לי-אור נסינג" userId="771db226e06d9d67" providerId="LiveId" clId="{F50704A1-7CC8-4C2E-BA6C-A9C5B07F5D79}" dt="2026-06-17T09:31:08.077" v="114" actId="782"/>
        <pc:sldMkLst>
          <pc:docMk/>
          <pc:sldMk cId="0" sldId="271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score</c:v>
                </c:pt>
              </c:strCache>
            </c:strRef>
          </c:tx>
          <c:spPr>
            <a:solidFill>
              <a:srgbClr val="D2403B">
                <a:alpha val="100000"/>
              </a:srgbClr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D2403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53E-4621-8194-0E68DE270B1E}"/>
              </c:ext>
            </c:extLst>
          </c:dPt>
          <c:dPt>
            <c:idx val="1"/>
            <c:invertIfNegative val="0"/>
            <c:bubble3D val="0"/>
            <c:spPr>
              <a:solidFill>
                <a:srgbClr val="1FA05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53E-4621-8194-0E68DE270B1E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 i="0" u="none" strike="noStrike">
                    <a:solidFill>
                      <a:srgbClr val="10243E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With interruptions</c:v>
                </c:pt>
                <c:pt idx="1">
                  <c:v>Without interruptions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4.5999999999999996</c:v>
                </c:pt>
                <c:pt idx="1">
                  <c:v>12.2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53E-4621-8194-0E68DE270B1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6354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E5E2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0713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6" Type="http://schemas.openxmlformats.org/officeDocument/2006/relationships/image" Target="../media/image99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/Relationships>
</file>

<file path=ppt/slides/_rels/slide18.xml.rels><?xml version="1.0" encoding="UTF-8" standalone="yes"?>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5.png"/><Relationship Id="rId5" Type="http://schemas.openxmlformats.org/officeDocument/2006/relationships/image" Target="../media/image106.png"/><Relationship Id="rId6" Type="http://schemas.openxmlformats.org/officeDocument/2006/relationships/image" Target="../media/image10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051560"/>
            <a:ext cx="3383280" cy="475488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8275320" y="1417320"/>
            <a:ext cx="566928" cy="566928"/>
          </a:xfrm>
          <a:prstGeom prst="ellipse">
            <a:avLst/>
          </a:prstGeom>
          <a:solidFill>
            <a:srgbClr val="1FA055"/>
          </a:solidFill>
          <a:ln w="38100">
            <a:solidFill>
              <a:srgbClr val="FFFFFF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9006840" y="13624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006840" y="16916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load — everything gets through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275320" y="2898648"/>
            <a:ext cx="566928" cy="566928"/>
          </a:xfrm>
          <a:prstGeom prst="ellipse">
            <a:avLst/>
          </a:prstGeom>
          <a:solidFill>
            <a:srgbClr val="D98E04"/>
          </a:solidFill>
          <a:ln w="38100">
            <a:solidFill>
              <a:srgbClr val="FFFFFF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9006840" y="284378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006840" y="317296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rising — KungFlow is watching your back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75320" y="4379976"/>
            <a:ext cx="566928" cy="566928"/>
          </a:xfrm>
          <a:prstGeom prst="ellipse">
            <a:avLst/>
          </a:prstGeom>
          <a:solidFill>
            <a:srgbClr val="D2403B"/>
          </a:solidFill>
          <a:ln w="38100">
            <a:solidFill>
              <a:srgbClr val="FFFFFF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9006840" y="43251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PROTECTED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006840" y="4654296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Overload — interruptions quietly blocked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21208" y="841248"/>
            <a:ext cx="1106424" cy="1060704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13" name="Image 0" descr="assets/slide01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914400"/>
            <a:ext cx="960120" cy="9144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48640" y="1874520"/>
            <a:ext cx="6858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KungFlow</a:t>
            </a:r>
            <a:endParaRPr lang="en-US" sz="6600" dirty="0"/>
          </a:p>
        </p:txBody>
      </p:sp>
      <p:sp>
        <p:nvSpPr>
          <p:cNvPr id="15" name="Text 12"/>
          <p:cNvSpPr/>
          <p:nvPr/>
        </p:nvSpPr>
        <p:spPr>
          <a:xfrm>
            <a:off x="594360" y="297180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Focus that protects your people.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594360" y="36118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KungFlow senses cognitive overload in real time and quietly blocks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interruptions — automatically. Healthier minds, deeper work.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94360" y="4983480"/>
            <a:ext cx="6400800" cy="0"/>
          </a:xfrm>
          <a:prstGeom prst="line">
            <a:avLst/>
          </a:prstGeom>
          <a:noFill/>
          <a:ln w="12700">
            <a:solidFill>
              <a:srgbClr val="D8D4C9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5"/>
          <p:cNvSpPr/>
          <p:nvPr/>
        </p:nvSpPr>
        <p:spPr>
          <a:xfrm>
            <a:off x="594360" y="5120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Seed Round  ·  2026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94360" y="54864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 Mark  ·  Rotem Saraf  ·  Eden Elkayam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dot"/>
          <p:cNvSpPr/>
          <p:nvPr/>
        </p:nvSpPr>
        <p:spPr>
          <a:xfrm>
            <a:off x="594360" y="429768"/>
            <a:ext cx="146304" cy="146304"/>
          </a:xfrm>
          <a:prstGeom prst="ellipse">
            <a:avLst/>
          </a:prstGeom>
          <a:solidFill>
            <a:srgbClr val="0E8F8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Eyebrow"/>
          <p:cNvSpPr/>
          <p:nvPr/>
        </p:nvSpPr>
        <p:spPr>
          <a:xfrm>
            <a:off x="813816" y="283464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300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TEAM</a:t>
            </a:r>
            <a:endParaRPr lang="en-US" sz="1400" dirty="0"/>
          </a:p>
        </p:txBody>
      </p:sp>
      <p:sp>
        <p:nvSpPr>
          <p:cNvPr id="4" name="Title"/>
          <p:cNvSpPr/>
          <p:nvPr/>
        </p:nvSpPr>
        <p:spPr>
          <a:xfrm>
            <a:off x="594360" y="658368"/>
            <a:ext cx="990600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by people who lived the problem</a:t>
            </a:r>
            <a:endParaRPr lang="en-US" sz="3000" dirty="0"/>
          </a:p>
        </p:txBody>
      </p:sp>
      <p:sp>
        <p:nvSpPr>
          <p:cNvPr id="5" name="Page number"/>
          <p:cNvSpPr/>
          <p:nvPr/>
        </p:nvSpPr>
        <p:spPr>
          <a:xfrm>
            <a:off x="11274552" y="635508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dirty="0">
                <a:solidFill>
                  <a:srgbClr val="7A8A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ogo card"/>
          <p:cNvSpPr/>
          <p:nvPr/>
        </p:nvSpPr>
        <p:spPr>
          <a:xfrm>
            <a:off x="11109960" y="237744"/>
            <a:ext cx="585216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4EBEA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7" name="KungFlow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83464"/>
            <a:ext cx="493776" cy="457200"/>
          </a:xfrm>
          <a:prstGeom prst="rect">
            <a:avLst/>
          </a:prstGeom>
          <a:ln>
            <a:noFill/>
          </a:ln>
        </p:spPr>
      </p:pic>
      <p:sp>
        <p:nvSpPr>
          <p:cNvPr id="8" name="Ido Mark card"/>
          <p:cNvSpPr/>
          <p:nvPr/>
        </p:nvSpPr>
        <p:spPr>
          <a:xfrm>
            <a:off x="1298448" y="1828800"/>
            <a:ext cx="2578608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E2E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Ido Mark mark"/>
          <p:cNvSpPr/>
          <p:nvPr/>
        </p:nvSpPr>
        <p:spPr>
          <a:xfrm>
            <a:off x="2176272" y="2148840"/>
            <a:ext cx="822960" cy="822960"/>
          </a:xfrm>
          <a:prstGeom prst="ellipse">
            <a:avLst/>
          </a:prstGeom>
          <a:solidFill>
            <a:srgbClr val="66778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Ido Mark initials"/>
          <p:cNvSpPr/>
          <p:nvPr/>
        </p:nvSpPr>
        <p:spPr>
          <a:xfrm>
            <a:off x="2176272" y="2148840"/>
            <a:ext cx="8229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2200" dirty="0"/>
          </a:p>
        </p:txBody>
      </p:sp>
      <p:sp>
        <p:nvSpPr>
          <p:cNvPr id="11" name="Ido Mark name"/>
          <p:cNvSpPr/>
          <p:nvPr/>
        </p:nvSpPr>
        <p:spPr>
          <a:xfrm>
            <a:off x="1389888" y="3127248"/>
            <a:ext cx="23957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Ido Mark</a:t>
            </a:r>
            <a:endParaRPr lang="en-US" sz="2100" dirty="0"/>
          </a:p>
        </p:txBody>
      </p:sp>
      <p:sp>
        <p:nvSpPr>
          <p:cNvPr id="12" name="Ido Mark role"/>
          <p:cNvSpPr/>
          <p:nvPr/>
        </p:nvSpPr>
        <p:spPr>
          <a:xfrm>
            <a:off x="1389888" y="3493008"/>
            <a:ext cx="239572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Computer Science</a:t>
            </a:r>
            <a:endParaRPr lang="en-US" sz="1400" dirty="0"/>
          </a:p>
        </p:txBody>
      </p:sp>
      <p:sp>
        <p:nvSpPr>
          <p:cNvPr id="13" name="Ido Mark subrole"/>
          <p:cNvSpPr/>
          <p:nvPr/>
        </p:nvSpPr>
        <p:spPr>
          <a:xfrm>
            <a:off x="1389888" y="3822192"/>
            <a:ext cx="23957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Engineering</a:t>
            </a:r>
            <a:endParaRPr lang="en-US" sz="1400" dirty="0"/>
          </a:p>
        </p:txBody>
      </p:sp>
      <p:sp>
        <p:nvSpPr>
          <p:cNvPr id="14" name="Rotem Saraf card"/>
          <p:cNvSpPr/>
          <p:nvPr/>
        </p:nvSpPr>
        <p:spPr>
          <a:xfrm>
            <a:off x="4805172" y="1828800"/>
            <a:ext cx="2578608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E2E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otem Saraf mark"/>
          <p:cNvSpPr/>
          <p:nvPr/>
        </p:nvSpPr>
        <p:spPr>
          <a:xfrm>
            <a:off x="5682996" y="2148840"/>
            <a:ext cx="822960" cy="822960"/>
          </a:xfrm>
          <a:prstGeom prst="ellipse">
            <a:avLst/>
          </a:prstGeom>
          <a:solidFill>
            <a:srgbClr val="66778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otem Saraf initials"/>
          <p:cNvSpPr/>
          <p:nvPr/>
        </p:nvSpPr>
        <p:spPr>
          <a:xfrm>
            <a:off x="5682996" y="2148840"/>
            <a:ext cx="8229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RS</a:t>
            </a:r>
            <a:endParaRPr lang="en-US" sz="2200" dirty="0"/>
          </a:p>
        </p:txBody>
      </p:sp>
      <p:sp>
        <p:nvSpPr>
          <p:cNvPr id="17" name="Rotem Saraf name"/>
          <p:cNvSpPr/>
          <p:nvPr/>
        </p:nvSpPr>
        <p:spPr>
          <a:xfrm>
            <a:off x="4896612" y="3127248"/>
            <a:ext cx="23957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Rotem Saraf</a:t>
            </a:r>
            <a:endParaRPr lang="en-US" sz="2100" dirty="0"/>
          </a:p>
        </p:txBody>
      </p:sp>
      <p:sp>
        <p:nvSpPr>
          <p:cNvPr id="18" name="Rotem Saraf role"/>
          <p:cNvSpPr/>
          <p:nvPr/>
        </p:nvSpPr>
        <p:spPr>
          <a:xfrm>
            <a:off x="4896612" y="3493008"/>
            <a:ext cx="239572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Computer Science</a:t>
            </a:r>
            <a:endParaRPr lang="en-US" sz="1400" dirty="0"/>
          </a:p>
        </p:txBody>
      </p:sp>
      <p:sp>
        <p:nvSpPr>
          <p:cNvPr id="19" name="Rotem Saraf subrole"/>
          <p:cNvSpPr/>
          <p:nvPr/>
        </p:nvSpPr>
        <p:spPr>
          <a:xfrm>
            <a:off x="4896612" y="3822192"/>
            <a:ext cx="23957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Engineering</a:t>
            </a:r>
            <a:endParaRPr lang="en-US" sz="1400" dirty="0"/>
          </a:p>
        </p:txBody>
      </p:sp>
      <p:sp>
        <p:nvSpPr>
          <p:cNvPr id="20" name="Eden Elkayam card"/>
          <p:cNvSpPr/>
          <p:nvPr/>
        </p:nvSpPr>
        <p:spPr>
          <a:xfrm>
            <a:off x="8311896" y="1828800"/>
            <a:ext cx="2578608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E2E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Eden Elkayam mark"/>
          <p:cNvSpPr/>
          <p:nvPr/>
        </p:nvSpPr>
        <p:spPr>
          <a:xfrm>
            <a:off x="9189720" y="2148840"/>
            <a:ext cx="822960" cy="822960"/>
          </a:xfrm>
          <a:prstGeom prst="ellipse">
            <a:avLst/>
          </a:prstGeom>
          <a:solidFill>
            <a:srgbClr val="66778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Eden Elkayam initials"/>
          <p:cNvSpPr/>
          <p:nvPr/>
        </p:nvSpPr>
        <p:spPr>
          <a:xfrm>
            <a:off x="9189720" y="2148840"/>
            <a:ext cx="8229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2200" dirty="0"/>
          </a:p>
        </p:txBody>
      </p:sp>
      <p:sp>
        <p:nvSpPr>
          <p:cNvPr id="23" name="Eden Elkayam name"/>
          <p:cNvSpPr/>
          <p:nvPr/>
        </p:nvSpPr>
        <p:spPr>
          <a:xfrm>
            <a:off x="8403336" y="3127248"/>
            <a:ext cx="23957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Eden Elkayam</a:t>
            </a:r>
            <a:endParaRPr lang="en-US" sz="2100" dirty="0"/>
          </a:p>
        </p:txBody>
      </p:sp>
      <p:sp>
        <p:nvSpPr>
          <p:cNvPr id="24" name="Eden Elkayam role"/>
          <p:cNvSpPr/>
          <p:nvPr/>
        </p:nvSpPr>
        <p:spPr>
          <a:xfrm>
            <a:off x="8403336" y="3493008"/>
            <a:ext cx="239572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Computer Science</a:t>
            </a:r>
            <a:endParaRPr lang="en-US" sz="1400" dirty="0"/>
          </a:p>
        </p:txBody>
      </p:sp>
      <p:sp>
        <p:nvSpPr>
          <p:cNvPr id="25" name="Eden Elkayam subrole"/>
          <p:cNvSpPr/>
          <p:nvPr/>
        </p:nvSpPr>
        <p:spPr>
          <a:xfrm>
            <a:off x="8403336" y="3822192"/>
            <a:ext cx="23957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Engineering</a:t>
            </a:r>
            <a:endParaRPr lang="en-US" sz="1400" dirty="0"/>
          </a:p>
        </p:txBody>
      </p:sp>
      <p:sp>
        <p:nvSpPr>
          <p:cNvPr id="26" name="Why us panel"/>
          <p:cNvSpPr/>
          <p:nvPr/>
        </p:nvSpPr>
        <p:spPr>
          <a:xfrm>
            <a:off x="594360" y="4983480"/>
            <a:ext cx="11000232" cy="1051560"/>
          </a:xfrm>
          <a:prstGeom prst="roundRect">
            <a:avLst/>
          </a:prstGeom>
          <a:solidFill>
            <a:srgbClr val="EDF7F6"/>
          </a:solidFill>
          <a:ln w="9525">
            <a:solidFill>
              <a:srgbClr val="C9DE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Why us text"/>
          <p:cNvSpPr/>
          <p:nvPr/>
        </p:nvSpPr>
        <p:spPr>
          <a:xfrm>
            <a:off x="868680" y="5074920"/>
            <a:ext cx="10451592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us? This problem sits exactly between attention, wellbeing, and software engineering - and so do we. We built KungFlow because notifications were burning our own working hours.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146304" cy="146304"/>
          </a:xfrm>
          <a:prstGeom prst="ellipse">
            <a:avLst/>
          </a:prstGeom>
          <a:solidFill>
            <a:srgbClr val="0E8F8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813816" y="28346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658368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You're in the zone — then the pings hit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109960" y="237744"/>
            <a:ext cx="585216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mage 0" descr="assets/slide01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83464"/>
            <a:ext cx="493776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828800"/>
            <a:ext cx="352044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Shape 6"/>
          <p:cNvSpPr/>
          <p:nvPr/>
        </p:nvSpPr>
        <p:spPr>
          <a:xfrm>
            <a:off x="868680" y="2103120"/>
            <a:ext cx="603504" cy="603504"/>
          </a:xfrm>
          <a:prstGeom prst="ellipse">
            <a:avLst/>
          </a:prstGeom>
          <a:solidFill>
            <a:srgbClr val="E7F1EE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24028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50392" y="278892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56</a:t>
            </a:r>
            <a:endParaRPr lang="en-US" sz="4800" dirty="0"/>
          </a:p>
        </p:txBody>
      </p:sp>
      <p:sp>
        <p:nvSpPr>
          <p:cNvPr id="12" name="Text 8"/>
          <p:cNvSpPr/>
          <p:nvPr/>
        </p:nvSpPr>
        <p:spPr>
          <a:xfrm>
            <a:off x="868680" y="35661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635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interruptions per workday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868680" y="3931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Pings, messages and alerts — one every ~9 minutes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389120" y="1828800"/>
            <a:ext cx="352044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5" name="Shape 11"/>
          <p:cNvSpPr/>
          <p:nvPr/>
        </p:nvSpPr>
        <p:spPr>
          <a:xfrm>
            <a:off x="4663440" y="2103120"/>
            <a:ext cx="603504" cy="603504"/>
          </a:xfrm>
          <a:prstGeom prst="ellipse">
            <a:avLst/>
          </a:prstGeom>
          <a:solidFill>
            <a:srgbClr val="E7F1EE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2240280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45152" y="278892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23 min</a:t>
            </a:r>
            <a:endParaRPr lang="en-US" sz="4800" dirty="0"/>
          </a:p>
        </p:txBody>
      </p:sp>
      <p:sp>
        <p:nvSpPr>
          <p:cNvPr id="18" name="Text 13"/>
          <p:cNvSpPr/>
          <p:nvPr/>
        </p:nvSpPr>
        <p:spPr>
          <a:xfrm>
            <a:off x="4663440" y="35661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635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regain deep focus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4663440" y="3931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every single interruption (Mark, UC Irvine)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8183880" y="1828800"/>
            <a:ext cx="352044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1" name="Shape 16"/>
          <p:cNvSpPr/>
          <p:nvPr/>
        </p:nvSpPr>
        <p:spPr>
          <a:xfrm>
            <a:off x="8458200" y="2103120"/>
            <a:ext cx="603504" cy="603504"/>
          </a:xfrm>
          <a:prstGeom prst="ellipse">
            <a:avLst/>
          </a:prstGeom>
          <a:solidFill>
            <a:srgbClr val="E7F1EE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0" y="2240280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439912" y="278892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D24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Stress up</a:t>
            </a:r>
            <a:endParaRPr lang="en-US" sz="4000" dirty="0"/>
          </a:p>
        </p:txBody>
      </p:sp>
      <p:sp>
        <p:nvSpPr>
          <p:cNvPr id="24" name="Text 18"/>
          <p:cNvSpPr/>
          <p:nvPr/>
        </p:nvSpPr>
        <p:spPr>
          <a:xfrm>
            <a:off x="8458200" y="35661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635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hidden price of pings</a:t>
            </a:r>
            <a:endParaRPr lang="en-US" sz="1650" dirty="0"/>
          </a:p>
        </p:txBody>
      </p:sp>
      <p:sp>
        <p:nvSpPr>
          <p:cNvPr id="25" name="Text 19"/>
          <p:cNvSpPr/>
          <p:nvPr/>
        </p:nvSpPr>
        <p:spPr>
          <a:xfrm>
            <a:off x="8458200" y="3931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Interrupted work raises stress, frustration &amp; time pressure (CHI '08)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594360" y="5029200"/>
            <a:ext cx="11000232" cy="1005840"/>
          </a:xfrm>
          <a:prstGeom prst="roundRect">
            <a:avLst>
              <a:gd name="adj" fmla="val 8182"/>
            </a:avLst>
          </a:prstGeom>
          <a:solidFill>
            <a:srgbClr val="10243E"/>
          </a:solidFill>
          <a:ln w="9525">
            <a:solidFill>
              <a:srgbClr val="10243E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7" name="Text 21"/>
          <p:cNvSpPr/>
          <p:nvPr/>
        </p:nvSpPr>
        <p:spPr>
          <a:xfrm>
            <a:off x="868680" y="5120640"/>
            <a:ext cx="10451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that for a second — your focus shattering. Now multiply it across every employee. That's what it costs the company.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146304" cy="146304"/>
          </a:xfrm>
          <a:prstGeom prst="ellipse">
            <a:avLst/>
          </a:prstGeom>
          <a:solidFill>
            <a:srgbClr val="0E8F8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813816" y="28346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COST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658368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costs people. Then it costs money.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109960" y="237744"/>
            <a:ext cx="585216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mage 0" descr="assets/slide01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83464"/>
            <a:ext cx="493776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783080"/>
            <a:ext cx="5394960" cy="315468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Text 6"/>
          <p:cNvSpPr/>
          <p:nvPr/>
        </p:nvSpPr>
        <p:spPr>
          <a:xfrm>
            <a:off x="868680" y="1965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24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HUMAN COST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68680" y="2331720"/>
            <a:ext cx="4892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26%</a:t>
            </a:r>
            <a:r>
              <a:rPr lang="en-US" sz="15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higher stress and lower job satisfaction among employees with more digital interruptions (Microsoft)</a:t>
            </a:r>
            <a:endParaRPr lang="en-US" sz="3000" dirty="0"/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12B</a:t>
            </a:r>
            <a:r>
              <a:rPr lang="en-US" sz="15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working days lost globally every year to depression &amp; anxiety — a $1T productivity bill (WHO)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868680" y="42976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interruption load is a direct driver of workplace stress and burnout.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263640" y="1783080"/>
            <a:ext cx="5349240" cy="315468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3" name="Text 10"/>
          <p:cNvSpPr/>
          <p:nvPr/>
        </p:nvSpPr>
        <p:spPr>
          <a:xfrm>
            <a:off x="6537960" y="19659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D98E0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BUSINESS COST — 250-PERSON COMPANY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537960" y="233172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$30M</a:t>
            </a:r>
            <a:r>
              <a:rPr lang="en-US" sz="15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total payroll for 250 employees, every year</a:t>
            </a:r>
            <a:endParaRPr lang="en-US" sz="3000" dirty="0"/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~5%</a:t>
            </a:r>
            <a:r>
              <a:rPr lang="en-US" sz="15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of it — $1.5M+ — lost to interruptions (~2 hrs per person, daily)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6537960" y="42976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$10K gross/mo · employer cost ~$75/hr — money you already spend.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94360" y="5074920"/>
            <a:ext cx="11000232" cy="960120"/>
          </a:xfrm>
          <a:prstGeom prst="roundRect">
            <a:avLst>
              <a:gd name="adj" fmla="val 8571"/>
            </a:avLst>
          </a:prstGeom>
          <a:solidFill>
            <a:srgbClr val="E7F1EE"/>
          </a:solidFill>
          <a:ln w="9525">
            <a:solidFill>
              <a:srgbClr val="E7F1EE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7" name="Text 14"/>
          <p:cNvSpPr/>
          <p:nvPr/>
        </p:nvSpPr>
        <p:spPr>
          <a:xfrm>
            <a:off x="868680" y="5166360"/>
            <a:ext cx="104515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 news: wellbeing pays.  </a:t>
            </a:r>
            <a:r>
              <a:rPr lang="en-US" sz="165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$1 invested in employee mental health returns ~$4 in health and productivity (WHO).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146304" cy="146304"/>
          </a:xfrm>
          <a:prstGeom prst="ellipse">
            <a:avLst/>
          </a:prstGeom>
          <a:solidFill>
            <a:srgbClr val="0E8F8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813816" y="28346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658368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Plenty of fixes. None act in time.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109960" y="237744"/>
            <a:ext cx="585216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mage 0" descr="assets/slide01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83464"/>
            <a:ext cx="493776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965960"/>
            <a:ext cx="7315200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Shape 6"/>
          <p:cNvSpPr/>
          <p:nvPr/>
        </p:nvSpPr>
        <p:spPr>
          <a:xfrm>
            <a:off x="758952" y="2167128"/>
            <a:ext cx="457200" cy="457200"/>
          </a:xfrm>
          <a:prstGeom prst="ellipse">
            <a:avLst/>
          </a:prstGeom>
          <a:solidFill>
            <a:srgbClr val="F0EEE7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76856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208483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 Do-Not-Disturb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371600" y="241401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an overloaded brain to notice it's overloaded — exactly when it can't.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94360" y="2990088"/>
            <a:ext cx="7315200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4" name="Shape 10"/>
          <p:cNvSpPr/>
          <p:nvPr/>
        </p:nvSpPr>
        <p:spPr>
          <a:xfrm>
            <a:off x="758952" y="3191256"/>
            <a:ext cx="457200" cy="457200"/>
          </a:xfrm>
          <a:prstGeom prst="ellipse">
            <a:avLst/>
          </a:prstGeom>
          <a:solidFill>
            <a:srgbClr val="F0EEE7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30098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310896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 trackers (RescueTime, Toggl)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371600" y="3438144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the damage after it's done. A speedometer, not a seatbelt.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94360" y="4014216"/>
            <a:ext cx="7315200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9" name="Shape 14"/>
          <p:cNvSpPr/>
          <p:nvPr/>
        </p:nvSpPr>
        <p:spPr>
          <a:xfrm>
            <a:off x="758952" y="4215384"/>
            <a:ext cx="457200" cy="457200"/>
          </a:xfrm>
          <a:prstGeom prst="ellipse">
            <a:avLst/>
          </a:prstGeom>
          <a:solidFill>
            <a:srgbClr val="F0EEE7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2511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371600" y="413308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Company focus-hour policies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1371600" y="446227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One-size-fits-none. Not personal, not enforced, quietly resented.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94360" y="5038344"/>
            <a:ext cx="7315200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4" name="Shape 18"/>
          <p:cNvSpPr/>
          <p:nvPr/>
        </p:nvSpPr>
        <p:spPr>
          <a:xfrm>
            <a:off x="758952" y="5239512"/>
            <a:ext cx="457200" cy="457200"/>
          </a:xfrm>
          <a:prstGeom prst="ellipse">
            <a:avLst/>
          </a:prstGeom>
          <a:solidFill>
            <a:srgbClr val="F0EEE7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349240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371600" y="515721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Wellness apps (Calm, Headspace)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1371600" y="548640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Lovely — but they live outside the workflow where the damage happens.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8183880" y="1965960"/>
            <a:ext cx="3429000" cy="4041648"/>
          </a:xfrm>
          <a:prstGeom prst="roundRect">
            <a:avLst>
              <a:gd name="adj" fmla="val 2400"/>
            </a:avLst>
          </a:prstGeom>
          <a:solidFill>
            <a:srgbClr val="10243E"/>
          </a:solidFill>
          <a:ln w="9525">
            <a:solidFill>
              <a:srgbClr val="10243E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9" name="Text 22"/>
          <p:cNvSpPr/>
          <p:nvPr/>
        </p:nvSpPr>
        <p:spPr>
          <a:xfrm>
            <a:off x="8458200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7FD6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GAP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8458200" y="26974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tool detects overload and acts on it — automatically, in real time, with zero effort from the employee.</a:t>
            </a:r>
            <a:endParaRPr lang="en-US" sz="1800" dirty="0"/>
          </a:p>
        </p:txBody>
      </p:sp>
      <p:sp>
        <p:nvSpPr>
          <p:cNvPr id="31" name="Text 24"/>
          <p:cNvSpPr/>
          <p:nvPr/>
        </p:nvSpPr>
        <p:spPr>
          <a:xfrm>
            <a:off x="8458200" y="5166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F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product we built.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146304" cy="146304"/>
          </a:xfrm>
          <a:prstGeom prst="ellipse">
            <a:avLst/>
          </a:prstGeom>
          <a:solidFill>
            <a:srgbClr val="0E8F8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813816" y="28346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SOLUTION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658368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KungFlow — a firewall for your focus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109960" y="237744"/>
            <a:ext cx="585216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mage 0" descr="assets/slide01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83464"/>
            <a:ext cx="493776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87452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Shape 6"/>
          <p:cNvSpPr/>
          <p:nvPr/>
        </p:nvSpPr>
        <p:spPr>
          <a:xfrm>
            <a:off x="868680" y="2148840"/>
            <a:ext cx="658368" cy="658368"/>
          </a:xfrm>
          <a:prstGeom prst="ellipse">
            <a:avLst/>
          </a:prstGeom>
          <a:solidFill>
            <a:srgbClr val="0E8F8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304288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68680" y="29718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100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· SENSE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868680" y="338328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behavioral rhythm only — typing speed, window switches, mouse motion. Every minute, silently.</a:t>
            </a:r>
            <a:endParaRPr lang="en-US" sz="14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3088" y="3063240"/>
            <a:ext cx="237744" cy="237744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389120" y="187452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5" name="Shape 10"/>
          <p:cNvSpPr/>
          <p:nvPr/>
        </p:nvSpPr>
        <p:spPr>
          <a:xfrm>
            <a:off x="4663440" y="2148840"/>
            <a:ext cx="658368" cy="658368"/>
          </a:xfrm>
          <a:prstGeom prst="ellipse">
            <a:avLst/>
          </a:prstGeom>
          <a:solidFill>
            <a:srgbClr val="0B6E66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8888" y="2304288"/>
            <a:ext cx="347472" cy="34747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663440" y="29718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100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· UNDERSTAND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4663440" y="338328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cognitive load against your personal baseline. It learns what “normal” means for you.</a:t>
            </a:r>
            <a:endParaRPr lang="en-US" sz="14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7848" y="3063240"/>
            <a:ext cx="237744" cy="237744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8183880" y="187452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1" name="Shape 14"/>
          <p:cNvSpPr/>
          <p:nvPr/>
        </p:nvSpPr>
        <p:spPr>
          <a:xfrm>
            <a:off x="8458200" y="2148840"/>
            <a:ext cx="658368" cy="658368"/>
          </a:xfrm>
          <a:prstGeom prst="ellipse">
            <a:avLst/>
          </a:prstGeom>
          <a:solidFill>
            <a:srgbClr val="10243E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3648" y="2304288"/>
            <a:ext cx="347472" cy="347472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8458200" y="29718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100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· PROTECT</a:t>
            </a:r>
            <a:endParaRPr lang="en-US" sz="1800" dirty="0"/>
          </a:p>
        </p:txBody>
      </p:sp>
      <p:sp>
        <p:nvSpPr>
          <p:cNvPr id="24" name="Text 16"/>
          <p:cNvSpPr/>
          <p:nvPr/>
        </p:nvSpPr>
        <p:spPr>
          <a:xfrm>
            <a:off x="8458200" y="338328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exceeds 125% of baseline? DND on, WhatsApp &amp; Outlook muted. Load drops? Everything back. Automatically.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594360" y="4800600"/>
            <a:ext cx="11000232" cy="1234440"/>
          </a:xfrm>
          <a:prstGeom prst="roundRect">
            <a:avLst>
              <a:gd name="adj" fmla="val 6667"/>
            </a:avLst>
          </a:prstGeom>
          <a:solidFill>
            <a:srgbClr val="E7F1EE"/>
          </a:solidFill>
          <a:ln w="9525">
            <a:solidFill>
              <a:srgbClr val="E7F1EE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6" name="Text 18"/>
          <p:cNvSpPr/>
          <p:nvPr/>
        </p:nvSpPr>
        <p:spPr>
          <a:xfrm>
            <a:off x="868680" y="4937760"/>
            <a:ext cx="1045159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buttons. No willpower. No new habits.  </a:t>
            </a:r>
            <a:r>
              <a:rPr lang="en-US" sz="16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just works — KungFlow guards the door. Desktop agent (Windows) + Chrome extension, live today.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dot"/>
          <p:cNvSpPr/>
          <p:nvPr/>
        </p:nvSpPr>
        <p:spPr>
          <a:xfrm>
            <a:off x="594360" y="429768"/>
            <a:ext cx="146304" cy="146304"/>
          </a:xfrm>
          <a:prstGeom prst="ellipse">
            <a:avLst/>
          </a:prstGeom>
          <a:solidFill>
            <a:srgbClr val="0E8F8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Eyebrow"/>
          <p:cNvSpPr/>
          <p:nvPr/>
        </p:nvSpPr>
        <p:spPr>
          <a:xfrm>
            <a:off x="813816" y="283464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300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PRODUCT</a:t>
            </a:r>
            <a:endParaRPr lang="en-US" sz="1400" dirty="0"/>
          </a:p>
        </p:txBody>
      </p:sp>
      <p:sp>
        <p:nvSpPr>
          <p:cNvPr id="4" name="Title"/>
          <p:cNvSpPr/>
          <p:nvPr/>
        </p:nvSpPr>
        <p:spPr>
          <a:xfrm>
            <a:off x="594360" y="658368"/>
            <a:ext cx="990600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Windows protection states</a:t>
            </a:r>
            <a:endParaRPr lang="en-US" sz="3000" dirty="0"/>
          </a:p>
        </p:txBody>
      </p:sp>
      <p:sp>
        <p:nvSpPr>
          <p:cNvPr id="5" name="Page number"/>
          <p:cNvSpPr/>
          <p:nvPr/>
        </p:nvSpPr>
        <p:spPr>
          <a:xfrm>
            <a:off x="11274552" y="635508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dirty="0">
                <a:solidFill>
                  <a:srgbClr val="7A8A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600" dirty="0"/>
          </a:p>
        </p:txBody>
      </p:sp>
      <p:sp>
        <p:nvSpPr>
          <p:cNvPr id="6" name="Logo card"/>
          <p:cNvSpPr/>
          <p:nvPr/>
        </p:nvSpPr>
        <p:spPr>
          <a:xfrm>
            <a:off x="11109960" y="237744"/>
            <a:ext cx="585216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4EBEA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7" name="KungFlow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83464"/>
            <a:ext cx="493776" cy="457200"/>
          </a:xfrm>
          <a:prstGeom prst="rect">
            <a:avLst/>
          </a:prstGeom>
          <a:ln>
            <a:noFill/>
          </a:ln>
        </p:spPr>
      </p:pic>
      <p:sp>
        <p:nvSpPr>
          <p:cNvPr id="8" name="Open state card"/>
          <p:cNvSpPr/>
          <p:nvPr/>
        </p:nvSpPr>
        <p:spPr>
          <a:xfrm>
            <a:off x="594360" y="1666875"/>
            <a:ext cx="3333750" cy="37147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FE0DD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9" name="Open state screensho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810" y="1876425"/>
            <a:ext cx="2990850" cy="2466975"/>
          </a:xfrm>
          <a:prstGeom prst="rect">
            <a:avLst/>
          </a:prstGeom>
          <a:ln w="12700">
            <a:solidFill>
              <a:srgbClr val="E0E7E6"/>
            </a:solidFill>
          </a:ln>
        </p:spPr>
      </p:pic>
      <p:sp>
        <p:nvSpPr>
          <p:cNvPr id="10" name="Open state caption"/>
          <p:cNvSpPr/>
          <p:nvPr/>
        </p:nvSpPr>
        <p:spPr>
          <a:xfrm>
            <a:off x="803910" y="4543425"/>
            <a:ext cx="291465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state</a:t>
            </a:r>
            <a:endParaRPr lang="en-US" sz="1800" dirty="0"/>
          </a:p>
        </p:txBody>
      </p:sp>
      <p:sp>
        <p:nvSpPr>
          <p:cNvPr id="11" name="Open state body"/>
          <p:cNvSpPr/>
          <p:nvPr/>
        </p:nvSpPr>
        <p:spPr>
          <a:xfrm>
            <a:off x="842010" y="4876800"/>
            <a:ext cx="283845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 cognitive load: notifications can pass through.</a:t>
            </a:r>
            <a:endParaRPr lang="en-US" sz="1200" dirty="0"/>
          </a:p>
        </p:txBody>
      </p:sp>
      <p:sp>
        <p:nvSpPr>
          <p:cNvPr id="12" name="Calibrating card"/>
          <p:cNvSpPr/>
          <p:nvPr/>
        </p:nvSpPr>
        <p:spPr>
          <a:xfrm>
            <a:off x="4380548" y="1666875"/>
            <a:ext cx="3333750" cy="37147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FE0DD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3" name="Calibrating screensho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1998" y="1876425"/>
            <a:ext cx="2990850" cy="2466975"/>
          </a:xfrm>
          <a:prstGeom prst="rect">
            <a:avLst/>
          </a:prstGeom>
          <a:ln w="12700">
            <a:solidFill>
              <a:srgbClr val="E0E7E6"/>
            </a:solidFill>
          </a:ln>
        </p:spPr>
      </p:pic>
      <p:sp>
        <p:nvSpPr>
          <p:cNvPr id="14" name="Calibrating caption"/>
          <p:cNvSpPr/>
          <p:nvPr/>
        </p:nvSpPr>
        <p:spPr>
          <a:xfrm>
            <a:off x="4590098" y="4543425"/>
            <a:ext cx="291465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Calibrating</a:t>
            </a:r>
            <a:endParaRPr lang="en-US" sz="1800" dirty="0"/>
          </a:p>
        </p:txBody>
      </p:sp>
      <p:sp>
        <p:nvSpPr>
          <p:cNvPr id="15" name="Calibrating body"/>
          <p:cNvSpPr/>
          <p:nvPr/>
        </p:nvSpPr>
        <p:spPr>
          <a:xfrm>
            <a:off x="4628198" y="4876800"/>
            <a:ext cx="283845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KungFlow is learning the user baseline before full automation.</a:t>
            </a:r>
            <a:endParaRPr lang="en-US" sz="1200" dirty="0"/>
          </a:p>
        </p:txBody>
      </p:sp>
      <p:sp>
        <p:nvSpPr>
          <p:cNvPr id="16" name="Firewall active card"/>
          <p:cNvSpPr/>
          <p:nvPr/>
        </p:nvSpPr>
        <p:spPr>
          <a:xfrm>
            <a:off x="8166735" y="1666875"/>
            <a:ext cx="3333750" cy="37147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FE0DD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7" name="Firewall active screensho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8185" y="1876425"/>
            <a:ext cx="2990850" cy="2466975"/>
          </a:xfrm>
          <a:prstGeom prst="rect">
            <a:avLst/>
          </a:prstGeom>
          <a:ln w="12700">
            <a:solidFill>
              <a:srgbClr val="E0E7E6"/>
            </a:solidFill>
          </a:ln>
        </p:spPr>
      </p:pic>
      <p:sp>
        <p:nvSpPr>
          <p:cNvPr id="18" name="Firewall active caption"/>
          <p:cNvSpPr/>
          <p:nvPr/>
        </p:nvSpPr>
        <p:spPr>
          <a:xfrm>
            <a:off x="8376285" y="4543425"/>
            <a:ext cx="291465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Firewall active</a:t>
            </a:r>
            <a:endParaRPr lang="en-US" sz="1800" dirty="0"/>
          </a:p>
        </p:txBody>
      </p:sp>
      <p:sp>
        <p:nvSpPr>
          <p:cNvPr id="19" name="Firewall active body"/>
          <p:cNvSpPr/>
          <p:nvPr/>
        </p:nvSpPr>
        <p:spPr>
          <a:xfrm>
            <a:off x="8414385" y="4876800"/>
            <a:ext cx="283845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 load detected: the notification firewall protects focus.</a:t>
            </a:r>
            <a:endParaRPr lang="en-US" sz="1200" dirty="0"/>
          </a:p>
        </p:txBody>
      </p:sp>
      <p:sp>
        <p:nvSpPr>
          <p:cNvPr id="20" name="Product note"/>
          <p:cNvSpPr/>
          <p:nvPr/>
        </p:nvSpPr>
        <p:spPr>
          <a:xfrm>
            <a:off x="594360" y="5876925"/>
            <a:ext cx="11000232" cy="5238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simple status experience makes the firewall visible: open when focus is stable, learning while calibrating, protected under high load.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146304" cy="146304"/>
          </a:xfrm>
          <a:prstGeom prst="ellipse">
            <a:avLst/>
          </a:prstGeom>
          <a:solidFill>
            <a:srgbClr val="0E8F8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813816" y="28346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 BY DESIGN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658368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surveillance. The opposite.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109960" y="237744"/>
            <a:ext cx="585216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mage 0" descr="assets/slide01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83464"/>
            <a:ext cx="493776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783080"/>
            <a:ext cx="557784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Text 6"/>
          <p:cNvSpPr/>
          <p:nvPr/>
        </p:nvSpPr>
        <p:spPr>
          <a:xfrm>
            <a:off x="868680" y="1965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kern="0" spc="200" dirty="0">
                <a:solidFill>
                  <a:srgbClr val="D24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KUNGFLOW NEVER SEES</a:t>
            </a:r>
            <a:endParaRPr lang="en-US" sz="13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2377440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34440" y="23317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type</a:t>
            </a:r>
            <a:endParaRPr lang="en-US" sz="15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277063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2491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Websites you visit</a:t>
            </a:r>
            <a:endParaRPr lang="en-US" sz="15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163824"/>
            <a:ext cx="219456" cy="2194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11810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you open</a:t>
            </a:r>
            <a:endParaRPr lang="en-US" sz="15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557016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34440" y="351129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— of anything, ever</a:t>
            </a:r>
            <a:endParaRPr lang="en-US" sz="1500" dirty="0"/>
          </a:p>
        </p:txBody>
      </p:sp>
      <p:sp>
        <p:nvSpPr>
          <p:cNvPr id="18" name="Text 11"/>
          <p:cNvSpPr/>
          <p:nvPr/>
        </p:nvSpPr>
        <p:spPr>
          <a:xfrm>
            <a:off x="868680" y="40690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kern="0" spc="200" dirty="0">
                <a:solidFill>
                  <a:srgbClr val="1FA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ONLY SENSES RHYTHM</a:t>
            </a:r>
            <a:endParaRPr lang="en-US" sz="135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4498848"/>
            <a:ext cx="219456" cy="219456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234440" y="4434840"/>
            <a:ext cx="4800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speed &amp; window switches — signals your OS already has</a:t>
            </a:r>
            <a:endParaRPr lang="en-US" sz="14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4956048"/>
            <a:ext cx="219456" cy="219456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234440" y="4892040"/>
            <a:ext cx="4800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signals are anonymized and aggregated — managers see team trends only, never an individual's score.</a:t>
            </a:r>
            <a:endParaRPr lang="en-US" sz="140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413248"/>
            <a:ext cx="219456" cy="219456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1234440" y="5349240"/>
            <a:ext cx="4800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employee can pause data collection. One toggle, no questions.</a:t>
            </a:r>
            <a:endParaRPr lang="en-US" sz="1400" dirty="0"/>
          </a:p>
        </p:txBody>
      </p:sp>
      <p:sp>
        <p:nvSpPr>
          <p:cNvPr id="25" name="Shape 15"/>
          <p:cNvSpPr/>
          <p:nvPr/>
        </p:nvSpPr>
        <p:spPr>
          <a:xfrm>
            <a:off x="6446520" y="1783080"/>
            <a:ext cx="5166360" cy="2286000"/>
          </a:xfrm>
          <a:prstGeom prst="roundRect">
            <a:avLst>
              <a:gd name="adj" fmla="val 3600"/>
            </a:avLst>
          </a:prstGeom>
          <a:solidFill>
            <a:srgbClr val="FBEAE9"/>
          </a:solidFill>
          <a:ln w="9525">
            <a:solidFill>
              <a:srgbClr val="FBEAE9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6" name="Text 16"/>
          <p:cNvSpPr/>
          <p:nvPr/>
        </p:nvSpPr>
        <p:spPr>
          <a:xfrm>
            <a:off x="6720840" y="2011680"/>
            <a:ext cx="4617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D24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56% vs 40%</a:t>
            </a:r>
            <a:endParaRPr lang="en-US" sz="3400" dirty="0"/>
          </a:p>
          <a:p>
            <a:pPr marL="0" indent="0">
              <a:buNone/>
            </a:pPr>
            <a:r>
              <a:rPr lang="en-US" sz="15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digitally monitored employees feel tense or stressed at work, compared to non-monitored peers (APA, Work in America 2023).</a:t>
            </a:r>
            <a:endParaRPr lang="en-US" sz="3400" dirty="0"/>
          </a:p>
        </p:txBody>
      </p:sp>
      <p:sp>
        <p:nvSpPr>
          <p:cNvPr id="27" name="Shape 17"/>
          <p:cNvSpPr/>
          <p:nvPr/>
        </p:nvSpPr>
        <p:spPr>
          <a:xfrm>
            <a:off x="6446520" y="4251960"/>
            <a:ext cx="5166360" cy="1737360"/>
          </a:xfrm>
          <a:prstGeom prst="roundRect">
            <a:avLst>
              <a:gd name="adj" fmla="val 4737"/>
            </a:avLst>
          </a:prstGeom>
          <a:solidFill>
            <a:srgbClr val="10243E"/>
          </a:solidFill>
          <a:ln w="9525">
            <a:solidFill>
              <a:srgbClr val="10243E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8" name="Text 18"/>
          <p:cNvSpPr/>
          <p:nvPr/>
        </p:nvSpPr>
        <p:spPr>
          <a:xfrm>
            <a:off x="6720840" y="4389120"/>
            <a:ext cx="4617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backfires.  </a:t>
            </a:r>
            <a:r>
              <a:rPr lang="en-US" sz="1550" dirty="0">
                <a:solidFill>
                  <a:srgbClr val="C9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flipped the model: the data belongs to the employee and works for the employee. KungFlow is a perk, not a watchdog.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146304" cy="146304"/>
          </a:xfrm>
          <a:prstGeom prst="ellipse">
            <a:avLst/>
          </a:prstGeom>
          <a:solidFill>
            <a:srgbClr val="0E8F8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813816" y="28346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658368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tested it. Focus won.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109960" y="237744"/>
            <a:ext cx="585216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mage 0" descr="assets/slide01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83464"/>
            <a:ext cx="493776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783080"/>
            <a:ext cx="566928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Text 6"/>
          <p:cNvSpPr/>
          <p:nvPr/>
        </p:nvSpPr>
        <p:spPr>
          <a:xfrm>
            <a:off x="868680" y="1965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accuracy — error-correction task, score out of 20</a:t>
            </a:r>
            <a:endParaRPr lang="en-US" sz="15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822960" y="2377440"/>
          <a:ext cx="5212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6537960" y="1783080"/>
            <a:ext cx="50749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2" name="Text 8"/>
          <p:cNvSpPr/>
          <p:nvPr/>
        </p:nvSpPr>
        <p:spPr>
          <a:xfrm>
            <a:off x="6766560" y="1892808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A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+165%</a:t>
            </a:r>
            <a:endParaRPr lang="en-US" sz="3200" dirty="0"/>
          </a:p>
        </p:txBody>
      </p:sp>
      <p:sp>
        <p:nvSpPr>
          <p:cNvPr id="13" name="Text 9"/>
          <p:cNvSpPr/>
          <p:nvPr/>
        </p:nvSpPr>
        <p:spPr>
          <a:xfrm>
            <a:off x="8503920" y="18928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task scores once interruptions were removed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537960" y="2990088"/>
            <a:ext cx="50749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5" name="Text 11"/>
          <p:cNvSpPr/>
          <p:nvPr/>
        </p:nvSpPr>
        <p:spPr>
          <a:xfrm>
            <a:off x="6766560" y="3099816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49%</a:t>
            </a:r>
            <a:endParaRPr lang="en-US" sz="3200" dirty="0"/>
          </a:p>
        </p:txBody>
      </p:sp>
      <p:sp>
        <p:nvSpPr>
          <p:cNvPr id="16" name="Text 12"/>
          <p:cNvSpPr/>
          <p:nvPr/>
        </p:nvSpPr>
        <p:spPr>
          <a:xfrm>
            <a:off x="8503920" y="3099816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errors missed in the same 10-minute window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537960" y="4197096"/>
            <a:ext cx="50749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8" name="Text 14"/>
          <p:cNvSpPr/>
          <p:nvPr/>
        </p:nvSpPr>
        <p:spPr>
          <a:xfrm>
            <a:off x="6766560" y="4306824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+25%</a:t>
            </a:r>
            <a:endParaRPr lang="en-US" sz="3200" dirty="0"/>
          </a:p>
        </p:txBody>
      </p:sp>
      <p:sp>
        <p:nvSpPr>
          <p:cNvPr id="19" name="Text 15"/>
          <p:cNvSpPr/>
          <p:nvPr/>
        </p:nvSpPr>
        <p:spPr>
          <a:xfrm>
            <a:off x="8503920" y="4306824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gain after controlling for natural learning effects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537960" y="548640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pilot, n=8, with a learning-effect control group (2026). Larger study planned with design partners.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146304" cy="146304"/>
          </a:xfrm>
          <a:prstGeom prst="ellipse">
            <a:avLst/>
          </a:prstGeom>
          <a:solidFill>
            <a:srgbClr val="0E8F8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813816" y="28346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658368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math for one 250-person company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109960" y="237744"/>
            <a:ext cx="585216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mage 0" descr="assets/slide01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83464"/>
            <a:ext cx="493776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87452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5E9E8"/>
          </a:solidFill>
          <a:ln w="9525">
            <a:solidFill>
              <a:srgbClr val="F5E9E8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Text 6"/>
          <p:cNvSpPr/>
          <p:nvPr/>
        </p:nvSpPr>
        <p:spPr>
          <a:xfrm>
            <a:off x="777240" y="21488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24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$1.5M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868680" y="3063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at just 5% of payroll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3995928" y="2651760"/>
            <a:ext cx="512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6B7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4416552" y="187452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E7F1EE"/>
          </a:solidFill>
          <a:ln w="9525">
            <a:solidFill>
              <a:srgbClr val="E7F1EE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3" name="Text 10"/>
          <p:cNvSpPr/>
          <p:nvPr/>
        </p:nvSpPr>
        <p:spPr>
          <a:xfrm>
            <a:off x="4599432" y="21488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$90K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4690872" y="3063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KungFlow — 0.3% of payroll, all 250 seats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818120" y="2651760"/>
            <a:ext cx="512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6B7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8238744" y="187452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EAF4EC"/>
          </a:solidFill>
          <a:ln w="9525">
            <a:solidFill>
              <a:srgbClr val="EAF4EC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7" name="Text 14"/>
          <p:cNvSpPr/>
          <p:nvPr/>
        </p:nvSpPr>
        <p:spPr>
          <a:xfrm>
            <a:off x="8421624" y="21488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FA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 : 1</a:t>
            </a:r>
            <a:endParaRPr lang="en-US" sz="4400" dirty="0"/>
          </a:p>
        </p:txBody>
      </p:sp>
      <p:sp>
        <p:nvSpPr>
          <p:cNvPr id="18" name="Text 15"/>
          <p:cNvSpPr/>
          <p:nvPr/>
        </p:nvSpPr>
        <p:spPr>
          <a:xfrm>
            <a:off x="8513064" y="3063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every $1 spent — and you add no real spend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94360" y="4251960"/>
            <a:ext cx="11000232" cy="1691640"/>
          </a:xfrm>
          <a:prstGeom prst="roundRect">
            <a:avLst>
              <a:gd name="adj" fmla="val 4865"/>
            </a:avLst>
          </a:prstGeom>
          <a:solidFill>
            <a:srgbClr val="10243E"/>
          </a:solidFill>
          <a:ln w="9525">
            <a:solidFill>
              <a:srgbClr val="10243E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0" name="Text 17"/>
          <p:cNvSpPr/>
          <p:nvPr/>
        </p:nvSpPr>
        <p:spPr>
          <a:xfrm>
            <a:off x="914400" y="4480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FD6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FOR EVERY SINGLE EMPLOYEE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14400" y="48463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 hrs</a:t>
            </a:r>
            <a:endParaRPr lang="en-US" sz="2500" dirty="0"/>
          </a:p>
        </p:txBody>
      </p:sp>
      <p:sp>
        <p:nvSpPr>
          <p:cNvPr id="22" name="Text 19"/>
          <p:cNvSpPr/>
          <p:nvPr/>
        </p:nvSpPr>
        <p:spPr>
          <a:xfrm>
            <a:off x="914400" y="53492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deep work back, daily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4572000" y="48463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56 → quiet</a:t>
            </a:r>
            <a:endParaRPr lang="en-US" sz="2500" dirty="0"/>
          </a:p>
        </p:txBody>
      </p:sp>
      <p:sp>
        <p:nvSpPr>
          <p:cNvPr id="24" name="Text 21"/>
          <p:cNvSpPr/>
          <p:nvPr/>
        </p:nvSpPr>
        <p:spPr>
          <a:xfrm>
            <a:off x="4572000" y="53492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interruptions blocked at the right moment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229600" y="48463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Calmer days</a:t>
            </a:r>
            <a:endParaRPr lang="en-US" sz="2500" dirty="0"/>
          </a:p>
        </p:txBody>
      </p:sp>
      <p:sp>
        <p:nvSpPr>
          <p:cNvPr id="26" name="Text 23"/>
          <p:cNvSpPr/>
          <p:nvPr/>
        </p:nvSpPr>
        <p:spPr>
          <a:xfrm>
            <a:off x="8229600" y="53492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stress, lower burnout risk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146304" cy="146304"/>
          </a:xfrm>
          <a:prstGeom prst="ellipse">
            <a:avLst/>
          </a:prstGeom>
          <a:solidFill>
            <a:srgbClr val="0E8F8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813816" y="28346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658368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big problem — and an empty category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109960" y="237744"/>
            <a:ext cx="585216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mage 0" descr="assets/slide01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83464"/>
            <a:ext cx="493776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783080"/>
            <a:ext cx="347472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Text 6"/>
          <p:cNvSpPr/>
          <p:nvPr/>
        </p:nvSpPr>
        <p:spPr>
          <a:xfrm>
            <a:off x="868680" y="19385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kern="0" spc="200" dirty="0">
                <a:solidFill>
                  <a:srgbClr val="0E8F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TAM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68680" y="221284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1.2B</a:t>
            </a:r>
            <a:endParaRPr lang="en-US" sz="4200" dirty="0"/>
          </a:p>
        </p:txBody>
      </p:sp>
      <p:sp>
        <p:nvSpPr>
          <p:cNvPr id="11" name="Text 8"/>
          <p:cNvSpPr/>
          <p:nvPr/>
        </p:nvSpPr>
        <p:spPr>
          <a:xfrm>
            <a:off x="868680" y="29718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workers worldwide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416552" y="1783080"/>
            <a:ext cx="347472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3" name="Text 10"/>
          <p:cNvSpPr/>
          <p:nvPr/>
        </p:nvSpPr>
        <p:spPr>
          <a:xfrm>
            <a:off x="4690872" y="19385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kern="0" spc="200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690872" y="221284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400K</a:t>
            </a:r>
            <a:endParaRPr lang="en-US" sz="4200" dirty="0"/>
          </a:p>
        </p:txBody>
      </p:sp>
      <p:sp>
        <p:nvSpPr>
          <p:cNvPr id="15" name="Text 12"/>
          <p:cNvSpPr/>
          <p:nvPr/>
        </p:nvSpPr>
        <p:spPr>
          <a:xfrm>
            <a:off x="4690872" y="29718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workers in Israel — our beachhead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238744" y="1783080"/>
            <a:ext cx="347472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7" name="Text 14"/>
          <p:cNvSpPr/>
          <p:nvPr/>
        </p:nvSpPr>
        <p:spPr>
          <a:xfrm>
            <a:off x="8513064" y="19385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kern="0" spc="200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 Y1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8513064" y="221284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2,500</a:t>
            </a:r>
            <a:endParaRPr lang="en-US" sz="4200" dirty="0"/>
          </a:p>
        </p:txBody>
      </p:sp>
      <p:sp>
        <p:nvSpPr>
          <p:cNvPr id="19" name="Text 16"/>
          <p:cNvSpPr/>
          <p:nvPr/>
        </p:nvSpPr>
        <p:spPr>
          <a:xfrm>
            <a:off x="8513064" y="29718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across 10 mid-market companies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94360" y="3977640"/>
            <a:ext cx="11000232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1" name="Text 18"/>
          <p:cNvSpPr/>
          <p:nvPr/>
        </p:nvSpPr>
        <p:spPr>
          <a:xfrm>
            <a:off x="86868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Acts automatically, in real time?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68680" y="4572000"/>
            <a:ext cx="2011680" cy="1234440"/>
          </a:xfrm>
          <a:prstGeom prst="roundRect">
            <a:avLst>
              <a:gd name="adj" fmla="val 5185"/>
            </a:avLst>
          </a:prstGeom>
          <a:solidFill>
            <a:srgbClr val="F0EEE7"/>
          </a:solidFill>
          <a:ln w="12700">
            <a:solidFill>
              <a:srgbClr val="E5E2D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0"/>
          <p:cNvSpPr/>
          <p:nvPr/>
        </p:nvSpPr>
        <p:spPr>
          <a:xfrm>
            <a:off x="960120" y="4663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RescueTime</a:t>
            </a:r>
            <a:endParaRPr lang="en-US" sz="1300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7360" y="5001768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941832" y="53035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after the fact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3063240" y="4572000"/>
            <a:ext cx="2011680" cy="1234440"/>
          </a:xfrm>
          <a:prstGeom prst="roundRect">
            <a:avLst>
              <a:gd name="adj" fmla="val 5185"/>
            </a:avLst>
          </a:prstGeom>
          <a:solidFill>
            <a:srgbClr val="F0EEE7"/>
          </a:solidFill>
          <a:ln w="12700">
            <a:solidFill>
              <a:srgbClr val="E5E2D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3"/>
          <p:cNvSpPr/>
          <p:nvPr/>
        </p:nvSpPr>
        <p:spPr>
          <a:xfrm>
            <a:off x="3154680" y="4663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 for Business</a:t>
            </a:r>
            <a:endParaRPr lang="en-US" sz="130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5001768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3136392" y="53035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 workflow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5257800" y="4572000"/>
            <a:ext cx="2011680" cy="1234440"/>
          </a:xfrm>
          <a:prstGeom prst="roundRect">
            <a:avLst>
              <a:gd name="adj" fmla="val 5185"/>
            </a:avLst>
          </a:prstGeom>
          <a:solidFill>
            <a:srgbClr val="F0EEE7"/>
          </a:solidFill>
          <a:ln w="12700">
            <a:solidFill>
              <a:srgbClr val="E5E2D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6"/>
          <p:cNvSpPr/>
          <p:nvPr/>
        </p:nvSpPr>
        <p:spPr>
          <a:xfrm>
            <a:off x="5349240" y="4663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 Viva Insights</a:t>
            </a:r>
            <a:endParaRPr lang="en-US" sz="1300" dirty="0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5001768"/>
            <a:ext cx="274320" cy="27432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5330952" y="53035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dashboards only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7452360" y="4572000"/>
            <a:ext cx="2011680" cy="1234440"/>
          </a:xfrm>
          <a:prstGeom prst="roundRect">
            <a:avLst>
              <a:gd name="adj" fmla="val 5185"/>
            </a:avLst>
          </a:prstGeom>
          <a:solidFill>
            <a:srgbClr val="F0EEE7"/>
          </a:solidFill>
          <a:ln w="12700">
            <a:solidFill>
              <a:srgbClr val="E5E2D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29"/>
          <p:cNvSpPr/>
          <p:nvPr/>
        </p:nvSpPr>
        <p:spPr>
          <a:xfrm>
            <a:off x="7543800" y="4663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Built-in DND</a:t>
            </a:r>
            <a:endParaRPr lang="en-US" sz="1300" dirty="0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5001768"/>
            <a:ext cx="274320" cy="27432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7525512" y="53035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user to act</a:t>
            </a:r>
            <a:endParaRPr lang="en-US" sz="1050" dirty="0"/>
          </a:p>
        </p:txBody>
      </p:sp>
      <p:sp>
        <p:nvSpPr>
          <p:cNvPr id="38" name="Shape 31"/>
          <p:cNvSpPr/>
          <p:nvPr/>
        </p:nvSpPr>
        <p:spPr>
          <a:xfrm>
            <a:off x="9646920" y="4572000"/>
            <a:ext cx="2011680" cy="1234440"/>
          </a:xfrm>
          <a:prstGeom prst="roundRect">
            <a:avLst>
              <a:gd name="adj" fmla="val 5185"/>
            </a:avLst>
          </a:prstGeom>
          <a:solidFill>
            <a:srgbClr val="0E8F84"/>
          </a:solidFill>
          <a:ln w="12700">
            <a:solidFill>
              <a:srgbClr val="0B6E6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2"/>
          <p:cNvSpPr/>
          <p:nvPr/>
        </p:nvSpPr>
        <p:spPr>
          <a:xfrm>
            <a:off x="9738360" y="4663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KungFlow</a:t>
            </a:r>
            <a:endParaRPr lang="en-US" sz="1300" dirty="0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0" y="5001768"/>
            <a:ext cx="274320" cy="274320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720072" y="53035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D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&amp; protects on its own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146304" cy="146304"/>
          </a:xfrm>
          <a:prstGeom prst="ellipse">
            <a:avLst/>
          </a:prstGeom>
          <a:solidFill>
            <a:srgbClr val="0E8F8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813816" y="28346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MODEL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658368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SaaS that climbs the org chart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109960" y="237744"/>
            <a:ext cx="585216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mage 0" descr="assets/slide01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83464"/>
            <a:ext cx="493776" cy="45720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594360" y="5074920"/>
            <a:ext cx="11000232" cy="1005840"/>
          </a:xfrm>
          <a:prstGeom prst="roundRect">
            <a:avLst>
              <a:gd name="adj" fmla="val 8182"/>
            </a:avLst>
          </a:prstGeom>
          <a:solidFill>
            <a:srgbClr val="E7F1EE"/>
          </a:solidFill>
          <a:ln w="9525">
            <a:solidFill>
              <a:srgbClr val="E7F1EE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8" name="Text 25"/>
          <p:cNvSpPr/>
          <p:nvPr/>
        </p:nvSpPr>
        <p:spPr>
          <a:xfrm>
            <a:off x="868680" y="5166360"/>
            <a:ext cx="10451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 by design:  free individual → paid team → manager → org, no new sales motion.   ACV $90K  ·  LTV:CAC 11:1  ·  3-yr retention</a:t>
            </a:r>
            <a:endParaRPr lang="en-US" sz="1650" dirty="0"/>
          </a:p>
        </p:txBody>
      </p:sp>
      <p:sp>
        <p:nvSpPr>
          <p:cNvPr id="29" name="Rounded Rectangle 28"/>
          <p:cNvSpPr/>
          <p:nvPr/>
        </p:nvSpPr>
        <p:spPr>
          <a:xfrm>
            <a:off x="594360" y="1627632"/>
            <a:ext cx="2487168" cy="32735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0392" y="1810512"/>
            <a:ext cx="19751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10243E"/>
                </a:solidFill>
                <a:latin typeface="Trebuchet MS"/>
              </a:rPr>
              <a:t>Free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" y="2340864"/>
            <a:ext cx="19751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 i="0">
                <a:solidFill>
                  <a:srgbClr val="0B6E66"/>
                </a:solidFill>
                <a:latin typeface="Trebuchet MS"/>
              </a:rPr>
              <a:t>$0</a:t>
            </a:r>
            <a:r>
              <a:rPr sz="1200" b="0" i="0">
                <a:solidFill>
                  <a:srgbClr val="5B6B7E"/>
                </a:solidFill>
                <a:latin typeface="Calibri"/>
              </a:rPr>
              <a:t>  forever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" y="2889504"/>
            <a:ext cx="19751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0B6E66"/>
                </a:solidFill>
                <a:latin typeface="Calibri"/>
              </a:rPr>
              <a:t>For individuals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" y="3218688"/>
            <a:ext cx="1975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0B6E66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26354A"/>
                </a:solidFill>
                <a:latin typeface="Calibri"/>
              </a:rPr>
              <a:t>Live cognitive-load score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" y="3584448"/>
            <a:ext cx="1975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0B6E66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26354A"/>
                </a:solidFill>
                <a:latin typeface="Calibri"/>
              </a:rPr>
              <a:t>Auto-DND · 1 device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" y="3950208"/>
            <a:ext cx="1975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0B6E66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26354A"/>
                </a:solidFill>
                <a:latin typeface="Calibri"/>
              </a:rPr>
              <a:t>7-day focus history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" y="4224528"/>
            <a:ext cx="1975104" cy="6400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050" b="0" i="1">
                <a:solidFill>
                  <a:srgbClr val="10243E"/>
                </a:solidFill>
                <a:latin typeface="Calibri"/>
              </a:rPr>
              <a:t>For individuals · real focus protection, free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7288" y="1627632"/>
            <a:ext cx="2487168" cy="32735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703320" y="1810512"/>
            <a:ext cx="19751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10243E"/>
                </a:solidFill>
                <a:latin typeface="Trebuchet MS"/>
              </a:rPr>
              <a:t>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03320" y="2340864"/>
            <a:ext cx="19751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 i="0">
                <a:solidFill>
                  <a:srgbClr val="0B6E66"/>
                </a:solidFill>
                <a:latin typeface="Trebuchet MS"/>
              </a:rPr>
              <a:t>$20</a:t>
            </a:r>
            <a:r>
              <a:rPr sz="1200" b="0" i="0">
                <a:solidFill>
                  <a:srgbClr val="5B6B7E"/>
                </a:solidFill>
                <a:latin typeface="Calibri"/>
              </a:rPr>
              <a:t> /user/mo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03320" y="2889504"/>
            <a:ext cx="19751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0B6E66"/>
                </a:solidFill>
                <a:latin typeface="Calibri"/>
              </a:rPr>
              <a:t>Everything in Free, plus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03320" y="3218688"/>
            <a:ext cx="1975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0B6E66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26354A"/>
                </a:solidFill>
                <a:latin typeface="Calibri"/>
              </a:rPr>
              <a:t>Adaptive personal baseline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03320" y="3584448"/>
            <a:ext cx="1975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0B6E66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26354A"/>
                </a:solidFill>
                <a:latin typeface="Calibri"/>
              </a:rPr>
              <a:t>All apps + all devices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03320" y="3950208"/>
            <a:ext cx="1975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0B6E66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26354A"/>
                </a:solidFill>
                <a:latin typeface="Calibri"/>
              </a:rPr>
              <a:t>Unlimited history + dashboard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03320" y="4224528"/>
            <a:ext cx="1975104" cy="6400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050" b="0" i="1">
                <a:solidFill>
                  <a:srgbClr val="10243E"/>
                </a:solidFill>
                <a:latin typeface="Calibri"/>
              </a:rPr>
              <a:t>The power user · it learns you &amp; covers every app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00216" y="1627632"/>
            <a:ext cx="2487168" cy="3273552"/>
          </a:xfrm>
          <a:prstGeom prst="roundRect">
            <a:avLst>
              <a:gd name="adj" fmla="val 3000"/>
            </a:avLst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56248" y="1810512"/>
            <a:ext cx="19751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CFD8E3"/>
                </a:solidFill>
                <a:latin typeface="Trebuchet MS"/>
              </a:rPr>
              <a:t>MOST POPULAR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56248" y="2084831"/>
            <a:ext cx="19751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Trebuchet MS"/>
              </a:rPr>
              <a:t>Business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56248" y="2340864"/>
            <a:ext cx="19751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Trebuchet MS"/>
              </a:rPr>
              <a:t>$30</a:t>
            </a:r>
            <a:r>
              <a:rPr sz="1200" b="0" i="0">
                <a:solidFill>
                  <a:srgbClr val="CFD8E3"/>
                </a:solidFill>
                <a:latin typeface="Calibri"/>
              </a:rPr>
              <a:t> /user/mo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6248" y="2889504"/>
            <a:ext cx="19751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CFD8E3"/>
                </a:solidFill>
                <a:latin typeface="Calibri"/>
              </a:rPr>
              <a:t>Everything in Team, plus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6248" y="3218688"/>
            <a:ext cx="1975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Team focus analytics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56248" y="3584448"/>
            <a:ext cx="1975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Custom &amp; VIP rules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56248" y="3950208"/>
            <a:ext cx="1975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Admin console + onboarding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56248" y="4224528"/>
            <a:ext cx="1975104" cy="6400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050" b="0" i="1">
                <a:solidFill>
                  <a:srgbClr val="CFD8E3"/>
                </a:solidFill>
                <a:latin typeface="Calibri"/>
              </a:rPr>
              <a:t>The manager · a whole team in deep work, with visibility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53144" y="1627632"/>
            <a:ext cx="2487168" cy="32735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409176" y="1810512"/>
            <a:ext cx="19751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10243E"/>
                </a:solidFill>
                <a:latin typeface="Trebuchet MS"/>
              </a:rPr>
              <a:t>Enterprise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09176" y="2340864"/>
            <a:ext cx="19751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 i="0">
                <a:solidFill>
                  <a:srgbClr val="0B6E66"/>
                </a:solidFill>
                <a:latin typeface="Trebuchet MS"/>
              </a:rPr>
              <a:t>$45+</a:t>
            </a:r>
            <a:r>
              <a:rPr sz="1200" b="0" i="0">
                <a:solidFill>
                  <a:srgbClr val="5B6B7E"/>
                </a:solidFill>
                <a:latin typeface="Calibri"/>
              </a:rPr>
              <a:t> /user/mo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9176" y="2889504"/>
            <a:ext cx="19751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0B6E66"/>
                </a:solidFill>
                <a:latin typeface="Calibri"/>
              </a:rPr>
              <a:t>Everything in Business, plus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09176" y="3218688"/>
            <a:ext cx="1975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0B6E66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26354A"/>
                </a:solidFill>
                <a:latin typeface="Calibri"/>
              </a:rPr>
              <a:t>Org burnout-risk analytics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409176" y="3584448"/>
            <a:ext cx="1975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0B6E66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26354A"/>
                </a:solidFill>
                <a:latin typeface="Calibri"/>
              </a:rPr>
              <a:t>AI recap of missed pings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09176" y="3950208"/>
            <a:ext cx="1975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0B6E66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26354A"/>
                </a:solidFill>
                <a:latin typeface="Calibri"/>
              </a:rPr>
              <a:t>SSO/SAML · CSM + SLA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09176" y="4224528"/>
            <a:ext cx="1975104" cy="6400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050" b="0" i="1">
                <a:solidFill>
                  <a:srgbClr val="10243E"/>
                </a:solidFill>
                <a:latin typeface="Calibri"/>
              </a:rPr>
              <a:t>HR + IT · org-wide rollout, security &amp; support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146304" cy="146304"/>
          </a:xfrm>
          <a:prstGeom prst="ellipse">
            <a:avLst/>
          </a:prstGeom>
          <a:solidFill>
            <a:srgbClr val="0E8F8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813816" y="28346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658368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$770K seed — break-even in 12 months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109960" y="237744"/>
            <a:ext cx="585216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mage 0" descr="assets/slide01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83464"/>
            <a:ext cx="493776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9120" y="1780199"/>
            <a:ext cx="493776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Text 6"/>
          <p:cNvSpPr/>
          <p:nvPr/>
        </p:nvSpPr>
        <p:spPr>
          <a:xfrm>
            <a:off x="86868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kern="0" spc="200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OF FUNDS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68680" y="2423160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 — Scale &amp; v2 development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868680" y="2752344"/>
            <a:ext cx="3108960" cy="182880"/>
          </a:xfrm>
          <a:prstGeom prst="rect">
            <a:avLst/>
          </a:prstGeom>
          <a:solidFill>
            <a:srgbClr val="0E8F8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2" name="Text 9"/>
          <p:cNvSpPr/>
          <p:nvPr/>
        </p:nvSpPr>
        <p:spPr>
          <a:xfrm>
            <a:off x="4050792" y="26700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57%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309981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868680" y="3429000"/>
            <a:ext cx="981777" cy="182880"/>
          </a:xfrm>
          <a:prstGeom prst="rect">
            <a:avLst/>
          </a:prstGeom>
          <a:solidFill>
            <a:srgbClr val="B9D8D3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5" name="Text 12"/>
          <p:cNvSpPr/>
          <p:nvPr/>
        </p:nvSpPr>
        <p:spPr>
          <a:xfrm>
            <a:off x="1923609" y="334670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18%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68680" y="37764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success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868680" y="4105656"/>
            <a:ext cx="654518" cy="182880"/>
          </a:xfrm>
          <a:prstGeom prst="rect">
            <a:avLst/>
          </a:prstGeom>
          <a:solidFill>
            <a:srgbClr val="B9D8D3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8" name="Text 15"/>
          <p:cNvSpPr/>
          <p:nvPr/>
        </p:nvSpPr>
        <p:spPr>
          <a:xfrm>
            <a:off x="1596350" y="402336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68680" y="44531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(SDR from M6)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868680" y="4782312"/>
            <a:ext cx="654518" cy="182880"/>
          </a:xfrm>
          <a:prstGeom prst="rect">
            <a:avLst/>
          </a:prstGeom>
          <a:solidFill>
            <a:srgbClr val="B9D8D3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1" name="Text 18"/>
          <p:cNvSpPr/>
          <p:nvPr/>
        </p:nvSpPr>
        <p:spPr>
          <a:xfrm>
            <a:off x="1596350" y="470001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12%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68680" y="512978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868680" y="5458968"/>
            <a:ext cx="64008" cy="182880"/>
          </a:xfrm>
          <a:prstGeom prst="rect">
            <a:avLst/>
          </a:prstGeom>
          <a:solidFill>
            <a:srgbClr val="B9D8D3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4" name="Text 21"/>
          <p:cNvSpPr/>
          <p:nvPr/>
        </p:nvSpPr>
        <p:spPr>
          <a:xfrm>
            <a:off x="1005840" y="53766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24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1%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806440" y="1783080"/>
            <a:ext cx="580644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9525">
            <a:solidFill>
              <a:srgbClr val="E5E2DA"/>
            </a:solidFill>
            <a:prstDash val="solid"/>
          </a:ln>
          <a:effectLst>
            <a:outerShdw blurRad="114300" dist="38100" dir="8100000" algn="bl" rotWithShape="0">
              <a:srgbClr val="1A2B40">
                <a:alpha val="14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6" name="Text 23"/>
          <p:cNvSpPr/>
          <p:nvPr/>
        </p:nvSpPr>
        <p:spPr>
          <a:xfrm>
            <a:off x="6080760" y="1965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kern="0" spc="200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YEAR-1 MILESTONES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6080760" y="2423160"/>
            <a:ext cx="713232" cy="457200"/>
          </a:xfrm>
          <a:prstGeom prst="roundRect">
            <a:avLst>
              <a:gd name="adj" fmla="val 12000"/>
            </a:avLst>
          </a:prstGeom>
          <a:solidFill>
            <a:srgbClr val="10243E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8" name="Text 25"/>
          <p:cNvSpPr/>
          <p:nvPr/>
        </p:nvSpPr>
        <p:spPr>
          <a:xfrm>
            <a:off x="6080760" y="2423160"/>
            <a:ext cx="713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M3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949440" y="242316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design partners live, feeding real usage data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437376" y="2880360"/>
            <a:ext cx="0" cy="219456"/>
          </a:xfrm>
          <a:prstGeom prst="line">
            <a:avLst/>
          </a:prstGeom>
          <a:noFill/>
          <a:ln w="19050">
            <a:solidFill>
              <a:srgbClr val="C9C5B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8"/>
          <p:cNvSpPr/>
          <p:nvPr/>
        </p:nvSpPr>
        <p:spPr>
          <a:xfrm>
            <a:off x="6080760" y="3099816"/>
            <a:ext cx="713232" cy="457200"/>
          </a:xfrm>
          <a:prstGeom prst="roundRect">
            <a:avLst>
              <a:gd name="adj" fmla="val 12000"/>
            </a:avLst>
          </a:prstGeom>
          <a:solidFill>
            <a:srgbClr val="10243E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2" name="Text 29"/>
          <p:cNvSpPr/>
          <p:nvPr/>
        </p:nvSpPr>
        <p:spPr>
          <a:xfrm>
            <a:off x="6080760" y="3099816"/>
            <a:ext cx="713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M4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949440" y="30998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paying company — revenue starts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437376" y="3557016"/>
            <a:ext cx="0" cy="219456"/>
          </a:xfrm>
          <a:prstGeom prst="line">
            <a:avLst/>
          </a:prstGeom>
          <a:noFill/>
          <a:ln w="19050">
            <a:solidFill>
              <a:srgbClr val="C9C5B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Shape 32"/>
          <p:cNvSpPr/>
          <p:nvPr/>
        </p:nvSpPr>
        <p:spPr>
          <a:xfrm>
            <a:off x="6080760" y="3776472"/>
            <a:ext cx="713232" cy="457200"/>
          </a:xfrm>
          <a:prstGeom prst="roundRect">
            <a:avLst>
              <a:gd name="adj" fmla="val 12000"/>
            </a:avLst>
          </a:prstGeom>
          <a:solidFill>
            <a:srgbClr val="10243E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6" name="Text 33"/>
          <p:cNvSpPr/>
          <p:nvPr/>
        </p:nvSpPr>
        <p:spPr>
          <a:xfrm>
            <a:off x="6080760" y="3776472"/>
            <a:ext cx="713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M6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49440" y="37764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SDR hired, outbound machine running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437376" y="4233672"/>
            <a:ext cx="0" cy="219456"/>
          </a:xfrm>
          <a:prstGeom prst="line">
            <a:avLst/>
          </a:prstGeom>
          <a:noFill/>
          <a:ln w="19050">
            <a:solidFill>
              <a:srgbClr val="C9C5B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Shape 36"/>
          <p:cNvSpPr/>
          <p:nvPr/>
        </p:nvSpPr>
        <p:spPr>
          <a:xfrm>
            <a:off x="6080760" y="4453128"/>
            <a:ext cx="713232" cy="457200"/>
          </a:xfrm>
          <a:prstGeom prst="roundRect">
            <a:avLst>
              <a:gd name="adj" fmla="val 12000"/>
            </a:avLst>
          </a:prstGeom>
          <a:solidFill>
            <a:srgbClr val="10243E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0" name="Text 37"/>
          <p:cNvSpPr/>
          <p:nvPr/>
        </p:nvSpPr>
        <p:spPr>
          <a:xfrm>
            <a:off x="6080760" y="4453128"/>
            <a:ext cx="713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M9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49440" y="44531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6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case study with measured results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6437376" y="4910328"/>
            <a:ext cx="0" cy="219456"/>
          </a:xfrm>
          <a:prstGeom prst="line">
            <a:avLst/>
          </a:prstGeom>
          <a:noFill/>
          <a:ln w="19050">
            <a:solidFill>
              <a:srgbClr val="C9C5B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0"/>
          <p:cNvSpPr/>
          <p:nvPr/>
        </p:nvSpPr>
        <p:spPr>
          <a:xfrm>
            <a:off x="6080760" y="5129784"/>
            <a:ext cx="713232" cy="457200"/>
          </a:xfrm>
          <a:prstGeom prst="roundRect">
            <a:avLst>
              <a:gd name="adj" fmla="val 12000"/>
            </a:avLst>
          </a:prstGeom>
          <a:solidFill>
            <a:srgbClr val="1FA055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4" name="Text 41"/>
          <p:cNvSpPr/>
          <p:nvPr/>
        </p:nvSpPr>
        <p:spPr>
          <a:xfrm>
            <a:off x="6080760" y="5129784"/>
            <a:ext cx="713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M12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949440" y="512978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companies · 2,500 users · $900K ARR · break-even</a:t>
            </a:r>
            <a:endParaRPr lang="en-US" sz="1450" dirty="0"/>
          </a:p>
        </p:txBody>
      </p:sp>
      <p:sp>
        <p:nvSpPr>
          <p:cNvPr id="46" name="Text 43"/>
          <p:cNvSpPr/>
          <p:nvPr/>
        </p:nvSpPr>
        <p:spPr>
          <a:xfrm>
            <a:off x="594360" y="6172200"/>
            <a:ext cx="110002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12 months of operations ($550K deficit) + 3-month buffer. One goal: 10 mid-market companies.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94360" y="429768"/>
            <a:ext cx="146304" cy="146304"/>
          </a:xfrm>
          <a:prstGeom prst="rect">
            <a:avLst/>
          </a:prstGeom>
          <a:solidFill>
            <a:srgbClr val="0E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13816" y="283464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6E66"/>
                </a:solidFill>
                <a:latin typeface="Trebuchet MS"/>
              </a:rPr>
              <a:t>GTM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0023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10243E"/>
                </a:solidFill>
                <a:latin typeface="Trebuchet MS"/>
              </a:rPr>
              <a:t>Product-led growth: free spreads, value sells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355080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B6B7E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2487168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020824"/>
            <a:ext cx="197510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B6E66"/>
                </a:solidFill>
                <a:latin typeface="Trebuchet MS"/>
              </a:rPr>
              <a:t>1 · ADOPT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68296"/>
            <a:ext cx="1975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0243E"/>
                </a:solidFill>
                <a:latin typeface="Trebuchet MS"/>
              </a:rPr>
              <a:t>Free, bottom-up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26080"/>
            <a:ext cx="1975104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26354A"/>
                </a:solidFill>
                <a:latin typeface="Calibri"/>
              </a:rPr>
              <a:t>Individuals install the free tier and get real focus value — zero friction, no buyer needed. It spreads desk to desk.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8" y="1783080"/>
            <a:ext cx="2487168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721608" y="2020824"/>
            <a:ext cx="197510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B6E66"/>
                </a:solidFill>
                <a:latin typeface="Trebuchet MS"/>
              </a:rPr>
              <a:t>2 · CONVERT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2368296"/>
            <a:ext cx="1975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0243E"/>
                </a:solidFill>
                <a:latin typeface="Trebuchet MS"/>
              </a:rPr>
              <a:t>Free →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2926080"/>
            <a:ext cx="1975104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26354A"/>
                </a:solidFill>
                <a:latin typeface="Calibri"/>
              </a:rPr>
              <a:t>Power users self-upgrade for the adaptive baseline and all their apps. Pure self-serve — no salesperson in the loop.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0216" y="1783080"/>
            <a:ext cx="2487168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74536" y="2020824"/>
            <a:ext cx="197510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B6E66"/>
                </a:solidFill>
                <a:latin typeface="Trebuchet MS"/>
              </a:rPr>
              <a:t>3 · EXPAND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4536" y="2368296"/>
            <a:ext cx="1975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0243E"/>
                </a:solidFill>
                <a:latin typeface="Trebuchet MS"/>
              </a:rPr>
              <a:t>Team → Business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2926080"/>
            <a:ext cx="1975104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26354A"/>
                </a:solidFill>
                <a:latin typeface="Calibri"/>
              </a:rPr>
              <a:t>Managers see their team already using it and buy team analytics, admin and custom rules. Light sales-assist.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3144" y="1783080"/>
            <a:ext cx="2487168" cy="3246120"/>
          </a:xfrm>
          <a:prstGeom prst="roundRect">
            <a:avLst>
              <a:gd name="adj" fmla="val 3000"/>
            </a:avLst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27464" y="2020824"/>
            <a:ext cx="197510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rebuchet MS"/>
              </a:rPr>
              <a:t>4 · STANDARDIZE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27464" y="2368296"/>
            <a:ext cx="1975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Trebuchet MS"/>
              </a:rPr>
              <a:t>→ Enterprise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27464" y="2926080"/>
            <a:ext cx="1975104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CFD8E3"/>
                </a:solidFill>
                <a:latin typeface="Calibri"/>
              </a:rPr>
              <a:t>HR and IT roll it out org-wide — SSO, burnout analytics, dedicated CSM. Top-down lands on bottom-up demand.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349240"/>
            <a:ext cx="11000232" cy="914400"/>
          </a:xfrm>
          <a:prstGeom prst="roundRect">
            <a:avLst>
              <a:gd name="adj" fmla="val 3000"/>
            </a:avLst>
          </a:prstGeom>
          <a:solidFill>
            <a:srgbClr val="F4F2EC"/>
          </a:solidFill>
          <a:ln w="9525">
            <a:solidFill>
              <a:srgbClr val="E5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532120"/>
            <a:ext cx="1045159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0243E"/>
                </a:solidFill>
                <a:latin typeface="Trebuchet MS"/>
              </a:rPr>
              <a:t>Free does the selling.  </a:t>
            </a:r>
            <a:r>
              <a:rPr sz="1300" b="0" i="0">
                <a:solidFill>
                  <a:srgbClr val="26354A"/>
                </a:solidFill>
                <a:latin typeface="Calibri"/>
              </a:rPr>
              <a:t>The product expands itself up the org chart — low CAC, fast payback, and it compounds as every free user pulls the next one 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94360" y="429768"/>
            <a:ext cx="146304" cy="146304"/>
          </a:xfrm>
          <a:prstGeom prst="rect">
            <a:avLst/>
          </a:prstGeom>
          <a:solidFill>
            <a:srgbClr val="0E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13816" y="283464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B6E66"/>
                </a:solidFill>
                <a:latin typeface="Trebuchet MS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0023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10243E"/>
                </a:solidFill>
                <a:latin typeface="Trebuchet MS"/>
              </a:rPr>
              <a:t>How we reach companies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355080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B6B7E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2487168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9385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B6E66"/>
                </a:solidFill>
                <a:latin typeface="Trebuchet MS"/>
              </a:rPr>
              <a:t>PHASE 1 · M1–3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50008"/>
            <a:ext cx="193852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0243E"/>
                </a:solidFill>
                <a:latin typeface="Trebuchet MS"/>
              </a:rPr>
              <a:t>Design partners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26080"/>
            <a:ext cx="1938528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6354A"/>
                </a:solidFill>
                <a:latin typeface="Calibri"/>
              </a:rPr>
              <a:t>2 companies from our own network, installed free — in exchange for feedback and case-study rights.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8" y="1783080"/>
            <a:ext cx="2487168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721608" y="2011680"/>
            <a:ext cx="19385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B6E66"/>
                </a:solidFill>
                <a:latin typeface="Trebuchet MS"/>
              </a:rPr>
              <a:t>PHASE 2 · M4–6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2350008"/>
            <a:ext cx="193852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0243E"/>
                </a:solidFill>
                <a:latin typeface="Trebuchet MS"/>
              </a:rPr>
              <a:t>Founder-led sales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2926080"/>
            <a:ext cx="1938528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6354A"/>
                </a:solidFill>
                <a:latin typeface="Calibri"/>
              </a:rPr>
              <a:t>We sell directly. LinkedIn outreach to VP R&amp;D and VP People at Israeli tech, 100–500 employees.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0216" y="1783080"/>
            <a:ext cx="2487168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74536" y="2011680"/>
            <a:ext cx="19385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B6E66"/>
                </a:solidFill>
                <a:latin typeface="Trebuchet MS"/>
              </a:rPr>
              <a:t>PHASE 3 · M6–12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4536" y="2350008"/>
            <a:ext cx="193852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0243E"/>
                </a:solidFill>
                <a:latin typeface="Trebuchet MS"/>
              </a:rPr>
              <a:t>Scale outbound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2926080"/>
            <a:ext cx="1938528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6354A"/>
                </a:solidFill>
                <a:latin typeface="Calibri"/>
              </a:rPr>
              <a:t>First SDR at M6. 40 sequences/week. Public case study at M9 with measured results.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3144" y="1783080"/>
            <a:ext cx="2487168" cy="3246120"/>
          </a:xfrm>
          <a:prstGeom prst="roundRect">
            <a:avLst>
              <a:gd name="adj" fmla="val 3000"/>
            </a:avLst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27464" y="2011680"/>
            <a:ext cx="19385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Trebuchet MS"/>
              </a:rPr>
              <a:t>THEN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27464" y="2350008"/>
            <a:ext cx="193852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rebuchet MS"/>
              </a:rPr>
              <a:t>Expand outward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27464" y="2926080"/>
            <a:ext cx="1938528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CFD8E3"/>
                </a:solidFill>
                <a:latin typeface="Calibri"/>
              </a:rPr>
              <a:t>Land &amp; expand inside each account, then US via Israeli logos with US offices, then Europe (GDPR).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349240"/>
            <a:ext cx="11000232" cy="914400"/>
          </a:xfrm>
          <a:prstGeom prst="roundRect">
            <a:avLst>
              <a:gd name="adj" fmla="val 3000"/>
            </a:avLst>
          </a:prstGeom>
          <a:solidFill>
            <a:srgbClr val="F4F2EC"/>
          </a:solidFill>
          <a:ln w="9525">
            <a:solidFill>
              <a:srgbClr val="E5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532120"/>
            <a:ext cx="1045159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10243E"/>
                </a:solidFill>
                <a:latin typeface="Trebuchet MS"/>
              </a:rPr>
              <a:t>Why Israel first:  </a:t>
            </a:r>
            <a:r>
              <a:rPr sz="1300" b="0">
                <a:solidFill>
                  <a:srgbClr val="26354A"/>
                </a:solidFill>
                <a:latin typeface="Calibri"/>
              </a:rPr>
              <a:t>warm founder network, demanding early adopters, and short sales cycles keep CAC low — and Israeli logos open doors in the US.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4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81244" y="1161288"/>
            <a:ext cx="1426464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3" name="Image 0" descr="assets/slide01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0972" y="1216152"/>
            <a:ext cx="1207008" cy="11521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74320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you.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0" y="3611880"/>
            <a:ext cx="121889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7FD6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Let's give people their focus back.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0" y="4572000"/>
            <a:ext cx="12188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9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KungFlow  ·  Ido Mark  ·  idoomark23@gmail.com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dot"/>
          <p:cNvSpPr/>
          <p:nvPr/>
        </p:nvSpPr>
        <p:spPr>
          <a:xfrm>
            <a:off x="594360" y="429768"/>
            <a:ext cx="146304" cy="146304"/>
          </a:xfrm>
          <a:prstGeom prst="ellipse">
            <a:avLst/>
          </a:prstGeom>
          <a:solidFill>
            <a:srgbClr val="0E8F8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Eyebrow"/>
          <p:cNvSpPr/>
          <p:nvPr/>
        </p:nvSpPr>
        <p:spPr>
          <a:xfrm>
            <a:off x="813816" y="283464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300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WE DO IT</a:t>
            </a:r>
            <a:endParaRPr lang="en-US" sz="1400" dirty="0"/>
          </a:p>
        </p:txBody>
      </p:sp>
      <p:sp>
        <p:nvSpPr>
          <p:cNvPr id="4" name="Title"/>
          <p:cNvSpPr/>
          <p:nvPr/>
        </p:nvSpPr>
        <p:spPr>
          <a:xfrm>
            <a:off x="594360" y="658368"/>
            <a:ext cx="990600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Behavioral metadata becomes a load score</a:t>
            </a:r>
            <a:endParaRPr lang="en-US" sz="3000" dirty="0"/>
          </a:p>
        </p:txBody>
      </p:sp>
      <p:sp>
        <p:nvSpPr>
          <p:cNvPr id="5" name="Page number"/>
          <p:cNvSpPr/>
          <p:nvPr/>
        </p:nvSpPr>
        <p:spPr>
          <a:xfrm>
            <a:off x="11274552" y="635508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dirty="0">
                <a:solidFill>
                  <a:srgbClr val="7A8A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600" dirty="0"/>
          </a:p>
        </p:txBody>
      </p:sp>
      <p:sp>
        <p:nvSpPr>
          <p:cNvPr id="6" name="Logo card"/>
          <p:cNvSpPr/>
          <p:nvPr/>
        </p:nvSpPr>
        <p:spPr>
          <a:xfrm>
            <a:off x="11109960" y="237744"/>
            <a:ext cx="585216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4EBEA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7" name="KungFlow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83464"/>
            <a:ext cx="493776" cy="457200"/>
          </a:xfrm>
          <a:prstGeom prst="rect">
            <a:avLst/>
          </a:prstGeom>
          <a:ln>
            <a:noFill/>
          </a:ln>
        </p:spPr>
      </p:pic>
      <p:sp>
        <p:nvSpPr>
          <p:cNvPr id="8" name="Mouse movement card"/>
          <p:cNvSpPr/>
          <p:nvPr/>
        </p:nvSpPr>
        <p:spPr>
          <a:xfrm>
            <a:off x="594360" y="1809750"/>
            <a:ext cx="3520440" cy="26193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E2E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Mouse movement icon background"/>
          <p:cNvSpPr/>
          <p:nvPr/>
        </p:nvSpPr>
        <p:spPr>
          <a:xfrm>
            <a:off x="868680" y="2095500"/>
            <a:ext cx="658368" cy="658368"/>
          </a:xfrm>
          <a:prstGeom prst="ellipse">
            <a:avLst/>
          </a:prstGeom>
          <a:solidFill>
            <a:srgbClr val="EDF4F3"/>
          </a:solidFill>
          <a:ln w="9525">
            <a:solidFill>
              <a:srgbClr val="CFE0DD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0" name="Mouse movement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2255520"/>
            <a:ext cx="338328" cy="338328"/>
          </a:xfrm>
          <a:prstGeom prst="rect">
            <a:avLst/>
          </a:prstGeom>
          <a:ln>
            <a:noFill/>
          </a:ln>
        </p:spPr>
      </p:pic>
      <p:sp>
        <p:nvSpPr>
          <p:cNvPr id="11" name="Mouse movement title"/>
          <p:cNvSpPr/>
          <p:nvPr/>
        </p:nvSpPr>
        <p:spPr>
          <a:xfrm>
            <a:off x="868680" y="2952750"/>
            <a:ext cx="2971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Mouse movement</a:t>
            </a:r>
            <a:endParaRPr lang="en-US" sz="2000" dirty="0"/>
          </a:p>
        </p:txBody>
      </p:sp>
      <p:sp>
        <p:nvSpPr>
          <p:cNvPr id="12" name="Mouse movement body"/>
          <p:cNvSpPr/>
          <p:nvPr/>
        </p:nvSpPr>
        <p:spPr>
          <a:xfrm>
            <a:off x="868680" y="3371850"/>
            <a:ext cx="297180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Speed, acceleration, and micro-pauses help detect rising stress during real work.</a:t>
            </a:r>
            <a:endParaRPr lang="en-US" sz="1500" dirty="0"/>
          </a:p>
        </p:txBody>
      </p:sp>
      <p:sp>
        <p:nvSpPr>
          <p:cNvPr id="13" name="Typing behavior card"/>
          <p:cNvSpPr/>
          <p:nvPr/>
        </p:nvSpPr>
        <p:spPr>
          <a:xfrm>
            <a:off x="4389120" y="1809750"/>
            <a:ext cx="3520440" cy="26193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E2E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Typing behavior icon background"/>
          <p:cNvSpPr/>
          <p:nvPr/>
        </p:nvSpPr>
        <p:spPr>
          <a:xfrm>
            <a:off x="4663440" y="2095500"/>
            <a:ext cx="658368" cy="658368"/>
          </a:xfrm>
          <a:prstGeom prst="ellipse">
            <a:avLst/>
          </a:prstGeom>
          <a:solidFill>
            <a:srgbClr val="EDF4F3"/>
          </a:solidFill>
          <a:ln w="9525">
            <a:solidFill>
              <a:srgbClr val="CFE0DD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5" name="Typing behavior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3460" y="2255520"/>
            <a:ext cx="338328" cy="338328"/>
          </a:xfrm>
          <a:prstGeom prst="rect">
            <a:avLst/>
          </a:prstGeom>
          <a:ln>
            <a:noFill/>
          </a:ln>
        </p:spPr>
      </p:pic>
      <p:sp>
        <p:nvSpPr>
          <p:cNvPr id="16" name="Typing behavior title"/>
          <p:cNvSpPr/>
          <p:nvPr/>
        </p:nvSpPr>
        <p:spPr>
          <a:xfrm>
            <a:off x="4663440" y="2952750"/>
            <a:ext cx="2971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Typing behavior</a:t>
            </a:r>
            <a:endParaRPr lang="en-US" sz="2000" dirty="0"/>
          </a:p>
        </p:txBody>
      </p:sp>
      <p:sp>
        <p:nvSpPr>
          <p:cNvPr id="17" name="Typing behavior body"/>
          <p:cNvSpPr/>
          <p:nvPr/>
        </p:nvSpPr>
        <p:spPr>
          <a:xfrm>
            <a:off x="4663440" y="3371850"/>
            <a:ext cx="297180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Typing rhythm, pace changes, and delete/backspace use reveal friction without storing content.</a:t>
            </a:r>
            <a:endParaRPr lang="en-US" sz="1500" dirty="0"/>
          </a:p>
        </p:txBody>
      </p:sp>
      <p:sp>
        <p:nvSpPr>
          <p:cNvPr id="18" name="App switching card"/>
          <p:cNvSpPr/>
          <p:nvPr/>
        </p:nvSpPr>
        <p:spPr>
          <a:xfrm>
            <a:off x="8183880" y="1809750"/>
            <a:ext cx="3520440" cy="26193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E2E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App switching icon background"/>
          <p:cNvSpPr/>
          <p:nvPr/>
        </p:nvSpPr>
        <p:spPr>
          <a:xfrm>
            <a:off x="8458200" y="2095500"/>
            <a:ext cx="658368" cy="658368"/>
          </a:xfrm>
          <a:prstGeom prst="ellipse">
            <a:avLst/>
          </a:prstGeom>
          <a:solidFill>
            <a:srgbClr val="EDF4F3"/>
          </a:solidFill>
          <a:ln w="9525">
            <a:solidFill>
              <a:srgbClr val="CFE0DD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20" name="App switching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8220" y="2255520"/>
            <a:ext cx="338328" cy="338328"/>
          </a:xfrm>
          <a:prstGeom prst="rect">
            <a:avLst/>
          </a:prstGeom>
          <a:ln>
            <a:noFill/>
          </a:ln>
        </p:spPr>
      </p:pic>
      <p:sp>
        <p:nvSpPr>
          <p:cNvPr id="21" name="App switching title"/>
          <p:cNvSpPr/>
          <p:nvPr/>
        </p:nvSpPr>
        <p:spPr>
          <a:xfrm>
            <a:off x="8458200" y="2952750"/>
            <a:ext cx="2971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switching</a:t>
            </a:r>
            <a:endParaRPr lang="en-US" sz="2000" dirty="0"/>
          </a:p>
        </p:txBody>
      </p:sp>
      <p:sp>
        <p:nvSpPr>
          <p:cNvPr id="22" name="App switching body"/>
          <p:cNvSpPr/>
          <p:nvPr/>
        </p:nvSpPr>
        <p:spPr>
          <a:xfrm>
            <a:off x="8458200" y="3371850"/>
            <a:ext cx="297180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Window switching and visible app count show context switching and attention fragmentation.</a:t>
            </a:r>
            <a:endParaRPr lang="en-US" sz="1500" dirty="0"/>
          </a:p>
        </p:txBody>
      </p:sp>
      <p:sp>
        <p:nvSpPr>
          <p:cNvPr id="23" name="Formula panel"/>
          <p:cNvSpPr/>
          <p:nvPr/>
        </p:nvSpPr>
        <p:spPr>
          <a:xfrm>
            <a:off x="594360" y="4743450"/>
            <a:ext cx="11000232" cy="1162050"/>
          </a:xfrm>
          <a:prstGeom prst="roundRect">
            <a:avLst/>
          </a:prstGeom>
          <a:solidFill>
            <a:srgbClr val="EDF7F6"/>
          </a:solidFill>
          <a:ln w="9525">
            <a:solidFill>
              <a:srgbClr val="C9DE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Formula title"/>
          <p:cNvSpPr/>
          <p:nvPr/>
        </p:nvSpPr>
        <p:spPr>
          <a:xfrm>
            <a:off x="868680" y="4895850"/>
            <a:ext cx="10451592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= weighted behavior signals compared with the user baseline</a:t>
            </a:r>
            <a:endParaRPr lang="en-US" sz="2100" dirty="0"/>
          </a:p>
        </p:txBody>
      </p:sp>
      <p:sp>
        <p:nvSpPr>
          <p:cNvPr id="25" name="Formula body"/>
          <p:cNvSpPr/>
          <p:nvPr/>
        </p:nvSpPr>
        <p:spPr>
          <a:xfrm>
            <a:off x="1162050" y="5305425"/>
            <a:ext cx="9858375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current load rises above the adaptive baseline, KungFlow activates the firewall. Only behavioral metadata is stored - never typed content, screenshots, documents, or websites.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dot"/>
          <p:cNvSpPr/>
          <p:nvPr/>
        </p:nvSpPr>
        <p:spPr>
          <a:xfrm>
            <a:off x="594360" y="429768"/>
            <a:ext cx="146304" cy="146304"/>
          </a:xfrm>
          <a:prstGeom prst="ellipse">
            <a:avLst/>
          </a:prstGeom>
          <a:solidFill>
            <a:srgbClr val="0E8F8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Eyebrow"/>
          <p:cNvSpPr/>
          <p:nvPr/>
        </p:nvSpPr>
        <p:spPr>
          <a:xfrm>
            <a:off x="813816" y="283464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300" dirty="0">
                <a:solidFill>
                  <a:srgbClr val="0B6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400" dirty="0"/>
          </a:p>
        </p:txBody>
      </p:sp>
      <p:sp>
        <p:nvSpPr>
          <p:cNvPr id="4" name="Title"/>
          <p:cNvSpPr/>
          <p:nvPr/>
        </p:nvSpPr>
        <p:spPr>
          <a:xfrm>
            <a:off x="594360" y="658368"/>
            <a:ext cx="990600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did we build it?</a:t>
            </a:r>
            <a:endParaRPr lang="en-US" sz="3000" dirty="0"/>
          </a:p>
        </p:txBody>
      </p:sp>
      <p:sp>
        <p:nvSpPr>
          <p:cNvPr id="5" name="Page number"/>
          <p:cNvSpPr/>
          <p:nvPr/>
        </p:nvSpPr>
        <p:spPr>
          <a:xfrm>
            <a:off x="11274552" y="635508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dirty="0">
                <a:solidFill>
                  <a:srgbClr val="7A8A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600" dirty="0"/>
          </a:p>
        </p:txBody>
      </p:sp>
      <p:sp>
        <p:nvSpPr>
          <p:cNvPr id="6" name="Logo card"/>
          <p:cNvSpPr/>
          <p:nvPr/>
        </p:nvSpPr>
        <p:spPr>
          <a:xfrm>
            <a:off x="11109960" y="237744"/>
            <a:ext cx="585216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4EBEA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7" name="KungFlow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83464"/>
            <a:ext cx="493776" cy="457200"/>
          </a:xfrm>
          <a:prstGeom prst="rect">
            <a:avLst/>
          </a:prstGeom>
          <a:ln>
            <a:noFill/>
          </a:ln>
        </p:spPr>
      </p:pic>
      <p:sp>
        <p:nvSpPr>
          <p:cNvPr id="8" name="Architecture subtitle"/>
          <p:cNvSpPr/>
          <p:nvPr/>
        </p:nvSpPr>
        <p:spPr>
          <a:xfrm>
            <a:off x="1524000" y="1323975"/>
            <a:ext cx="9144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lightweight client-server loop connects the Windows agent, the scoring backend, and SQL storage.</a:t>
            </a:r>
            <a:endParaRPr lang="en-US" sz="1700" dirty="0"/>
          </a:p>
        </p:txBody>
      </p:sp>
      <p:sp>
        <p:nvSpPr>
          <p:cNvPr id="9" name="Activity sample arrow"/>
          <p:cNvSpPr/>
          <p:nvPr/>
        </p:nvSpPr>
        <p:spPr>
          <a:xfrm>
            <a:off x="3552825" y="3314700"/>
            <a:ext cx="1019175" cy="295275"/>
          </a:xfrm>
          <a:prstGeom prst="rightArrow">
            <a:avLst/>
          </a:prstGeom>
          <a:solidFill>
            <a:srgbClr val="0E8F8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Activity sample label"/>
          <p:cNvSpPr/>
          <p:nvPr/>
        </p:nvSpPr>
        <p:spPr>
          <a:xfrm>
            <a:off x="3505200" y="3638550"/>
            <a:ext cx="11049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80" dirty="0">
                <a:solidFill>
                  <a:srgbClr val="0E8F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 SAMPLE</a:t>
            </a:r>
            <a:endParaRPr lang="en-US" sz="850" dirty="0"/>
          </a:p>
        </p:txBody>
      </p:sp>
      <p:sp>
        <p:nvSpPr>
          <p:cNvPr id="11" name="Protection decision arrow"/>
          <p:cNvSpPr/>
          <p:nvPr/>
        </p:nvSpPr>
        <p:spPr>
          <a:xfrm>
            <a:off x="3552825" y="2571750"/>
            <a:ext cx="1019175" cy="247650"/>
          </a:xfrm>
          <a:prstGeom prst="leftArrow">
            <a:avLst/>
          </a:prstGeom>
          <a:solidFill>
            <a:srgbClr val="3478E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Protection decision label"/>
          <p:cNvSpPr/>
          <p:nvPr/>
        </p:nvSpPr>
        <p:spPr>
          <a:xfrm>
            <a:off x="3448050" y="232410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60" dirty="0">
                <a:solidFill>
                  <a:srgbClr val="3478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 DECISION</a:t>
            </a:r>
            <a:endParaRPr lang="en-US" sz="820" dirty="0"/>
          </a:p>
        </p:txBody>
      </p:sp>
      <p:sp>
        <p:nvSpPr>
          <p:cNvPr id="13" name="Database sync arrow"/>
          <p:cNvSpPr/>
          <p:nvPr/>
        </p:nvSpPr>
        <p:spPr>
          <a:xfrm>
            <a:off x="7620000" y="3314700"/>
            <a:ext cx="1019175" cy="295275"/>
          </a:xfrm>
          <a:prstGeom prst="leftRightArrow">
            <a:avLst/>
          </a:prstGeom>
          <a:solidFill>
            <a:srgbClr val="7B61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Database sync label"/>
          <p:cNvSpPr/>
          <p:nvPr/>
        </p:nvSpPr>
        <p:spPr>
          <a:xfrm>
            <a:off x="7572375" y="3638550"/>
            <a:ext cx="11049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kern="0" spc="50" dirty="0">
                <a:solidFill>
                  <a:srgbClr val="7B61D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METRICS + BASELINE</a:t>
            </a:r>
            <a:endParaRPr lang="en-US" sz="820" dirty="0"/>
          </a:p>
        </p:txBody>
      </p:sp>
      <p:sp>
        <p:nvSpPr>
          <p:cNvPr id="15" name="Desktop Agent card"/>
          <p:cNvSpPr/>
          <p:nvPr/>
        </p:nvSpPr>
        <p:spPr>
          <a:xfrm>
            <a:off x="594360" y="2047875"/>
            <a:ext cx="2857500" cy="30003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E2E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Desktop Agent icon box"/>
          <p:cNvSpPr/>
          <p:nvPr/>
        </p:nvSpPr>
        <p:spPr>
          <a:xfrm>
            <a:off x="861060" y="2343150"/>
            <a:ext cx="685800" cy="685800"/>
          </a:xfrm>
          <a:prstGeom prst="roundRect">
            <a:avLst/>
          </a:prstGeom>
          <a:solidFill>
            <a:srgbClr val="EDF4F3"/>
          </a:solidFill>
          <a:ln w="9525">
            <a:solidFill>
              <a:srgbClr val="CFE0DD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7" name="Desktop Agent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985" y="2505075"/>
            <a:ext cx="361950" cy="361950"/>
          </a:xfrm>
          <a:prstGeom prst="rect">
            <a:avLst/>
          </a:prstGeom>
          <a:ln>
            <a:noFill/>
          </a:ln>
        </p:spPr>
      </p:pic>
      <p:sp>
        <p:nvSpPr>
          <p:cNvPr id="18" name="Desktop Agent title"/>
          <p:cNvSpPr/>
          <p:nvPr/>
        </p:nvSpPr>
        <p:spPr>
          <a:xfrm>
            <a:off x="1623060" y="2409825"/>
            <a:ext cx="158115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Desktop Agent</a:t>
            </a:r>
            <a:endParaRPr lang="en-US" sz="1850" dirty="0"/>
          </a:p>
        </p:txBody>
      </p:sp>
      <p:sp>
        <p:nvSpPr>
          <p:cNvPr id="19" name="Desktop Agent accent"/>
          <p:cNvSpPr/>
          <p:nvPr/>
        </p:nvSpPr>
        <p:spPr>
          <a:xfrm>
            <a:off x="594360" y="2047875"/>
            <a:ext cx="2857500" cy="66675"/>
          </a:xfrm>
          <a:prstGeom prst="rect">
            <a:avLst/>
          </a:prstGeom>
          <a:solidFill>
            <a:srgbClr val="0E8F8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Desktop Agent body"/>
          <p:cNvSpPr/>
          <p:nvPr/>
        </p:nvSpPr>
        <p:spPr>
          <a:xfrm>
            <a:off x="861060" y="3267075"/>
            <a:ext cx="2324100" cy="1000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Collects behavioral rhythm on Windows: mouse movement, typing pace, active windows, and app switching.</a:t>
            </a:r>
            <a:endParaRPr lang="en-US" sz="1250" dirty="0"/>
          </a:p>
        </p:txBody>
      </p:sp>
      <p:sp>
        <p:nvSpPr>
          <p:cNvPr id="21" name="Desktop Agent chip C#"/>
          <p:cNvSpPr/>
          <p:nvPr/>
        </p:nvSpPr>
        <p:spPr>
          <a:xfrm>
            <a:off x="851535" y="4448175"/>
            <a:ext cx="704850" cy="285750"/>
          </a:xfrm>
          <a:prstGeom prst="roundRect">
            <a:avLst/>
          </a:prstGeom>
          <a:solidFill>
            <a:srgbClr val="F3F7F6"/>
          </a:solidFill>
          <a:ln w="9525">
            <a:solidFill>
              <a:srgbClr val="DCE7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Desktop Agent chip label C#"/>
          <p:cNvSpPr/>
          <p:nvPr/>
        </p:nvSpPr>
        <p:spPr>
          <a:xfrm>
            <a:off x="851535" y="4486275"/>
            <a:ext cx="70485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0E8F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C#</a:t>
            </a:r>
            <a:endParaRPr lang="en-US" sz="1000" dirty="0"/>
          </a:p>
        </p:txBody>
      </p:sp>
      <p:sp>
        <p:nvSpPr>
          <p:cNvPr id="23" name="Desktop Agent chip .NET"/>
          <p:cNvSpPr/>
          <p:nvPr/>
        </p:nvSpPr>
        <p:spPr>
          <a:xfrm>
            <a:off x="1613535" y="4448175"/>
            <a:ext cx="704850" cy="285750"/>
          </a:xfrm>
          <a:prstGeom prst="roundRect">
            <a:avLst/>
          </a:prstGeom>
          <a:solidFill>
            <a:srgbClr val="F3F7F6"/>
          </a:solidFill>
          <a:ln w="9525">
            <a:solidFill>
              <a:srgbClr val="DCE7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Desktop Agent chip label .NET"/>
          <p:cNvSpPr/>
          <p:nvPr/>
        </p:nvSpPr>
        <p:spPr>
          <a:xfrm>
            <a:off x="1613535" y="4486275"/>
            <a:ext cx="70485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0E8F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000" dirty="0"/>
          </a:p>
        </p:txBody>
      </p:sp>
      <p:sp>
        <p:nvSpPr>
          <p:cNvPr id="25" name="Desktop Agent chip Windows"/>
          <p:cNvSpPr/>
          <p:nvPr/>
        </p:nvSpPr>
        <p:spPr>
          <a:xfrm>
            <a:off x="2375535" y="4448175"/>
            <a:ext cx="704850" cy="285750"/>
          </a:xfrm>
          <a:prstGeom prst="roundRect">
            <a:avLst/>
          </a:prstGeom>
          <a:solidFill>
            <a:srgbClr val="F3F7F6"/>
          </a:solidFill>
          <a:ln w="9525">
            <a:solidFill>
              <a:srgbClr val="DCE7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Desktop Agent chip label Windows"/>
          <p:cNvSpPr/>
          <p:nvPr/>
        </p:nvSpPr>
        <p:spPr>
          <a:xfrm>
            <a:off x="2375535" y="4486275"/>
            <a:ext cx="70485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0E8F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Windows</a:t>
            </a:r>
            <a:endParaRPr lang="en-US" sz="1000" dirty="0"/>
          </a:p>
        </p:txBody>
      </p:sp>
      <p:sp>
        <p:nvSpPr>
          <p:cNvPr id="27" name="KungFlow Server card"/>
          <p:cNvSpPr/>
          <p:nvPr/>
        </p:nvSpPr>
        <p:spPr>
          <a:xfrm>
            <a:off x="4667250" y="2047875"/>
            <a:ext cx="2857500" cy="30003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E2E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KungFlow Server icon box"/>
          <p:cNvSpPr/>
          <p:nvPr/>
        </p:nvSpPr>
        <p:spPr>
          <a:xfrm>
            <a:off x="4933950" y="2343150"/>
            <a:ext cx="685800" cy="685800"/>
          </a:xfrm>
          <a:prstGeom prst="roundRect">
            <a:avLst/>
          </a:prstGeom>
          <a:solidFill>
            <a:srgbClr val="EDF4F3"/>
          </a:solidFill>
          <a:ln w="9525">
            <a:solidFill>
              <a:srgbClr val="CFE0DD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29" name="KungFlow Server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5875" y="2505075"/>
            <a:ext cx="361950" cy="361950"/>
          </a:xfrm>
          <a:prstGeom prst="rect">
            <a:avLst/>
          </a:prstGeom>
          <a:ln>
            <a:noFill/>
          </a:ln>
        </p:spPr>
      </p:pic>
      <p:sp>
        <p:nvSpPr>
          <p:cNvPr id="30" name="KungFlow Server title"/>
          <p:cNvSpPr/>
          <p:nvPr/>
        </p:nvSpPr>
        <p:spPr>
          <a:xfrm>
            <a:off x="5695950" y="2409825"/>
            <a:ext cx="158115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KungFlow Server</a:t>
            </a:r>
            <a:endParaRPr lang="en-US" sz="1850" dirty="0"/>
          </a:p>
        </p:txBody>
      </p:sp>
      <p:sp>
        <p:nvSpPr>
          <p:cNvPr id="31" name="KungFlow Server accent"/>
          <p:cNvSpPr/>
          <p:nvPr/>
        </p:nvSpPr>
        <p:spPr>
          <a:xfrm>
            <a:off x="4667250" y="2047875"/>
            <a:ext cx="2857500" cy="66675"/>
          </a:xfrm>
          <a:prstGeom prst="rect">
            <a:avLst/>
          </a:prstGeom>
          <a:solidFill>
            <a:srgbClr val="3478E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" name="KungFlow Server body"/>
          <p:cNvSpPr/>
          <p:nvPr/>
        </p:nvSpPr>
        <p:spPr>
          <a:xfrm>
            <a:off x="4933950" y="3267075"/>
            <a:ext cx="2324100" cy="1000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Receives activity samples, authenticates users, scores current load against the personal baseline, and returns a protection decision.</a:t>
            </a:r>
            <a:endParaRPr lang="en-US" sz="1250" dirty="0"/>
          </a:p>
        </p:txBody>
      </p:sp>
      <p:sp>
        <p:nvSpPr>
          <p:cNvPr id="33" name="KungFlow Server chip Node.js"/>
          <p:cNvSpPr/>
          <p:nvPr/>
        </p:nvSpPr>
        <p:spPr>
          <a:xfrm>
            <a:off x="4924425" y="4448175"/>
            <a:ext cx="704850" cy="285750"/>
          </a:xfrm>
          <a:prstGeom prst="roundRect">
            <a:avLst/>
          </a:prstGeom>
          <a:solidFill>
            <a:srgbClr val="F3F7F6"/>
          </a:solidFill>
          <a:ln w="9525">
            <a:solidFill>
              <a:srgbClr val="DCE7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" name="KungFlow Server chip label Node.js"/>
          <p:cNvSpPr/>
          <p:nvPr/>
        </p:nvSpPr>
        <p:spPr>
          <a:xfrm>
            <a:off x="4924425" y="4486275"/>
            <a:ext cx="70485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3478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Node.js</a:t>
            </a:r>
            <a:endParaRPr lang="en-US" sz="1000" dirty="0"/>
          </a:p>
        </p:txBody>
      </p:sp>
      <p:sp>
        <p:nvSpPr>
          <p:cNvPr id="35" name="KungFlow Server chip Express"/>
          <p:cNvSpPr/>
          <p:nvPr/>
        </p:nvSpPr>
        <p:spPr>
          <a:xfrm>
            <a:off x="5686425" y="4448175"/>
            <a:ext cx="704850" cy="285750"/>
          </a:xfrm>
          <a:prstGeom prst="roundRect">
            <a:avLst/>
          </a:prstGeom>
          <a:solidFill>
            <a:srgbClr val="F3F7F6"/>
          </a:solidFill>
          <a:ln w="9525">
            <a:solidFill>
              <a:srgbClr val="DCE7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6" name="KungFlow Server chip label Express"/>
          <p:cNvSpPr/>
          <p:nvPr/>
        </p:nvSpPr>
        <p:spPr>
          <a:xfrm>
            <a:off x="5686425" y="4486275"/>
            <a:ext cx="70485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3478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000" dirty="0"/>
          </a:p>
        </p:txBody>
      </p:sp>
      <p:sp>
        <p:nvSpPr>
          <p:cNvPr id="37" name="KungFlow Server chip API"/>
          <p:cNvSpPr/>
          <p:nvPr/>
        </p:nvSpPr>
        <p:spPr>
          <a:xfrm>
            <a:off x="6448425" y="4448175"/>
            <a:ext cx="704850" cy="285750"/>
          </a:xfrm>
          <a:prstGeom prst="roundRect">
            <a:avLst/>
          </a:prstGeom>
          <a:solidFill>
            <a:srgbClr val="F3F7F6"/>
          </a:solidFill>
          <a:ln w="9525">
            <a:solidFill>
              <a:srgbClr val="DCE7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KungFlow Server chip label API"/>
          <p:cNvSpPr/>
          <p:nvPr/>
        </p:nvSpPr>
        <p:spPr>
          <a:xfrm>
            <a:off x="6448425" y="4486275"/>
            <a:ext cx="70485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3478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</a:t>
            </a:r>
            <a:endParaRPr lang="en-US" sz="1000" dirty="0"/>
          </a:p>
        </p:txBody>
      </p:sp>
      <p:sp>
        <p:nvSpPr>
          <p:cNvPr id="39" name="SQL Database card"/>
          <p:cNvSpPr/>
          <p:nvPr/>
        </p:nvSpPr>
        <p:spPr>
          <a:xfrm>
            <a:off x="8740140" y="2047875"/>
            <a:ext cx="2857500" cy="30003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7E2E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" name="SQL Database icon box"/>
          <p:cNvSpPr/>
          <p:nvPr/>
        </p:nvSpPr>
        <p:spPr>
          <a:xfrm>
            <a:off x="9006840" y="2343150"/>
            <a:ext cx="685800" cy="685800"/>
          </a:xfrm>
          <a:prstGeom prst="roundRect">
            <a:avLst/>
          </a:prstGeom>
          <a:solidFill>
            <a:srgbClr val="EDF4F3"/>
          </a:solidFill>
          <a:ln w="9525">
            <a:solidFill>
              <a:srgbClr val="CFE0DD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41" name="SQL Database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8765" y="2505075"/>
            <a:ext cx="361950" cy="361950"/>
          </a:xfrm>
          <a:prstGeom prst="rect">
            <a:avLst/>
          </a:prstGeom>
          <a:ln>
            <a:noFill/>
          </a:ln>
        </p:spPr>
      </p:pic>
      <p:sp>
        <p:nvSpPr>
          <p:cNvPr id="42" name="SQL Database title"/>
          <p:cNvSpPr/>
          <p:nvPr/>
        </p:nvSpPr>
        <p:spPr>
          <a:xfrm>
            <a:off x="9768840" y="2409825"/>
            <a:ext cx="158115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Database</a:t>
            </a:r>
            <a:endParaRPr lang="en-US" sz="1850" dirty="0"/>
          </a:p>
        </p:txBody>
      </p:sp>
      <p:sp>
        <p:nvSpPr>
          <p:cNvPr id="43" name="SQL Database accent"/>
          <p:cNvSpPr/>
          <p:nvPr/>
        </p:nvSpPr>
        <p:spPr>
          <a:xfrm>
            <a:off x="8740140" y="2047875"/>
            <a:ext cx="2857500" cy="66675"/>
          </a:xfrm>
          <a:prstGeom prst="rect">
            <a:avLst/>
          </a:prstGeom>
          <a:solidFill>
            <a:srgbClr val="7B61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4" name="SQL Database body"/>
          <p:cNvSpPr/>
          <p:nvPr/>
        </p:nvSpPr>
        <p:spPr>
          <a:xfrm>
            <a:off x="9006840" y="3267075"/>
            <a:ext cx="2324100" cy="1000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kern="0" dirty="0">
                <a:solidFill>
                  <a:srgbClr val="5867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Stores users, sessions, behavioral samples, baseline state, and firewall activation events.</a:t>
            </a:r>
            <a:endParaRPr lang="en-US" sz="1250" dirty="0"/>
          </a:p>
        </p:txBody>
      </p:sp>
      <p:sp>
        <p:nvSpPr>
          <p:cNvPr id="45" name="SQL Database chip Users"/>
          <p:cNvSpPr/>
          <p:nvPr/>
        </p:nvSpPr>
        <p:spPr>
          <a:xfrm>
            <a:off x="8997315" y="4448175"/>
            <a:ext cx="704850" cy="285750"/>
          </a:xfrm>
          <a:prstGeom prst="roundRect">
            <a:avLst/>
          </a:prstGeom>
          <a:solidFill>
            <a:srgbClr val="F3F7F6"/>
          </a:solidFill>
          <a:ln w="9525">
            <a:solidFill>
              <a:srgbClr val="DCE7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6" name="SQL Database chip label Users"/>
          <p:cNvSpPr/>
          <p:nvPr/>
        </p:nvSpPr>
        <p:spPr>
          <a:xfrm>
            <a:off x="8997315" y="4486275"/>
            <a:ext cx="70485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7B61D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Users</a:t>
            </a:r>
            <a:endParaRPr lang="en-US" sz="1000" dirty="0"/>
          </a:p>
        </p:txBody>
      </p:sp>
      <p:sp>
        <p:nvSpPr>
          <p:cNvPr id="47" name="SQL Database chip Metrics"/>
          <p:cNvSpPr/>
          <p:nvPr/>
        </p:nvSpPr>
        <p:spPr>
          <a:xfrm>
            <a:off x="9759315" y="4448175"/>
            <a:ext cx="704850" cy="285750"/>
          </a:xfrm>
          <a:prstGeom prst="roundRect">
            <a:avLst/>
          </a:prstGeom>
          <a:solidFill>
            <a:srgbClr val="F3F7F6"/>
          </a:solidFill>
          <a:ln w="9525">
            <a:solidFill>
              <a:srgbClr val="DCE7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8" name="SQL Database chip label Metrics"/>
          <p:cNvSpPr/>
          <p:nvPr/>
        </p:nvSpPr>
        <p:spPr>
          <a:xfrm>
            <a:off x="9759315" y="4486275"/>
            <a:ext cx="70485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7B61D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Metrics</a:t>
            </a:r>
            <a:endParaRPr lang="en-US" sz="1000" dirty="0"/>
          </a:p>
        </p:txBody>
      </p:sp>
      <p:sp>
        <p:nvSpPr>
          <p:cNvPr id="49" name="SQL Database chip Baseline"/>
          <p:cNvSpPr/>
          <p:nvPr/>
        </p:nvSpPr>
        <p:spPr>
          <a:xfrm>
            <a:off x="10521315" y="4448175"/>
            <a:ext cx="704850" cy="285750"/>
          </a:xfrm>
          <a:prstGeom prst="roundRect">
            <a:avLst/>
          </a:prstGeom>
          <a:solidFill>
            <a:srgbClr val="F3F7F6"/>
          </a:solidFill>
          <a:ln w="9525">
            <a:solidFill>
              <a:srgbClr val="DCE7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" name="SQL Database chip label Baseline"/>
          <p:cNvSpPr/>
          <p:nvPr/>
        </p:nvSpPr>
        <p:spPr>
          <a:xfrm>
            <a:off x="10521315" y="4486275"/>
            <a:ext cx="70485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7B61D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</a:t>
            </a:r>
            <a:endParaRPr lang="en-US" sz="1000" dirty="0"/>
          </a:p>
        </p:txBody>
      </p:sp>
      <p:sp>
        <p:nvSpPr>
          <p:cNvPr id="51" name="Architecture summary panel"/>
          <p:cNvSpPr/>
          <p:nvPr/>
        </p:nvSpPr>
        <p:spPr>
          <a:xfrm>
            <a:off x="594360" y="5429250"/>
            <a:ext cx="11000232" cy="590550"/>
          </a:xfrm>
          <a:prstGeom prst="roundRect">
            <a:avLst/>
          </a:prstGeom>
          <a:solidFill>
            <a:srgbClr val="EDF7F6"/>
          </a:solidFill>
          <a:ln w="9525">
            <a:solidFill>
              <a:srgbClr val="C9DED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2" name="Architecture summary text"/>
          <p:cNvSpPr/>
          <p:nvPr/>
        </p:nvSpPr>
        <p:spPr>
          <a:xfrm>
            <a:off x="952500" y="5524500"/>
            <a:ext cx="102870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dirty="0">
                <a:solidFill>
                  <a:srgbClr val="1220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agent never sends content. It sends metadata samples, the server computes state, and the firewall decision returns to the desktop in real time.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1605</Words>
  <Application>Microsoft Office PowerPoint</Application>
  <PresentationFormat>מסך רחב</PresentationFormat>
  <Paragraphs>264</Paragraphs>
  <Slides>18</Slides>
  <Notes>16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18</vt:i4>
      </vt:variant>
    </vt:vector>
  </HeadingPairs>
  <TitlesOfParts>
    <vt:vector size="20" baseType="lpstr">
      <vt:lpstr>Arial</vt:lpstr>
      <vt:lpstr>Calibri</vt:lpstr>
      <vt:lpstr>Trebuchet MS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KungFlow — Investor Pitch</dc:title>
  <dc:subject>PptxGenJS Presentation</dc:subject>
  <dc:creator>KungFlow</dc:creator>
  <cp:lastModifiedBy>Eden Haham pour</cp:lastModifiedBy>
  <cp:revision>2</cp:revision>
  <dcterms:created xsi:type="dcterms:W3CDTF">2026-06-11T17:16:04Z</dcterms:created>
  <dcterms:modified xsi:type="dcterms:W3CDTF">2026-07-08T07:09:11Z</dcterms:modified>
</cp:coreProperties>
</file>
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0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9370" autoAdjust="0"/>
  </p:normalViewPr>
  <p:slideViewPr>
    <p:cSldViewPr snapToGrid="0" snapToObjects="1">
      <p:cViewPr varScale="1">
        <p:scale>
          <a:sx n="57" d="100"/>
          <a:sy n="57" d="100"/>
        </p:scale>
        <p:origin x="165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לי-אור נסינג" userId="771db226e06d9d67" providerId="LiveId" clId="{F50704A1-7CC8-4C2E-BA6C-A9C5B07F5D79}"/>
    <pc:docChg chg="undo custSel modSld">
      <pc:chgData name="לי-אור נסינג" userId="771db226e06d9d67" providerId="LiveId" clId="{F50704A1-7CC8-4C2E-BA6C-A9C5B07F5D79}" dt="2026-06-17T09:31:58.339" v="115" actId="782"/>
      <pc:docMkLst>
        <pc:docMk/>
      </pc:docMkLst>
      <pc:sldChg chg="modNotesTx">
        <pc:chgData name="לי-אור נסינג" userId="771db226e06d9d67" providerId="LiveId" clId="{F50704A1-7CC8-4C2E-BA6C-A9C5B07F5D79}" dt="2026-06-17T09:21:36.939" v="40" actId="121"/>
        <pc:sldMkLst>
          <pc:docMk/>
          <pc:sldMk cId="0" sldId="256"/>
        </pc:sldMkLst>
      </pc:sldChg>
      <pc:sldChg chg="modSp mod modNotesTx">
        <pc:chgData name="לי-אור נסינג" userId="771db226e06d9d67" providerId="LiveId" clId="{F50704A1-7CC8-4C2E-BA6C-A9C5B07F5D79}" dt="2026-06-17T09:22:19.841" v="43" actId="782"/>
        <pc:sldMkLst>
          <pc:docMk/>
          <pc:sldMk cId="0" sldId="257"/>
        </pc:sldMkLst>
        <pc:spChg chg="mod">
          <ac:chgData name="לי-אור נסינג" userId="771db226e06d9d67" providerId="LiveId" clId="{F50704A1-7CC8-4C2E-BA6C-A9C5B07F5D79}" dt="2026-06-11T17:35:29.632" v="37" actId="20577"/>
          <ac:spMkLst>
            <pc:docMk/>
            <pc:sldMk cId="0" sldId="257"/>
            <ac:spMk id="13" creationId="{00000000-0000-0000-0000-000000000000}"/>
          </ac:spMkLst>
        </pc:spChg>
      </pc:sldChg>
      <pc:sldChg chg="modNotesTx">
        <pc:chgData name="לי-אור נסינג" userId="771db226e06d9d67" providerId="LiveId" clId="{F50704A1-7CC8-4C2E-BA6C-A9C5B07F5D79}" dt="2026-06-17T09:22:16.113" v="42" actId="782"/>
        <pc:sldMkLst>
          <pc:docMk/>
          <pc:sldMk cId="0" sldId="258"/>
        </pc:sldMkLst>
      </pc:sldChg>
      <pc:sldChg chg="modNotesTx">
        <pc:chgData name="לי-אור נסינג" userId="771db226e06d9d67" providerId="LiveId" clId="{F50704A1-7CC8-4C2E-BA6C-A9C5B07F5D79}" dt="2026-06-17T09:22:11.253" v="41" actId="782"/>
        <pc:sldMkLst>
          <pc:docMk/>
          <pc:sldMk cId="0" sldId="259"/>
        </pc:sldMkLst>
      </pc:sldChg>
      <pc:sldChg chg="modNotesTx">
        <pc:chgData name="לי-אור נסינג" userId="771db226e06d9d67" providerId="LiveId" clId="{F50704A1-7CC8-4C2E-BA6C-A9C5B07F5D79}" dt="2026-06-17T09:24:06.729" v="44" actId="782"/>
        <pc:sldMkLst>
          <pc:docMk/>
          <pc:sldMk cId="0" sldId="260"/>
        </pc:sldMkLst>
      </pc:sldChg>
      <pc:sldChg chg="modNotesTx">
        <pc:chgData name="לי-אור נסינג" userId="771db226e06d9d67" providerId="LiveId" clId="{F50704A1-7CC8-4C2E-BA6C-A9C5B07F5D79}" dt="2026-06-17T09:24:22.710" v="45" actId="782"/>
        <pc:sldMkLst>
          <pc:docMk/>
          <pc:sldMk cId="0" sldId="261"/>
        </pc:sldMkLst>
      </pc:sldChg>
      <pc:sldChg chg="modNotesTx">
        <pc:chgData name="לי-אור נסינג" userId="771db226e06d9d67" providerId="LiveId" clId="{F50704A1-7CC8-4C2E-BA6C-A9C5B07F5D79}" dt="2026-06-17T09:24:34.690" v="46" actId="782"/>
        <pc:sldMkLst>
          <pc:docMk/>
          <pc:sldMk cId="0" sldId="262"/>
        </pc:sldMkLst>
      </pc:sldChg>
      <pc:sldChg chg="modNotesTx">
        <pc:chgData name="לי-אור נסינג" userId="771db226e06d9d67" providerId="LiveId" clId="{F50704A1-7CC8-4C2E-BA6C-A9C5B07F5D79}" dt="2026-06-17T09:24:38.966" v="47" actId="782"/>
        <pc:sldMkLst>
          <pc:docMk/>
          <pc:sldMk cId="0" sldId="263"/>
        </pc:sldMkLst>
      </pc:sldChg>
      <pc:sldChg chg="modNotesTx">
        <pc:chgData name="לי-אור נסינג" userId="771db226e06d9d67" providerId="LiveId" clId="{F50704A1-7CC8-4C2E-BA6C-A9C5B07F5D79}" dt="2026-06-17T09:25:22.367" v="48" actId="782"/>
        <pc:sldMkLst>
          <pc:docMk/>
          <pc:sldMk cId="0" sldId="264"/>
        </pc:sldMkLst>
      </pc:sldChg>
      <pc:sldChg chg="modNotesTx">
        <pc:chgData name="לי-אור נסינג" userId="771db226e06d9d67" providerId="LiveId" clId="{F50704A1-7CC8-4C2E-BA6C-A9C5B07F5D79}" dt="2026-06-17T09:25:26.006" v="49" actId="782"/>
        <pc:sldMkLst>
          <pc:docMk/>
          <pc:sldMk cId="0" sldId="265"/>
        </pc:sldMkLst>
      </pc:sldChg>
      <pc:sldChg chg="modNotesTx">
        <pc:chgData name="לי-אור נסינג" userId="771db226e06d9d67" providerId="LiveId" clId="{F50704A1-7CC8-4C2E-BA6C-A9C5B07F5D79}" dt="2026-06-17T09:27:52.907" v="50" actId="782"/>
        <pc:sldMkLst>
          <pc:docMk/>
          <pc:sldMk cId="0" sldId="266"/>
        </pc:sldMkLst>
      </pc:sldChg>
      <pc:sldChg chg="modNotesTx">
        <pc:chgData name="לי-אור נסינג" userId="771db226e06d9d67" providerId="LiveId" clId="{F50704A1-7CC8-4C2E-BA6C-A9C5B07F5D79}" dt="2026-06-17T09:28:43.170" v="52" actId="782"/>
        <pc:sldMkLst>
          <pc:docMk/>
          <pc:sldMk cId="0" sldId="267"/>
        </pc:sldMkLst>
      </pc:sldChg>
      <pc:sldChg chg="modSp mod modNotesTx">
        <pc:chgData name="לי-אור נסינג" userId="771db226e06d9d67" providerId="LiveId" clId="{F50704A1-7CC8-4C2E-BA6C-A9C5B07F5D79}" dt="2026-06-17T09:30:36.293" v="112" actId="20577"/>
        <pc:sldMkLst>
          <pc:docMk/>
          <pc:sldMk cId="0" sldId="268"/>
        </pc:sldMkLst>
        <pc:spChg chg="mod">
          <ac:chgData name="לי-אור נסינג" userId="771db226e06d9d67" providerId="LiveId" clId="{F50704A1-7CC8-4C2E-BA6C-A9C5B07F5D79}" dt="2026-06-17T09:30:30.801" v="110" actId="1076"/>
          <ac:spMkLst>
            <pc:docMk/>
            <pc:sldMk cId="0" sldId="268"/>
            <ac:spMk id="8" creationId="{00000000-0000-0000-0000-000000000000}"/>
          </ac:spMkLst>
        </pc:spChg>
        <pc:spChg chg="mod">
          <ac:chgData name="לי-אור נסינג" userId="771db226e06d9d67" providerId="LiveId" clId="{F50704A1-7CC8-4C2E-BA6C-A9C5B07F5D79}" dt="2026-06-17T09:30:36.293" v="112" actId="20577"/>
          <ac:spMkLst>
            <pc:docMk/>
            <pc:sldMk cId="0" sldId="268"/>
            <ac:spMk id="10" creationId="{00000000-0000-0000-0000-000000000000}"/>
          </ac:spMkLst>
        </pc:spChg>
      </pc:sldChg>
      <pc:sldChg chg="modNotesTx">
        <pc:chgData name="לי-אור נסינג" userId="771db226e06d9d67" providerId="LiveId" clId="{F50704A1-7CC8-4C2E-BA6C-A9C5B07F5D79}" dt="2026-06-11T17:35:01.818" v="36" actId="782"/>
        <pc:sldMkLst>
          <pc:docMk/>
          <pc:sldMk cId="0" sldId="269"/>
        </pc:sldMkLst>
      </pc:sldChg>
      <pc:sldChg chg="modNotesTx">
        <pc:chgData name="לי-אור נסינג" userId="771db226e06d9d67" providerId="LiveId" clId="{F50704A1-7CC8-4C2E-BA6C-A9C5B07F5D79}" dt="2026-06-17T09:31:58.339" v="115" actId="782"/>
        <pc:sldMkLst>
          <pc:docMk/>
          <pc:sldMk cId="0" sldId="270"/>
        </pc:sldMkLst>
      </pc:sldChg>
      <pc:sldChg chg="modNotesTx">
        <pc:chgData name="לי-אור נסינג" userId="771db226e06d9d67" providerId="LiveId" clId="{F50704A1-7CC8-4C2E-BA6C-A9C5B07F5D79}" dt="2026-06-17T09:31:08.077" v="114" actId="782"/>
        <pc:sldMkLst>
          <pc:docMk/>
          <pc:sldMk cId="0" sldId="271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score</c:v>
                </c:pt>
              </c:strCache>
            </c:strRef>
          </c:tx>
          <c:spPr>
            <a:solidFill>
              <a:srgbClr val="D2403B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240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53E-4621-8194-0E68DE270B1E}"/>
              </c:ext>
            </c:extLst>
          </c:dPt>
          <c:dPt>
            <c:idx val="1"/>
            <c:invertIfNegative val="0"/>
            <c:bubble3D val="0"/>
            <c:spPr>
              <a:solidFill>
                <a:srgbClr val="1FA0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53E-4621-8194-0E68DE270B1E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 i="0" u="none" strike="noStrike">
                    <a:solidFill>
                      <a:srgbClr val="10243E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With interruptions</c:v>
                </c:pt>
                <c:pt idx="1">
                  <c:v>Without interruptions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4.5999999999999996</c:v>
                </c:pt>
                <c:pt idx="1">
                  <c:v>12.2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53E-4621-8194-0E68DE270B1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5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6350" cap="flat">
              <a:solidFill>
                <a:srgbClr val="E5E2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0713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051560"/>
            <a:ext cx="3383280" cy="47548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8275320" y="1417320"/>
            <a:ext cx="566928" cy="566928"/>
          </a:xfrm>
          <a:prstGeom prst="ellipse">
            <a:avLst/>
          </a:prstGeom>
          <a:solidFill>
            <a:srgbClr val="1FA055"/>
          </a:solidFill>
          <a:ln w="38100">
            <a:solidFill>
              <a:srgbClr val="FFFFFF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9006840" y="13624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006840" y="1691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load — everything gets through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75320" y="2898648"/>
            <a:ext cx="566928" cy="566928"/>
          </a:xfrm>
          <a:prstGeom prst="ellipse">
            <a:avLst/>
          </a:prstGeom>
          <a:solidFill>
            <a:srgbClr val="D98E04"/>
          </a:solidFill>
          <a:ln w="38100">
            <a:solidFill>
              <a:srgbClr val="FFFFFF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9006840" y="28437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006840" y="31729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rising — KungFlow is watching your back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75320" y="4379976"/>
            <a:ext cx="566928" cy="566928"/>
          </a:xfrm>
          <a:prstGeom prst="ellipse">
            <a:avLst/>
          </a:prstGeom>
          <a:solidFill>
            <a:srgbClr val="D2403B"/>
          </a:solidFill>
          <a:ln w="38100">
            <a:solidFill>
              <a:srgbClr val="FFFFFF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9006840" y="43251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006840" y="4654296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 — interruptions quietly blocked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21208" y="841248"/>
            <a:ext cx="1106424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3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14400"/>
            <a:ext cx="960120" cy="914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" y="187452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KungFlow</a:t>
            </a:r>
            <a:endParaRPr lang="en-US" sz="6600" dirty="0"/>
          </a:p>
        </p:txBody>
      </p:sp>
      <p:sp>
        <p:nvSpPr>
          <p:cNvPr id="15" name="Text 12"/>
          <p:cNvSpPr/>
          <p:nvPr/>
        </p:nvSpPr>
        <p:spPr>
          <a:xfrm>
            <a:off x="594360" y="2971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Focus that protects your people.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594360" y="36118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KungFlow senses cognitive overload in real time and quietly blocks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interruptions — automatically. Healthier minds, deeper work.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94360" y="4983480"/>
            <a:ext cx="6400800" cy="0"/>
          </a:xfrm>
          <a:prstGeom prst="line">
            <a:avLst/>
          </a:prstGeom>
          <a:noFill/>
          <a:ln w="12700">
            <a:solidFill>
              <a:srgbClr val="D8D4C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5"/>
          <p:cNvSpPr/>
          <p:nvPr/>
        </p:nvSpPr>
        <p:spPr>
          <a:xfrm>
            <a:off x="594360" y="5120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Seed Round  ·  2026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94360" y="54864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Leeor Nessing  ·  Ido Mark  ·  Rotem Saraf  ·  Eden Elkayam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TEAM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by people who lived the problem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828800"/>
            <a:ext cx="2578608" cy="27432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Shape 6"/>
          <p:cNvSpPr/>
          <p:nvPr/>
        </p:nvSpPr>
        <p:spPr>
          <a:xfrm>
            <a:off x="1472184" y="2148840"/>
            <a:ext cx="822960" cy="822960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1472184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85800" y="312724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Leeor Nessing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85800" y="3493008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Psychology &amp; UX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5800" y="3822192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strategy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3465576" y="1828800"/>
            <a:ext cx="2578608" cy="27432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Shape 12"/>
          <p:cNvSpPr/>
          <p:nvPr/>
        </p:nvSpPr>
        <p:spPr>
          <a:xfrm>
            <a:off x="4343400" y="2148840"/>
            <a:ext cx="822960" cy="822960"/>
          </a:xfrm>
          <a:prstGeom prst="ellipse">
            <a:avLst/>
          </a:prstGeom>
          <a:solidFill>
            <a:srgbClr val="10243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Text 13"/>
          <p:cNvSpPr/>
          <p:nvPr/>
        </p:nvSpPr>
        <p:spPr>
          <a:xfrm>
            <a:off x="4343400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3557016" y="312724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Ido Mark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3557016" y="3493008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557016" y="3822192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336792" y="1828800"/>
            <a:ext cx="2578608" cy="27432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1" name="Shape 18"/>
          <p:cNvSpPr/>
          <p:nvPr/>
        </p:nvSpPr>
        <p:spPr>
          <a:xfrm>
            <a:off x="7214616" y="2148840"/>
            <a:ext cx="822960" cy="822960"/>
          </a:xfrm>
          <a:prstGeom prst="ellipse">
            <a:avLst/>
          </a:prstGeom>
          <a:solidFill>
            <a:srgbClr val="10243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2" name="Text 19"/>
          <p:cNvSpPr/>
          <p:nvPr/>
        </p:nvSpPr>
        <p:spPr>
          <a:xfrm>
            <a:off x="7214616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428232" y="312724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Rotem Saraf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6428232" y="3493008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28232" y="3822192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9208008" y="1828800"/>
            <a:ext cx="2578608" cy="27432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7" name="Shape 24"/>
          <p:cNvSpPr/>
          <p:nvPr/>
        </p:nvSpPr>
        <p:spPr>
          <a:xfrm>
            <a:off x="10085832" y="2148840"/>
            <a:ext cx="822960" cy="822960"/>
          </a:xfrm>
          <a:prstGeom prst="ellipse">
            <a:avLst/>
          </a:prstGeom>
          <a:solidFill>
            <a:srgbClr val="10243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8" name="Text 25"/>
          <p:cNvSpPr/>
          <p:nvPr/>
        </p:nvSpPr>
        <p:spPr>
          <a:xfrm>
            <a:off x="10085832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EE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9299448" y="312724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Eden Elkayam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9299448" y="3493008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9299448" y="3822192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594360" y="4983480"/>
            <a:ext cx="11000232" cy="1051560"/>
          </a:xfrm>
          <a:prstGeom prst="roundRect">
            <a:avLst>
              <a:gd name="adj" fmla="val 7826"/>
            </a:avLst>
          </a:prstGeom>
          <a:solidFill>
            <a:srgbClr val="E7F1EE"/>
          </a:solidFill>
          <a:ln w="9525">
            <a:solidFill>
              <a:srgbClr val="E7F1E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3" name="Text 30"/>
          <p:cNvSpPr/>
          <p:nvPr/>
        </p:nvSpPr>
        <p:spPr>
          <a:xfrm>
            <a:off x="868680" y="5074920"/>
            <a:ext cx="10451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us?  </a:t>
            </a:r>
            <a:r>
              <a:rPr lang="en-US" sz="16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problem sits exactly between cognitive psychology and software engineering — and so do we. We built KungFlow because notifications were burning our own working hours.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You're in the zone — then the pings hit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82880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Shape 6"/>
          <p:cNvSpPr/>
          <p:nvPr/>
        </p:nvSpPr>
        <p:spPr>
          <a:xfrm>
            <a:off x="868680" y="2103120"/>
            <a:ext cx="603504" cy="603504"/>
          </a:xfrm>
          <a:prstGeom prst="ellipse">
            <a:avLst/>
          </a:prstGeom>
          <a:solidFill>
            <a:srgbClr val="E7F1EE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240280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0392" y="278892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56</a:t>
            </a:r>
            <a:endParaRPr lang="en-US" sz="4800" dirty="0"/>
          </a:p>
        </p:txBody>
      </p:sp>
      <p:sp>
        <p:nvSpPr>
          <p:cNvPr id="12" name="Text 8"/>
          <p:cNvSpPr/>
          <p:nvPr/>
        </p:nvSpPr>
        <p:spPr>
          <a:xfrm>
            <a:off x="868680" y="3566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35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interruptions per workday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868680" y="39319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Pings, messages and alerts — one every ~9 minutes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389120" y="182880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Shape 11"/>
          <p:cNvSpPr/>
          <p:nvPr/>
        </p:nvSpPr>
        <p:spPr>
          <a:xfrm>
            <a:off x="4663440" y="2103120"/>
            <a:ext cx="603504" cy="603504"/>
          </a:xfrm>
          <a:prstGeom prst="ellipse">
            <a:avLst/>
          </a:prstGeom>
          <a:solidFill>
            <a:srgbClr val="E7F1EE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224028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45152" y="278892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 min</a:t>
            </a:r>
            <a:endParaRPr lang="en-US" sz="4800" dirty="0"/>
          </a:p>
        </p:txBody>
      </p:sp>
      <p:sp>
        <p:nvSpPr>
          <p:cNvPr id="18" name="Text 13"/>
          <p:cNvSpPr/>
          <p:nvPr/>
        </p:nvSpPr>
        <p:spPr>
          <a:xfrm>
            <a:off x="4663440" y="3566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35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regain deep focus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4663440" y="39319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single interruption (Mark, UC Irvine)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183880" y="182880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1" name="Shape 16"/>
          <p:cNvSpPr/>
          <p:nvPr/>
        </p:nvSpPr>
        <p:spPr>
          <a:xfrm>
            <a:off x="8458200" y="2103120"/>
            <a:ext cx="603504" cy="603504"/>
          </a:xfrm>
          <a:prstGeom prst="ellipse">
            <a:avLst/>
          </a:prstGeom>
          <a:solidFill>
            <a:srgbClr val="E7F1EE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2240280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439912" y="278892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2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Stress up</a:t>
            </a:r>
            <a:endParaRPr lang="en-US" sz="4000" dirty="0"/>
          </a:p>
        </p:txBody>
      </p:sp>
      <p:sp>
        <p:nvSpPr>
          <p:cNvPr id="24" name="Text 18"/>
          <p:cNvSpPr/>
          <p:nvPr/>
        </p:nvSpPr>
        <p:spPr>
          <a:xfrm>
            <a:off x="8458200" y="3566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35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hidden price of pings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8458200" y="39319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Interrupted work raises stress, frustration &amp; time pressure (CHI '08)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94360" y="5029200"/>
            <a:ext cx="11000232" cy="1005840"/>
          </a:xfrm>
          <a:prstGeom prst="roundRect">
            <a:avLst>
              <a:gd name="adj" fmla="val 8182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7" name="Text 21"/>
          <p:cNvSpPr/>
          <p:nvPr/>
        </p:nvSpPr>
        <p:spPr>
          <a:xfrm>
            <a:off x="868680" y="5120640"/>
            <a:ext cx="10451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that for a second — your focus shattering. Now multiply it across every employee. That's what it costs the company.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costs people. Then it costs money.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783080"/>
            <a:ext cx="5394960" cy="31546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86868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2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HUMAN COST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2331720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26%</a:t>
            </a: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higher stress and lower job satisfaction among employees with more digital interruptions (Microsoft)</a:t>
            </a:r>
            <a:endParaRPr lang="en-US" sz="3000" dirty="0"/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12B</a:t>
            </a: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working days lost globally every year to depression &amp; anxiety — a $1T productivity bill (WHO)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68680" y="4297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interruption load is a direct driver of workplace stress and burnout.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349240" cy="31546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3" name="Text 10"/>
          <p:cNvSpPr/>
          <p:nvPr/>
        </p:nvSpPr>
        <p:spPr>
          <a:xfrm>
            <a:off x="653796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98E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BUSINESS COST — 250-PERSON COMPANY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537960" y="23317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$30M</a:t>
            </a: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total payroll for 250 employees, every year</a:t>
            </a:r>
            <a:endParaRPr lang="en-US" sz="3000" dirty="0"/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~5%</a:t>
            </a: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 it — $1.5M+ — lost to interruptions (~2 hrs per person, daily)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537960" y="4297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$10K gross/mo · employer cost ~$75/hr — money you already spend.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5074920"/>
            <a:ext cx="11000232" cy="960120"/>
          </a:xfrm>
          <a:prstGeom prst="roundRect">
            <a:avLst>
              <a:gd name="adj" fmla="val 8571"/>
            </a:avLst>
          </a:prstGeom>
          <a:solidFill>
            <a:srgbClr val="E7F1EE"/>
          </a:solidFill>
          <a:ln w="9525">
            <a:solidFill>
              <a:srgbClr val="E7F1E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7" name="Text 14"/>
          <p:cNvSpPr/>
          <p:nvPr/>
        </p:nvSpPr>
        <p:spPr>
          <a:xfrm>
            <a:off x="868680" y="5166360"/>
            <a:ext cx="10451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good news: wellbeing pays.  </a:t>
            </a:r>
            <a:r>
              <a:rPr lang="en-US" sz="16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$1 invested in employee mental health returns ~$4 in health and productivity (WHO).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Plenty of fixes. None act in time.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965960"/>
            <a:ext cx="731520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Shape 6"/>
          <p:cNvSpPr/>
          <p:nvPr/>
        </p:nvSpPr>
        <p:spPr>
          <a:xfrm>
            <a:off x="758952" y="2167128"/>
            <a:ext cx="457200" cy="457200"/>
          </a:xfrm>
          <a:prstGeom prst="ellipse">
            <a:avLst/>
          </a:prstGeom>
          <a:solidFill>
            <a:srgbClr val="F0EEE7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27685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08483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Do-Not-Disturb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371600" y="241401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an overloaded brain to notice it's overloaded — exactly when it can't.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94360" y="2990088"/>
            <a:ext cx="731520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4" name="Shape 10"/>
          <p:cNvSpPr/>
          <p:nvPr/>
        </p:nvSpPr>
        <p:spPr>
          <a:xfrm>
            <a:off x="758952" y="3191256"/>
            <a:ext cx="457200" cy="457200"/>
          </a:xfrm>
          <a:prstGeom prst="ellipse">
            <a:avLst/>
          </a:prstGeom>
          <a:solidFill>
            <a:srgbClr val="F0EEE7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300984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10896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trackers (RescueTime, Toggl)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371600" y="343814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damage after it's done. A speedometer, not a seatbelt.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94360" y="4014216"/>
            <a:ext cx="731520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9" name="Shape 14"/>
          <p:cNvSpPr/>
          <p:nvPr/>
        </p:nvSpPr>
        <p:spPr>
          <a:xfrm>
            <a:off x="758952" y="4215384"/>
            <a:ext cx="457200" cy="457200"/>
          </a:xfrm>
          <a:prstGeom prst="ellipse">
            <a:avLst/>
          </a:prstGeom>
          <a:solidFill>
            <a:srgbClr val="F0EEE7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325112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71600" y="413308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Company focus-hour policies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371600" y="446227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One-size-fits-none. Not personal, not enforced, quietly resented.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94360" y="5038344"/>
            <a:ext cx="731520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4" name="Shape 18"/>
          <p:cNvSpPr/>
          <p:nvPr/>
        </p:nvSpPr>
        <p:spPr>
          <a:xfrm>
            <a:off x="758952" y="5239512"/>
            <a:ext cx="457200" cy="457200"/>
          </a:xfrm>
          <a:prstGeom prst="ellipse">
            <a:avLst/>
          </a:prstGeom>
          <a:solidFill>
            <a:srgbClr val="F0EEE7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349240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71600" y="515721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Wellness apps (Calm, Headspace)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1371600" y="548640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Lovely — but they live outside the workflow where the damage happens.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8183880" y="1965960"/>
            <a:ext cx="3429000" cy="4041648"/>
          </a:xfrm>
          <a:prstGeom prst="roundRect">
            <a:avLst>
              <a:gd name="adj" fmla="val 2400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9" name="Text 22"/>
          <p:cNvSpPr/>
          <p:nvPr/>
        </p:nvSpPr>
        <p:spPr>
          <a:xfrm>
            <a:off x="8458200" y="2240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FD6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GAP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8458200" y="26974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tool detects overload and acts on it — automatically, in real time, with zero effort from the employee.</a:t>
            </a:r>
            <a:endParaRPr lang="en-US" sz="1800" dirty="0"/>
          </a:p>
        </p:txBody>
      </p:sp>
      <p:sp>
        <p:nvSpPr>
          <p:cNvPr id="31" name="Text 24"/>
          <p:cNvSpPr/>
          <p:nvPr/>
        </p:nvSpPr>
        <p:spPr>
          <a:xfrm>
            <a:off x="8458200" y="5166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F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product we built.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KungFlow — a firewall for your focus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8745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Shape 6"/>
          <p:cNvSpPr/>
          <p:nvPr/>
        </p:nvSpPr>
        <p:spPr>
          <a:xfrm>
            <a:off x="868680" y="2148840"/>
            <a:ext cx="658368" cy="658368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230428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2971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SENSE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68680" y="33832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behavioral rhythm only — typing speed, window switches, mouse motion. Every minute, silently.</a:t>
            </a:r>
            <a:endParaRPr lang="en-US" sz="14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3088" y="3063240"/>
            <a:ext cx="237744" cy="23774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389120" y="18745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Shape 10"/>
          <p:cNvSpPr/>
          <p:nvPr/>
        </p:nvSpPr>
        <p:spPr>
          <a:xfrm>
            <a:off x="4663440" y="2148840"/>
            <a:ext cx="658368" cy="658368"/>
          </a:xfrm>
          <a:prstGeom prst="ellipse">
            <a:avLst/>
          </a:prstGeom>
          <a:solidFill>
            <a:srgbClr val="0B6E66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2304288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663440" y="2971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UNDERSTAND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4663440" y="33832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cognitive load against your personal baseline. It learns what “normal” means for you.</a:t>
            </a:r>
            <a:endParaRPr lang="en-US" sz="14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848" y="3063240"/>
            <a:ext cx="237744" cy="23774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8183880" y="18745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1" name="Shape 14"/>
          <p:cNvSpPr/>
          <p:nvPr/>
        </p:nvSpPr>
        <p:spPr>
          <a:xfrm>
            <a:off x="8458200" y="2148840"/>
            <a:ext cx="658368" cy="658368"/>
          </a:xfrm>
          <a:prstGeom prst="ellipse">
            <a:avLst/>
          </a:prstGeom>
          <a:solidFill>
            <a:srgbClr val="10243E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3648" y="2304288"/>
            <a:ext cx="347472" cy="34747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458200" y="2971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PROTECT</a:t>
            </a:r>
            <a:endParaRPr lang="en-US" sz="1800" dirty="0"/>
          </a:p>
        </p:txBody>
      </p:sp>
      <p:sp>
        <p:nvSpPr>
          <p:cNvPr id="24" name="Text 16"/>
          <p:cNvSpPr/>
          <p:nvPr/>
        </p:nvSpPr>
        <p:spPr>
          <a:xfrm>
            <a:off x="8458200" y="33832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exceeds 125% of baseline? DND on, WhatsApp &amp; Outlook muted. Load drops? Everything back. Automatically.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594360" y="4800600"/>
            <a:ext cx="11000232" cy="1234440"/>
          </a:xfrm>
          <a:prstGeom prst="roundRect">
            <a:avLst>
              <a:gd name="adj" fmla="val 6667"/>
            </a:avLst>
          </a:prstGeom>
          <a:solidFill>
            <a:srgbClr val="E7F1EE"/>
          </a:solidFill>
          <a:ln w="9525">
            <a:solidFill>
              <a:srgbClr val="E7F1E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6" name="Text 18"/>
          <p:cNvSpPr/>
          <p:nvPr/>
        </p:nvSpPr>
        <p:spPr>
          <a:xfrm>
            <a:off x="868680" y="4937760"/>
            <a:ext cx="10451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buttons. No willpower. No new habits.  </a:t>
            </a:r>
            <a:r>
              <a:rPr lang="en-US" sz="16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just works — KungFlow guards the door. Desktop agent (Windows) + Chrome extension, live today.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PRODUCT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on Windows today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1783080"/>
            <a:ext cx="5257800" cy="4328662"/>
          </a:xfrm>
          <a:prstGeom prst="roundRect">
            <a:avLst>
              <a:gd name="adj" fmla="val 1901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9" name="Image 1" descr="assets/slide08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874520"/>
            <a:ext cx="5074920" cy="364286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0080" y="5636254"/>
            <a:ext cx="274320" cy="274320"/>
          </a:xfrm>
          <a:prstGeom prst="ellipse">
            <a:avLst/>
          </a:prstGeom>
          <a:solidFill>
            <a:srgbClr val="1FA0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Text 7"/>
          <p:cNvSpPr/>
          <p:nvPr/>
        </p:nvSpPr>
        <p:spPr>
          <a:xfrm>
            <a:off x="1033272" y="559053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 load — everything gets through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263640" y="1783080"/>
            <a:ext cx="5257800" cy="4328662"/>
          </a:xfrm>
          <a:prstGeom prst="roundRect">
            <a:avLst>
              <a:gd name="adj" fmla="val 1901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3" name="Image 2" descr="assets/slide09_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874520"/>
            <a:ext cx="5074920" cy="364286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00800" y="5636254"/>
            <a:ext cx="274320" cy="274320"/>
          </a:xfrm>
          <a:prstGeom prst="ellipse">
            <a:avLst/>
          </a:prstGeom>
          <a:solidFill>
            <a:srgbClr val="D2403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5" name="Text 10"/>
          <p:cNvSpPr/>
          <p:nvPr/>
        </p:nvSpPr>
        <p:spPr>
          <a:xfrm>
            <a:off x="6793992" y="559053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Overload detected — firewall on, quiet restored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94360" y="6263640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working version — desktop agent + Chrome extension + cloud scoring — running live on Windows today. Full walkthrough available after the pitch.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BY DESIGN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surveillance. The opposite.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783080"/>
            <a:ext cx="557784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86868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D2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KUNGFLOW NEVER SEES</a:t>
            </a:r>
            <a:endParaRPr lang="en-US" sz="13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2377440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3317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type</a:t>
            </a:r>
            <a:endParaRPr lang="en-US" sz="15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277063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27249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 you visit</a:t>
            </a:r>
            <a:endParaRPr lang="en-US" sz="15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163824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311810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you open</a:t>
            </a:r>
            <a:endParaRPr lang="en-US" sz="15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557016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51129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— of anything, ever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868680" y="4069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1FA0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ONLY SENSES RHYTHM</a:t>
            </a:r>
            <a:endParaRPr lang="en-US" sz="13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498848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434840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speed &amp; window switches — signals your OS already has</a:t>
            </a:r>
            <a:endParaRPr lang="en-US" sz="14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956048"/>
            <a:ext cx="219456" cy="21945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234440" y="4892040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signals are anonymized and aggregated — managers see team trends only, never an individual's score.</a:t>
            </a:r>
            <a:endParaRPr lang="en-US" sz="14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413248"/>
            <a:ext cx="219456" cy="219456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1234440" y="5349240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employee can pause data collection. One toggle, no questions.</a:t>
            </a:r>
            <a:endParaRPr lang="en-US" sz="1400" dirty="0"/>
          </a:p>
        </p:txBody>
      </p:sp>
      <p:sp>
        <p:nvSpPr>
          <p:cNvPr id="25" name="Shape 15"/>
          <p:cNvSpPr/>
          <p:nvPr/>
        </p:nvSpPr>
        <p:spPr>
          <a:xfrm>
            <a:off x="6446520" y="1783080"/>
            <a:ext cx="5166360" cy="2286000"/>
          </a:xfrm>
          <a:prstGeom prst="roundRect">
            <a:avLst>
              <a:gd name="adj" fmla="val 3600"/>
            </a:avLst>
          </a:prstGeom>
          <a:solidFill>
            <a:srgbClr val="FBEAE9"/>
          </a:solidFill>
          <a:ln w="9525">
            <a:solidFill>
              <a:srgbClr val="FBEAE9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6" name="Text 16"/>
          <p:cNvSpPr/>
          <p:nvPr/>
        </p:nvSpPr>
        <p:spPr>
          <a:xfrm>
            <a:off x="6720840" y="2011680"/>
            <a:ext cx="4617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2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56% vs 40%</a:t>
            </a:r>
            <a:endParaRPr lang="en-US" sz="3400" dirty="0"/>
          </a:p>
          <a:p>
            <a:pPr marL="0" indent="0">
              <a:buNone/>
            </a:pP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digitally monitored employees feel tense or stressed at work, compared to non-monitored peers (APA, Work in America 2023).</a:t>
            </a:r>
            <a:endParaRPr lang="en-US" sz="3400" dirty="0"/>
          </a:p>
        </p:txBody>
      </p:sp>
      <p:sp>
        <p:nvSpPr>
          <p:cNvPr id="27" name="Shape 17"/>
          <p:cNvSpPr/>
          <p:nvPr/>
        </p:nvSpPr>
        <p:spPr>
          <a:xfrm>
            <a:off x="6446520" y="4251960"/>
            <a:ext cx="5166360" cy="1737360"/>
          </a:xfrm>
          <a:prstGeom prst="roundRect">
            <a:avLst>
              <a:gd name="adj" fmla="val 4737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8" name="Text 18"/>
          <p:cNvSpPr/>
          <p:nvPr/>
        </p:nvSpPr>
        <p:spPr>
          <a:xfrm>
            <a:off x="6720840" y="4389120"/>
            <a:ext cx="4617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backfires.  </a:t>
            </a:r>
            <a:r>
              <a:rPr lang="en-US" sz="15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flipped the model: the data belongs to the employee and works for the employee. KungFlow is a perk, not a watchdog.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tested it. Focus won.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783080"/>
            <a:ext cx="566928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86868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accuracy — error-correction task, score out of 20</a:t>
            </a:r>
            <a:endParaRPr lang="en-US" sz="15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822960" y="2377440"/>
          <a:ext cx="52120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6537960" y="1783080"/>
            <a:ext cx="50749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2" name="Text 8"/>
          <p:cNvSpPr/>
          <p:nvPr/>
        </p:nvSpPr>
        <p:spPr>
          <a:xfrm>
            <a:off x="6766560" y="1892808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A0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+165%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8503920" y="18928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task scores once interruptions were removed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537960" y="2990088"/>
            <a:ext cx="50749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Text 11"/>
          <p:cNvSpPr/>
          <p:nvPr/>
        </p:nvSpPr>
        <p:spPr>
          <a:xfrm>
            <a:off x="6766560" y="3099816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49%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8503920" y="3099816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errors missed in the same 10-minute window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537960" y="4197096"/>
            <a:ext cx="50749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8" name="Text 14"/>
          <p:cNvSpPr/>
          <p:nvPr/>
        </p:nvSpPr>
        <p:spPr>
          <a:xfrm>
            <a:off x="6766560" y="4306824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+25%</a:t>
            </a:r>
            <a:endParaRPr lang="en-US" sz="3200" dirty="0"/>
          </a:p>
        </p:txBody>
      </p:sp>
      <p:sp>
        <p:nvSpPr>
          <p:cNvPr id="19" name="Text 15"/>
          <p:cNvSpPr/>
          <p:nvPr/>
        </p:nvSpPr>
        <p:spPr>
          <a:xfrm>
            <a:off x="8503920" y="4306824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gain after controlling for natural learning effects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537960" y="54864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pilot, n=8, with a learning-effect control group (2026). Larger study planned with design partners.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math for one 250-person company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874520"/>
            <a:ext cx="3474720" cy="2011680"/>
          </a:xfrm>
          <a:prstGeom prst="roundRect">
            <a:avLst>
              <a:gd name="adj" fmla="val 4091"/>
            </a:avLst>
          </a:prstGeom>
          <a:solidFill>
            <a:srgbClr val="F5E9E8"/>
          </a:solidFill>
          <a:ln w="9525">
            <a:solidFill>
              <a:srgbClr val="F5E9E8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777240" y="21488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2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$1.5M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68680" y="3063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at just 5% of payroll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3995928" y="2651760"/>
            <a:ext cx="512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416552" y="1874520"/>
            <a:ext cx="3474720" cy="2011680"/>
          </a:xfrm>
          <a:prstGeom prst="roundRect">
            <a:avLst>
              <a:gd name="adj" fmla="val 4091"/>
            </a:avLst>
          </a:prstGeom>
          <a:solidFill>
            <a:srgbClr val="E7F1EE"/>
          </a:solidFill>
          <a:ln w="9525">
            <a:solidFill>
              <a:srgbClr val="E7F1E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3" name="Text 10"/>
          <p:cNvSpPr/>
          <p:nvPr/>
        </p:nvSpPr>
        <p:spPr>
          <a:xfrm>
            <a:off x="4599432" y="21488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$90K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4690872" y="3063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KungFlow — 0.3% of payroll, all 250 seats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818120" y="2651760"/>
            <a:ext cx="512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8238744" y="1874520"/>
            <a:ext cx="3474720" cy="2011680"/>
          </a:xfrm>
          <a:prstGeom prst="roundRect">
            <a:avLst>
              <a:gd name="adj" fmla="val 4091"/>
            </a:avLst>
          </a:prstGeom>
          <a:solidFill>
            <a:srgbClr val="EAF4EC"/>
          </a:solidFill>
          <a:ln w="9525">
            <a:solidFill>
              <a:srgbClr val="EAF4EC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7" name="Text 14"/>
          <p:cNvSpPr/>
          <p:nvPr/>
        </p:nvSpPr>
        <p:spPr>
          <a:xfrm>
            <a:off x="8421624" y="21488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A0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 : 1</a:t>
            </a:r>
            <a:endParaRPr lang="en-US" sz="4400" dirty="0"/>
          </a:p>
        </p:txBody>
      </p:sp>
      <p:sp>
        <p:nvSpPr>
          <p:cNvPr id="18" name="Text 15"/>
          <p:cNvSpPr/>
          <p:nvPr/>
        </p:nvSpPr>
        <p:spPr>
          <a:xfrm>
            <a:off x="8513064" y="3063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every $1 spent — and you add no real spend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594360" y="4251960"/>
            <a:ext cx="11000232" cy="1691640"/>
          </a:xfrm>
          <a:prstGeom prst="roundRect">
            <a:avLst>
              <a:gd name="adj" fmla="val 4865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0" name="Text 17"/>
          <p:cNvSpPr/>
          <p:nvPr/>
        </p:nvSpPr>
        <p:spPr>
          <a:xfrm>
            <a:off x="914400" y="4480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FD6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FOR EVERY SINGLE EMPLOYEE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14400" y="4846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 hrs</a:t>
            </a:r>
            <a:endParaRPr lang="en-US" sz="2500" dirty="0"/>
          </a:p>
        </p:txBody>
      </p:sp>
      <p:sp>
        <p:nvSpPr>
          <p:cNvPr id="22" name="Text 19"/>
          <p:cNvSpPr/>
          <p:nvPr/>
        </p:nvSpPr>
        <p:spPr>
          <a:xfrm>
            <a:off x="914400" y="5349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deep work back, daily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572000" y="4846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56 → quiet</a:t>
            </a:r>
            <a:endParaRPr lang="en-US" sz="2500" dirty="0"/>
          </a:p>
        </p:txBody>
      </p:sp>
      <p:sp>
        <p:nvSpPr>
          <p:cNvPr id="24" name="Text 21"/>
          <p:cNvSpPr/>
          <p:nvPr/>
        </p:nvSpPr>
        <p:spPr>
          <a:xfrm>
            <a:off x="4572000" y="5349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interruptions blocked at the right moment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229600" y="4846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Calmer days</a:t>
            </a:r>
            <a:endParaRPr lang="en-US" sz="2500" dirty="0"/>
          </a:p>
        </p:txBody>
      </p:sp>
      <p:sp>
        <p:nvSpPr>
          <p:cNvPr id="26" name="Text 23"/>
          <p:cNvSpPr/>
          <p:nvPr/>
        </p:nvSpPr>
        <p:spPr>
          <a:xfrm>
            <a:off x="8229600" y="5349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stress, lower burnout risk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big problem — and an empty category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7830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868680" y="1938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0E8F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22128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1.2B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868680" y="29718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workers worldwide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416552" y="17830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3" name="Text 10"/>
          <p:cNvSpPr/>
          <p:nvPr/>
        </p:nvSpPr>
        <p:spPr>
          <a:xfrm>
            <a:off x="4690872" y="1938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690872" y="22128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400K</a:t>
            </a:r>
            <a:endParaRPr lang="en-US" sz="4200" dirty="0"/>
          </a:p>
        </p:txBody>
      </p:sp>
      <p:sp>
        <p:nvSpPr>
          <p:cNvPr id="15" name="Text 12"/>
          <p:cNvSpPr/>
          <p:nvPr/>
        </p:nvSpPr>
        <p:spPr>
          <a:xfrm>
            <a:off x="4690872" y="29718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workers in Israel — our beachhead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238744" y="17830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7" name="Text 14"/>
          <p:cNvSpPr/>
          <p:nvPr/>
        </p:nvSpPr>
        <p:spPr>
          <a:xfrm>
            <a:off x="8513064" y="1938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 Y1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513064" y="22128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2,500</a:t>
            </a:r>
            <a:endParaRPr lang="en-US" sz="4200" dirty="0"/>
          </a:p>
        </p:txBody>
      </p:sp>
      <p:sp>
        <p:nvSpPr>
          <p:cNvPr id="19" name="Text 16"/>
          <p:cNvSpPr/>
          <p:nvPr/>
        </p:nvSpPr>
        <p:spPr>
          <a:xfrm>
            <a:off x="8513064" y="29718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across 10 mid-market companies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94360" y="3977640"/>
            <a:ext cx="11000232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1" name="Text 18"/>
          <p:cNvSpPr/>
          <p:nvPr/>
        </p:nvSpPr>
        <p:spPr>
          <a:xfrm>
            <a:off x="86868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Acts automatically, in real time?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68680" y="457200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0EEE7"/>
          </a:solidFill>
          <a:ln w="12700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0"/>
          <p:cNvSpPr/>
          <p:nvPr/>
        </p:nvSpPr>
        <p:spPr>
          <a:xfrm>
            <a:off x="96012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RescueTime</a:t>
            </a:r>
            <a:endParaRPr lang="en-US" sz="13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5001768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41832" y="53035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after the fact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3063240" y="457200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0EEE7"/>
          </a:solidFill>
          <a:ln w="12700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3"/>
          <p:cNvSpPr/>
          <p:nvPr/>
        </p:nvSpPr>
        <p:spPr>
          <a:xfrm>
            <a:off x="315468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Calm for Business</a:t>
            </a:r>
            <a:endParaRPr lang="en-US" sz="13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5001768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3136392" y="53035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workflow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5257800" y="457200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0EEE7"/>
          </a:solidFill>
          <a:ln w="12700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6"/>
          <p:cNvSpPr/>
          <p:nvPr/>
        </p:nvSpPr>
        <p:spPr>
          <a:xfrm>
            <a:off x="534924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 Viva Insights</a:t>
            </a:r>
            <a:endParaRPr lang="en-US" sz="13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5001768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330952" y="53035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dashboards only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7452360" y="457200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0EEE7"/>
          </a:solidFill>
          <a:ln w="12700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Text 29"/>
          <p:cNvSpPr/>
          <p:nvPr/>
        </p:nvSpPr>
        <p:spPr>
          <a:xfrm>
            <a:off x="754380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Built-in DND</a:t>
            </a:r>
            <a:endParaRPr lang="en-US" sz="13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5001768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525512" y="53035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the user to act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9646920" y="457200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0E8F84"/>
          </a:solidFill>
          <a:ln w="12700">
            <a:solidFill>
              <a:srgbClr val="0B6E6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Text 32"/>
          <p:cNvSpPr/>
          <p:nvPr/>
        </p:nvSpPr>
        <p:spPr>
          <a:xfrm>
            <a:off x="973836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KungFlow</a:t>
            </a:r>
            <a:endParaRPr lang="en-US" sz="13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5001768"/>
            <a:ext cx="274320" cy="27432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9720072" y="53035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D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&amp; protects on its own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SaaS that climbs the org chart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594360" y="5074920"/>
            <a:ext cx="11000232" cy="1005840"/>
          </a:xfrm>
          <a:prstGeom prst="roundRect">
            <a:avLst>
              <a:gd name="adj" fmla="val 8182"/>
            </a:avLst>
          </a:prstGeom>
          <a:solidFill>
            <a:srgbClr val="E7F1EE"/>
          </a:solidFill>
          <a:ln w="9525">
            <a:solidFill>
              <a:srgbClr val="E7F1E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8" name="Text 25"/>
          <p:cNvSpPr/>
          <p:nvPr/>
        </p:nvSpPr>
        <p:spPr>
          <a:xfrm>
            <a:off x="868680" y="5166360"/>
            <a:ext cx="10451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by design:  free individual → paid team → manager → org, no new sales motion.   ACV $90K  ·  LTV:CAC 11:1  ·  3-yr retention</a:t>
            </a:r>
            <a:endParaRPr lang="en-US" sz="1650" dirty="0"/>
          </a:p>
        </p:txBody>
      </p:sp>
      <p:sp>
        <p:nvSpPr>
          <p:cNvPr id="29" name="Rounded Rectangle 28"/>
          <p:cNvSpPr/>
          <p:nvPr/>
        </p:nvSpPr>
        <p:spPr>
          <a:xfrm>
            <a:off x="594360" y="1627632"/>
            <a:ext cx="2487168" cy="32735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0392" y="1810512"/>
            <a:ext cx="19751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0243E"/>
                </a:solidFill>
                <a:latin typeface="Trebuchet MS"/>
              </a:rPr>
              <a:t>Free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" y="2340864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6E66"/>
                </a:solidFill>
                <a:latin typeface="Trebuchet MS"/>
              </a:rPr>
              <a:t>$0</a:t>
            </a:r>
            <a:r>
              <a:rPr sz="1200" b="0" i="0">
                <a:solidFill>
                  <a:srgbClr val="5B6B7E"/>
                </a:solidFill>
                <a:latin typeface="Calibri"/>
              </a:rPr>
              <a:t>  forever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" y="2889504"/>
            <a:ext cx="19751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0B6E66"/>
                </a:solidFill>
                <a:latin typeface="Calibri"/>
              </a:rPr>
              <a:t>For individuals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" y="321868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Live cognitive-load 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" y="358444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Auto-DND · 1 device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" y="395020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7-day focus history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4224528"/>
            <a:ext cx="1975104" cy="6400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050" b="0" i="1">
                <a:solidFill>
                  <a:srgbClr val="10243E"/>
                </a:solidFill>
                <a:latin typeface="Calibri"/>
              </a:rPr>
              <a:t>For individuals · real focus protection, free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47288" y="1627632"/>
            <a:ext cx="2487168" cy="32735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03320" y="1810512"/>
            <a:ext cx="19751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0243E"/>
                </a:solidFill>
                <a:latin typeface="Trebuchet MS"/>
              </a:rPr>
              <a:t>Team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03320" y="2340864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6E66"/>
                </a:solidFill>
                <a:latin typeface="Trebuchet MS"/>
              </a:rPr>
              <a:t>$20</a:t>
            </a:r>
            <a:r>
              <a:rPr sz="1200" b="0" i="0">
                <a:solidFill>
                  <a:srgbClr val="5B6B7E"/>
                </a:solidFill>
                <a:latin typeface="Calibri"/>
              </a:rPr>
              <a:t> /user/mo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03320" y="2889504"/>
            <a:ext cx="19751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0B6E66"/>
                </a:solidFill>
                <a:latin typeface="Calibri"/>
              </a:rPr>
              <a:t>Everything in Free, plus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03320" y="321868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Adaptive personal baseline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03320" y="358444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All apps + all devices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03320" y="395020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Unlimited history + dashboard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03320" y="4224528"/>
            <a:ext cx="1975104" cy="6400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050" b="0" i="1">
                <a:solidFill>
                  <a:srgbClr val="10243E"/>
                </a:solidFill>
                <a:latin typeface="Calibri"/>
              </a:rPr>
              <a:t>The power user · it learns you &amp; covers every app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0216" y="1627632"/>
            <a:ext cx="2487168" cy="3273552"/>
          </a:xfrm>
          <a:prstGeom prst="roundRect">
            <a:avLst>
              <a:gd name="adj" fmla="val 3000"/>
            </a:avLst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56248" y="1810512"/>
            <a:ext cx="19751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FD8E3"/>
                </a:solidFill>
                <a:latin typeface="Trebuchet MS"/>
              </a:rPr>
              <a:t>MOST POPULAR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56248" y="2084831"/>
            <a:ext cx="19751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Trebuchet MS"/>
              </a:rPr>
              <a:t>Business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56248" y="2340864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Trebuchet MS"/>
              </a:rPr>
              <a:t>$30</a:t>
            </a:r>
            <a:r>
              <a:rPr sz="1200" b="0" i="0">
                <a:solidFill>
                  <a:srgbClr val="CFD8E3"/>
                </a:solidFill>
                <a:latin typeface="Calibri"/>
              </a:rPr>
              <a:t> /user/mo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56248" y="2889504"/>
            <a:ext cx="19751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CFD8E3"/>
                </a:solidFill>
                <a:latin typeface="Calibri"/>
              </a:rPr>
              <a:t>Everything in Team, plus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56248" y="321868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Team focus analytics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56248" y="358444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Custom &amp; VIP rules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56248" y="395020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Admin console + onboarding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56248" y="4224528"/>
            <a:ext cx="1975104" cy="6400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050" b="0" i="1">
                <a:solidFill>
                  <a:srgbClr val="CFD8E3"/>
                </a:solidFill>
                <a:latin typeface="Calibri"/>
              </a:rPr>
              <a:t>The manager · a whole team in deep work, with visibility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53144" y="1627632"/>
            <a:ext cx="2487168" cy="32735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409176" y="1810512"/>
            <a:ext cx="19751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0243E"/>
                </a:solidFill>
                <a:latin typeface="Trebuchet MS"/>
              </a:rPr>
              <a:t>Enterprise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09176" y="2340864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6E66"/>
                </a:solidFill>
                <a:latin typeface="Trebuchet MS"/>
              </a:rPr>
              <a:t>$45+</a:t>
            </a:r>
            <a:r>
              <a:rPr sz="1200" b="0" i="0">
                <a:solidFill>
                  <a:srgbClr val="5B6B7E"/>
                </a:solidFill>
                <a:latin typeface="Calibri"/>
              </a:rPr>
              <a:t> /user/mo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09176" y="2889504"/>
            <a:ext cx="19751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0B6E66"/>
                </a:solidFill>
                <a:latin typeface="Calibri"/>
              </a:rPr>
              <a:t>Everything in Business, plus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09176" y="321868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Org burnout-risk analytics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09176" y="358444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AI recap of missed pings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09176" y="395020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SSO/SAML · CSM + SLA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09176" y="4224528"/>
            <a:ext cx="1975104" cy="6400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050" b="0" i="1">
                <a:solidFill>
                  <a:srgbClr val="10243E"/>
                </a:solidFill>
                <a:latin typeface="Calibri"/>
              </a:rPr>
              <a:t>HR + IT · org-wide rollout, security &amp; support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$770K seed — break-even in 12 months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9120" y="1780199"/>
            <a:ext cx="493776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868680" y="1965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OF FUNDS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2423160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— Scale &amp; v2 development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68680" y="2752344"/>
            <a:ext cx="3108960" cy="182880"/>
          </a:xfrm>
          <a:prstGeom prst="rect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9"/>
          <p:cNvSpPr/>
          <p:nvPr/>
        </p:nvSpPr>
        <p:spPr>
          <a:xfrm>
            <a:off x="4050792" y="267004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57%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30998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68680" y="3429000"/>
            <a:ext cx="981777" cy="182880"/>
          </a:xfrm>
          <a:prstGeom prst="rect">
            <a:avLst/>
          </a:prstGeom>
          <a:solidFill>
            <a:srgbClr val="B9D8D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5" name="Text 12"/>
          <p:cNvSpPr/>
          <p:nvPr/>
        </p:nvSpPr>
        <p:spPr>
          <a:xfrm>
            <a:off x="1923609" y="334670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18%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68680" y="37764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868680" y="4105656"/>
            <a:ext cx="654518" cy="182880"/>
          </a:xfrm>
          <a:prstGeom prst="rect">
            <a:avLst/>
          </a:prstGeom>
          <a:solidFill>
            <a:srgbClr val="B9D8D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8" name="Text 15"/>
          <p:cNvSpPr/>
          <p:nvPr/>
        </p:nvSpPr>
        <p:spPr>
          <a:xfrm>
            <a:off x="1596350" y="402336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12%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68680" y="44531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(SDR from M6)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868680" y="4782312"/>
            <a:ext cx="654518" cy="182880"/>
          </a:xfrm>
          <a:prstGeom prst="rect">
            <a:avLst/>
          </a:prstGeom>
          <a:solidFill>
            <a:srgbClr val="B9D8D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Text 18"/>
          <p:cNvSpPr/>
          <p:nvPr/>
        </p:nvSpPr>
        <p:spPr>
          <a:xfrm>
            <a:off x="1596350" y="470001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12%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68680" y="51297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868680" y="5458968"/>
            <a:ext cx="64008" cy="182880"/>
          </a:xfrm>
          <a:prstGeom prst="rect">
            <a:avLst/>
          </a:prstGeom>
          <a:solidFill>
            <a:srgbClr val="B9D8D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4" name="Text 21"/>
          <p:cNvSpPr/>
          <p:nvPr/>
        </p:nvSpPr>
        <p:spPr>
          <a:xfrm>
            <a:off x="1005840" y="537667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1%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806440" y="1783080"/>
            <a:ext cx="580644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6" name="Text 23"/>
          <p:cNvSpPr/>
          <p:nvPr/>
        </p:nvSpPr>
        <p:spPr>
          <a:xfrm>
            <a:off x="6080760" y="1965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YEAR-1 MILESTONES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6080760" y="2423160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10243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8" name="Text 25"/>
          <p:cNvSpPr/>
          <p:nvPr/>
        </p:nvSpPr>
        <p:spPr>
          <a:xfrm>
            <a:off x="6080760" y="242316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M3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949440" y="24231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design partners live, feeding real usage data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437376" y="2880360"/>
            <a:ext cx="0" cy="219456"/>
          </a:xfrm>
          <a:prstGeom prst="line">
            <a:avLst/>
          </a:prstGeom>
          <a:noFill/>
          <a:ln w="19050">
            <a:solidFill>
              <a:srgbClr val="C9C5B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Shape 28"/>
          <p:cNvSpPr/>
          <p:nvPr/>
        </p:nvSpPr>
        <p:spPr>
          <a:xfrm>
            <a:off x="6080760" y="3099816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10243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2" name="Text 29"/>
          <p:cNvSpPr/>
          <p:nvPr/>
        </p:nvSpPr>
        <p:spPr>
          <a:xfrm>
            <a:off x="6080760" y="3099816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M4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949440" y="309981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paying company — revenue starts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437376" y="3557016"/>
            <a:ext cx="0" cy="219456"/>
          </a:xfrm>
          <a:prstGeom prst="line">
            <a:avLst/>
          </a:prstGeom>
          <a:noFill/>
          <a:ln w="19050">
            <a:solidFill>
              <a:srgbClr val="C9C5B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Shape 32"/>
          <p:cNvSpPr/>
          <p:nvPr/>
        </p:nvSpPr>
        <p:spPr>
          <a:xfrm>
            <a:off x="6080760" y="3776472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10243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6" name="Text 33"/>
          <p:cNvSpPr/>
          <p:nvPr/>
        </p:nvSpPr>
        <p:spPr>
          <a:xfrm>
            <a:off x="6080760" y="3776472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M6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949440" y="37764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SDR hired, outbound machine running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6437376" y="4233672"/>
            <a:ext cx="0" cy="219456"/>
          </a:xfrm>
          <a:prstGeom prst="line">
            <a:avLst/>
          </a:prstGeom>
          <a:noFill/>
          <a:ln w="19050">
            <a:solidFill>
              <a:srgbClr val="C9C5B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Shape 36"/>
          <p:cNvSpPr/>
          <p:nvPr/>
        </p:nvSpPr>
        <p:spPr>
          <a:xfrm>
            <a:off x="6080760" y="4453128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10243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0" name="Text 37"/>
          <p:cNvSpPr/>
          <p:nvPr/>
        </p:nvSpPr>
        <p:spPr>
          <a:xfrm>
            <a:off x="6080760" y="4453128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M9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6949440" y="44531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case study with measured results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6437376" y="4910328"/>
            <a:ext cx="0" cy="219456"/>
          </a:xfrm>
          <a:prstGeom prst="line">
            <a:avLst/>
          </a:prstGeom>
          <a:noFill/>
          <a:ln w="19050">
            <a:solidFill>
              <a:srgbClr val="C9C5B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Shape 40"/>
          <p:cNvSpPr/>
          <p:nvPr/>
        </p:nvSpPr>
        <p:spPr>
          <a:xfrm>
            <a:off x="6080760" y="5129784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1FA0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4" name="Text 41"/>
          <p:cNvSpPr/>
          <p:nvPr/>
        </p:nvSpPr>
        <p:spPr>
          <a:xfrm>
            <a:off x="6080760" y="5129784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M12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6949440" y="512978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companies · 2,500 users · $900K ARR · break-even</a:t>
            </a:r>
            <a:endParaRPr lang="en-US" sz="1450" dirty="0"/>
          </a:p>
        </p:txBody>
      </p:sp>
      <p:sp>
        <p:nvSpPr>
          <p:cNvPr id="46" name="Text 43"/>
          <p:cNvSpPr/>
          <p:nvPr/>
        </p:nvSpPr>
        <p:spPr>
          <a:xfrm>
            <a:off x="594360" y="6172200"/>
            <a:ext cx="11000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12 months of operations ($550K deficit) + 3-month buffer. One goal: 10 mid-market companies.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429768"/>
            <a:ext cx="146304" cy="146304"/>
          </a:xfrm>
          <a:prstGeom prst="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6E66"/>
                </a:solidFill>
                <a:latin typeface="Trebuchet MS"/>
              </a:rPr>
              <a:t>GTM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10243E"/>
                </a:solidFill>
                <a:latin typeface="Trebuchet MS"/>
              </a:rPr>
              <a:t>Product-led growth: free spreads, value sells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E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20824"/>
            <a:ext cx="19751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6E66"/>
                </a:solidFill>
                <a:latin typeface="Trebuchet MS"/>
              </a:rPr>
              <a:t>1 · ADOPT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68296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0243E"/>
                </a:solidFill>
                <a:latin typeface="Trebuchet MS"/>
              </a:rPr>
              <a:t>Free, bottom-up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197510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26354A"/>
                </a:solidFill>
                <a:latin typeface="Calibri"/>
              </a:rPr>
              <a:t>Individuals install the free tier and get real focus value — zero friction, no buyer needed. It spreads desk to desk.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8" y="2020824"/>
            <a:ext cx="19751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6E66"/>
                </a:solidFill>
                <a:latin typeface="Trebuchet MS"/>
              </a:rPr>
              <a:t>2 · CONVERT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368296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0243E"/>
                </a:solidFill>
                <a:latin typeface="Trebuchet MS"/>
              </a:rPr>
              <a:t>Free →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2926080"/>
            <a:ext cx="197510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26354A"/>
                </a:solidFill>
                <a:latin typeface="Calibri"/>
              </a:rPr>
              <a:t>Power users self-upgrade for the adaptive baseline and all their apps. Pure self-serve — no salesperson in the loop.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216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74536" y="2020824"/>
            <a:ext cx="19751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6E66"/>
                </a:solidFill>
                <a:latin typeface="Trebuchet MS"/>
              </a:rPr>
              <a:t>3 · EXPAND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2368296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0243E"/>
                </a:solidFill>
                <a:latin typeface="Trebuchet MS"/>
              </a:rPr>
              <a:t>Team → 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2926080"/>
            <a:ext cx="197510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26354A"/>
                </a:solidFill>
                <a:latin typeface="Calibri"/>
              </a:rPr>
              <a:t>Managers see their team already using it and buy team analytics, admin and custom rules. Light sales-assist.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3144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27464" y="2020824"/>
            <a:ext cx="19751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rebuchet MS"/>
              </a:rPr>
              <a:t>4 · STANDARDIZE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7464" y="2368296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rebuchet MS"/>
              </a:rPr>
              <a:t>→ Enterprise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7464" y="2926080"/>
            <a:ext cx="197510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CFD8E3"/>
                </a:solidFill>
                <a:latin typeface="Calibri"/>
              </a:rPr>
              <a:t>HR and IT roll it out org-wide — SSO, burnout analytics, dedicated CSM. Top-down lands on bottom-up demand.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349240"/>
            <a:ext cx="11000232" cy="914400"/>
          </a:xfrm>
          <a:prstGeom prst="roundRect">
            <a:avLst>
              <a:gd name="adj" fmla="val 3000"/>
            </a:avLst>
          </a:prstGeom>
          <a:solidFill>
            <a:srgbClr val="F4F2EC"/>
          </a:solidFill>
          <a:ln w="9525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532120"/>
            <a:ext cx="104515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0243E"/>
                </a:solidFill>
                <a:latin typeface="Trebuchet MS"/>
              </a:rPr>
              <a:t>Free does the selling.  </a:t>
            </a:r>
            <a:r>
              <a:rPr sz="1300" b="0" i="0">
                <a:solidFill>
                  <a:srgbClr val="26354A"/>
                </a:solidFill>
                <a:latin typeface="Calibri"/>
              </a:rPr>
              <a:t>The product expands itself up the org chart — low CAC, fast payback, and it compounds as every free user pulls the next one 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429768"/>
            <a:ext cx="146304" cy="146304"/>
          </a:xfrm>
          <a:prstGeom prst="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B6E66"/>
                </a:solidFill>
                <a:latin typeface="Trebuchet MS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10243E"/>
                </a:solidFill>
                <a:latin typeface="Trebuchet MS"/>
              </a:rPr>
              <a:t>How we reach companies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B6B7E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B6E66"/>
                </a:solidFill>
                <a:latin typeface="Trebuchet MS"/>
              </a:rPr>
              <a:t>PHASE 1 · M1–3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0008"/>
            <a:ext cx="1938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0243E"/>
                </a:solidFill>
                <a:latin typeface="Trebuchet MS"/>
              </a:rPr>
              <a:t>Design partners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1938528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26354A"/>
                </a:solidFill>
                <a:latin typeface="Calibri"/>
              </a:rPr>
              <a:t>2 companies from our own network, installed free — in exchange for feedback and case-study rights.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8" y="201168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B6E66"/>
                </a:solidFill>
                <a:latin typeface="Trebuchet MS"/>
              </a:rPr>
              <a:t>PHASE 2 · M4–6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350008"/>
            <a:ext cx="1938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0243E"/>
                </a:solidFill>
                <a:latin typeface="Trebuchet MS"/>
              </a:rPr>
              <a:t>Founder-led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2926080"/>
            <a:ext cx="1938528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26354A"/>
                </a:solidFill>
                <a:latin typeface="Calibri"/>
              </a:rPr>
              <a:t>We sell directly. LinkedIn outreach to VP R&amp;D and VP People at Israeli tech, 100–500 employees.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216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74536" y="201168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B6E66"/>
                </a:solidFill>
                <a:latin typeface="Trebuchet MS"/>
              </a:rPr>
              <a:t>PHASE 3 · M6–12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2350008"/>
            <a:ext cx="1938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0243E"/>
                </a:solidFill>
                <a:latin typeface="Trebuchet MS"/>
              </a:rPr>
              <a:t>Scale outbound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2926080"/>
            <a:ext cx="1938528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26354A"/>
                </a:solidFill>
                <a:latin typeface="Calibri"/>
              </a:rPr>
              <a:t>First SDR at M6. 40 sequences/week. Public case study at M9 with measured results.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3144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27464" y="201168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Trebuchet MS"/>
              </a:rPr>
              <a:t>THEN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7464" y="2350008"/>
            <a:ext cx="1938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Trebuchet MS"/>
              </a:rPr>
              <a:t>Expand outward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7464" y="2926080"/>
            <a:ext cx="1938528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CFD8E3"/>
                </a:solidFill>
                <a:latin typeface="Calibri"/>
              </a:rPr>
              <a:t>Land &amp; expand inside each account, then US via Israeli logos with US offices, then Europe (GDPR).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349240"/>
            <a:ext cx="11000232" cy="914400"/>
          </a:xfrm>
          <a:prstGeom prst="roundRect">
            <a:avLst>
              <a:gd name="adj" fmla="val 3000"/>
            </a:avLst>
          </a:prstGeom>
          <a:solidFill>
            <a:srgbClr val="F4F2EC"/>
          </a:solidFill>
          <a:ln w="9525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532120"/>
            <a:ext cx="104515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0243E"/>
                </a:solidFill>
                <a:latin typeface="Trebuchet MS"/>
              </a:rPr>
              <a:t>Why Israel first:  </a:t>
            </a:r>
            <a:r>
              <a:rPr sz="1300" b="0">
                <a:solidFill>
                  <a:srgbClr val="26354A"/>
                </a:solidFill>
                <a:latin typeface="Calibri"/>
              </a:rPr>
              <a:t>warm founder network, demanding early adopters, and short sales cycles keep CAC low — and Israeli logos open doors in the US.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81244" y="1161288"/>
            <a:ext cx="1426464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3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972" y="1216152"/>
            <a:ext cx="1207008" cy="11521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7432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you.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0" y="361188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7FD6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give people their focus back.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0" y="457200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KungFlow  ·  Leeor Nessing  ·  leeorn@gmail.com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1605</Words>
  <Application>Microsoft Office PowerPoint</Application>
  <PresentationFormat>מסך רחב</PresentationFormat>
  <Paragraphs>264</Paragraphs>
  <Slides>16</Slides>
  <Notes>16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16</vt:i4>
      </vt:variant>
    </vt:vector>
  </HeadingPairs>
  <TitlesOfParts>
    <vt:vector size="20" baseType="lpstr">
      <vt:lpstr>Arial</vt:lpstr>
      <vt:lpstr>Calibri</vt:lpstr>
      <vt:lpstr>Trebuchet MS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KungFlow — Investor Pitch</dc:title>
  <dc:subject>PptxGenJS Presentation</dc:subject>
  <dc:creator>KungFlow</dc:creator>
  <cp:lastModifiedBy>Eden Haham pour</cp:lastModifiedBy>
  <cp:revision>2</cp:revision>
  <dcterms:created xsi:type="dcterms:W3CDTF">2026-06-11T17:16:04Z</dcterms:created>
  <dcterms:modified xsi:type="dcterms:W3CDTF">2026-07-08T07:09:11Z</dcterms:modified>
</cp:coreProperties>
</file>